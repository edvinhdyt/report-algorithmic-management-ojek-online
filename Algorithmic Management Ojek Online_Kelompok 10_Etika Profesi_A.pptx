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Inclusive Sans Bold" charset="1" panose="00000000000000000000"/>
      <p:regular r:id="rId24"/>
    </p:embeddedFont>
    <p:embeddedFont>
      <p:font typeface="Inclusive Sans Bold Italics" charset="1" panose="00000000000000000000"/>
      <p:regular r:id="rId25"/>
    </p:embeddedFont>
    <p:embeddedFont>
      <p:font typeface="Inclusive Sans" charset="1" panose="00000000000000000000"/>
      <p:regular r:id="rId26"/>
    </p:embeddedFont>
    <p:embeddedFont>
      <p:font typeface="Poppins" charset="1" panose="00000500000000000000"/>
      <p:regular r:id="rId27"/>
    </p:embeddedFont>
    <p:embeddedFont>
      <p:font typeface="Poppins Bold" charset="1" panose="00000800000000000000"/>
      <p:regular r:id="rId28"/>
    </p:embeddedFont>
    <p:embeddedFont>
      <p:font typeface="Inclusive Sans Italics" charset="1" panose="0000000000000000000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svg" Type="http://schemas.openxmlformats.org/officeDocument/2006/relationships/image"/><Relationship Id="rId11" Target="../media/image24.png" Type="http://schemas.openxmlformats.org/officeDocument/2006/relationships/image"/><Relationship Id="rId12" Target="../media/image25.svg" Type="http://schemas.openxmlformats.org/officeDocument/2006/relationships/image"/><Relationship Id="rId13" Target="../media/image26.png" Type="http://schemas.openxmlformats.org/officeDocument/2006/relationships/image"/><Relationship Id="rId14" Target="../media/image27.svg" Type="http://schemas.openxmlformats.org/officeDocument/2006/relationships/image"/><Relationship Id="rId2" Target="../media/image1.jpeg" Type="http://schemas.openxmlformats.org/officeDocument/2006/relationships/image"/><Relationship Id="rId3" Target="../media/image18.png" Type="http://schemas.openxmlformats.org/officeDocument/2006/relationships/image"/><Relationship Id="rId4" Target="../media/image1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20.png" Type="http://schemas.openxmlformats.org/officeDocument/2006/relationships/image"/><Relationship Id="rId8" Target="../media/image21.svg" Type="http://schemas.openxmlformats.org/officeDocument/2006/relationships/image"/><Relationship Id="rId9" Target="../media/image2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svg" Type="http://schemas.openxmlformats.org/officeDocument/2006/relationships/image"/><Relationship Id="rId11" Target="../media/image32.png" Type="http://schemas.openxmlformats.org/officeDocument/2006/relationships/image"/><Relationship Id="rId12" Target="../media/image33.svg" Type="http://schemas.openxmlformats.org/officeDocument/2006/relationships/image"/><Relationship Id="rId2" Target="../media/image1.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28.png" Type="http://schemas.openxmlformats.org/officeDocument/2006/relationships/image"/><Relationship Id="rId8" Target="../media/image29.svg" Type="http://schemas.openxmlformats.org/officeDocument/2006/relationships/image"/><Relationship Id="rId9" Target="../media/image3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34.png" Type="http://schemas.openxmlformats.org/officeDocument/2006/relationships/image"/><Relationship Id="rId6" Target="../media/image35.svg" Type="http://schemas.openxmlformats.org/officeDocument/2006/relationships/image"/><Relationship Id="rId7" Target="../media/image3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37.png" Type="http://schemas.openxmlformats.org/officeDocument/2006/relationships/image"/><Relationship Id="rId5" Target="../media/image38.svg" Type="http://schemas.openxmlformats.org/officeDocument/2006/relationships/image"/><Relationship Id="rId6" Target="../media/image3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40.png" Type="http://schemas.openxmlformats.org/officeDocument/2006/relationships/image"/><Relationship Id="rId8" Target="../media/image41.svg" Type="http://schemas.openxmlformats.org/officeDocument/2006/relationships/image"/><Relationship Id="rId9" Target="../media/image4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40.png" Type="http://schemas.openxmlformats.org/officeDocument/2006/relationships/image"/><Relationship Id="rId8" Target="../media/image41.svg" Type="http://schemas.openxmlformats.org/officeDocument/2006/relationships/image"/><Relationship Id="rId9" Target="../media/image43.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40.png" Type="http://schemas.openxmlformats.org/officeDocument/2006/relationships/image"/><Relationship Id="rId8" Target="../media/image41.svg" Type="http://schemas.openxmlformats.org/officeDocument/2006/relationships/image"/><Relationship Id="rId9" Target="../media/image43.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40.png" Type="http://schemas.openxmlformats.org/officeDocument/2006/relationships/image"/><Relationship Id="rId8" Target="../media/image41.svg" Type="http://schemas.openxmlformats.org/officeDocument/2006/relationships/image"/><Relationship Id="rId9" Target="../media/image44.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8.svg" Type="http://schemas.openxmlformats.org/officeDocument/2006/relationships/image"/><Relationship Id="rId11" Target="../media/image49.png" Type="http://schemas.openxmlformats.org/officeDocument/2006/relationships/image"/><Relationship Id="rId12" Target="../media/image50.svg" Type="http://schemas.openxmlformats.org/officeDocument/2006/relationships/image"/><Relationship Id="rId2" Target="../media/image1.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45.png" Type="http://schemas.openxmlformats.org/officeDocument/2006/relationships/image"/><Relationship Id="rId6" Target="../media/image46.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4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2" Target="../media/image1.jpeg" Type="http://schemas.openxmlformats.org/officeDocument/2006/relationships/image"/><Relationship Id="rId3" Target="../media/image47.png" Type="http://schemas.openxmlformats.org/officeDocument/2006/relationships/image"/><Relationship Id="rId4" Target="../media/image48.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45.png" Type="http://schemas.openxmlformats.org/officeDocument/2006/relationships/image"/><Relationship Id="rId8" Target="../media/image46.svg" Type="http://schemas.openxmlformats.org/officeDocument/2006/relationships/image"/><Relationship Id="rId9" Target="../media/image1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8.svg" Type="http://schemas.openxmlformats.org/officeDocument/2006/relationships/image"/><Relationship Id="rId2" Target="../media/image1.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45.png" Type="http://schemas.openxmlformats.org/officeDocument/2006/relationships/image"/><Relationship Id="rId6" Target="../media/image46.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47.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45.png" Type="http://schemas.openxmlformats.org/officeDocument/2006/relationships/image"/><Relationship Id="rId6" Target="../media/image46.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8.svg" Type="http://schemas.openxmlformats.org/officeDocument/2006/relationships/image"/><Relationship Id="rId11" Target="../media/image49.png" Type="http://schemas.openxmlformats.org/officeDocument/2006/relationships/image"/><Relationship Id="rId12" Target="../media/image50.svg" Type="http://schemas.openxmlformats.org/officeDocument/2006/relationships/image"/><Relationship Id="rId2" Target="../media/image1.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45.png" Type="http://schemas.openxmlformats.org/officeDocument/2006/relationships/image"/><Relationship Id="rId6" Target="../media/image46.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4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1.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12888" t="0" r="-12888" b="0"/>
            </a:stretch>
          </a:blipFill>
        </p:spPr>
      </p:sp>
      <p:sp>
        <p:nvSpPr>
          <p:cNvPr name="Freeform 3" id="3"/>
          <p:cNvSpPr/>
          <p:nvPr/>
        </p:nvSpPr>
        <p:spPr>
          <a:xfrm flipH="false" flipV="false" rot="-5400000">
            <a:off x="2002792" y="977177"/>
            <a:ext cx="519664" cy="764211"/>
          </a:xfrm>
          <a:custGeom>
            <a:avLst/>
            <a:gdLst/>
            <a:ahLst/>
            <a:cxnLst/>
            <a:rect r="r" b="b" t="t" l="l"/>
            <a:pathLst>
              <a:path h="764211" w="519664">
                <a:moveTo>
                  <a:pt x="0" y="0"/>
                </a:moveTo>
                <a:lnTo>
                  <a:pt x="519664" y="0"/>
                </a:lnTo>
                <a:lnTo>
                  <a:pt x="519664" y="764212"/>
                </a:lnTo>
                <a:lnTo>
                  <a:pt x="0" y="7642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10800000">
            <a:off x="13151450" y="5953347"/>
            <a:ext cx="3166471" cy="6164561"/>
            <a:chOff x="0" y="0"/>
            <a:chExt cx="585263" cy="1139404"/>
          </a:xfrm>
        </p:grpSpPr>
        <p:sp>
          <p:nvSpPr>
            <p:cNvPr name="Freeform 5" id="5"/>
            <p:cNvSpPr/>
            <p:nvPr/>
          </p:nvSpPr>
          <p:spPr>
            <a:xfrm flipH="false" flipV="false" rot="0">
              <a:off x="0" y="0"/>
              <a:ext cx="585263" cy="1139404"/>
            </a:xfrm>
            <a:custGeom>
              <a:avLst/>
              <a:gdLst/>
              <a:ahLst/>
              <a:cxnLst/>
              <a:rect r="r" b="b" t="t" l="l"/>
              <a:pathLst>
                <a:path h="1139404" w="585263">
                  <a:moveTo>
                    <a:pt x="195193" y="1120335"/>
                  </a:moveTo>
                  <a:cubicBezTo>
                    <a:pt x="225198" y="1131849"/>
                    <a:pt x="259310" y="1139404"/>
                    <a:pt x="292789" y="1139404"/>
                  </a:cubicBezTo>
                  <a:cubicBezTo>
                    <a:pt x="326269" y="1139404"/>
                    <a:pt x="358486" y="1132927"/>
                    <a:pt x="388175" y="1121413"/>
                  </a:cubicBezTo>
                  <a:cubicBezTo>
                    <a:pt x="388807" y="1121054"/>
                    <a:pt x="389438" y="1121054"/>
                    <a:pt x="390070" y="1120694"/>
                  </a:cubicBezTo>
                  <a:cubicBezTo>
                    <a:pt x="501564" y="1074639"/>
                    <a:pt x="583684" y="953025"/>
                    <a:pt x="585263" y="803647"/>
                  </a:cubicBezTo>
                  <a:lnTo>
                    <a:pt x="585263" y="0"/>
                  </a:lnTo>
                  <a:lnTo>
                    <a:pt x="0" y="0"/>
                  </a:lnTo>
                  <a:lnTo>
                    <a:pt x="0" y="803051"/>
                  </a:lnTo>
                  <a:cubicBezTo>
                    <a:pt x="1579" y="953744"/>
                    <a:pt x="82436" y="1075359"/>
                    <a:pt x="195193" y="1120335"/>
                  </a:cubicBezTo>
                  <a:close/>
                </a:path>
              </a:pathLst>
            </a:custGeom>
            <a:solidFill>
              <a:srgbClr val="2D892C"/>
            </a:solidFill>
          </p:spPr>
        </p:sp>
        <p:sp>
          <p:nvSpPr>
            <p:cNvPr name="TextBox 6" id="6"/>
            <p:cNvSpPr txBox="true"/>
            <p:nvPr/>
          </p:nvSpPr>
          <p:spPr>
            <a:xfrm>
              <a:off x="0" y="-47625"/>
              <a:ext cx="585263" cy="1060029"/>
            </a:xfrm>
            <a:prstGeom prst="rect">
              <a:avLst/>
            </a:prstGeom>
          </p:spPr>
          <p:txBody>
            <a:bodyPr anchor="ctr" rtlCol="false" tIns="34362" lIns="34362" bIns="34362" rIns="34362"/>
            <a:lstStyle/>
            <a:p>
              <a:pPr algn="ctr">
                <a:lnSpc>
                  <a:spcPts val="2940"/>
                </a:lnSpc>
              </a:pPr>
            </a:p>
          </p:txBody>
        </p:sp>
      </p:grpSp>
      <p:grpSp>
        <p:nvGrpSpPr>
          <p:cNvPr name="Group 7" id="7"/>
          <p:cNvGrpSpPr/>
          <p:nvPr/>
        </p:nvGrpSpPr>
        <p:grpSpPr>
          <a:xfrm rot="5400000">
            <a:off x="15578849" y="7062769"/>
            <a:ext cx="1545755" cy="3872547"/>
            <a:chOff x="0" y="0"/>
            <a:chExt cx="660400" cy="1654486"/>
          </a:xfrm>
        </p:grpSpPr>
        <p:sp>
          <p:nvSpPr>
            <p:cNvPr name="Freeform 8" id="8"/>
            <p:cNvSpPr/>
            <p:nvPr/>
          </p:nvSpPr>
          <p:spPr>
            <a:xfrm flipH="false" flipV="false" rot="0">
              <a:off x="0" y="0"/>
              <a:ext cx="660400" cy="1654486"/>
            </a:xfrm>
            <a:custGeom>
              <a:avLst/>
              <a:gdLst/>
              <a:ahLst/>
              <a:cxnLst/>
              <a:rect r="r" b="b" t="t" l="l"/>
              <a:pathLst>
                <a:path h="1654486" w="660400">
                  <a:moveTo>
                    <a:pt x="220252" y="1635417"/>
                  </a:moveTo>
                  <a:cubicBezTo>
                    <a:pt x="254109" y="1646931"/>
                    <a:pt x="292600" y="1654486"/>
                    <a:pt x="330378" y="1654486"/>
                  </a:cubicBezTo>
                  <a:cubicBezTo>
                    <a:pt x="368157" y="1654486"/>
                    <a:pt x="404509" y="1648009"/>
                    <a:pt x="438009" y="1636495"/>
                  </a:cubicBezTo>
                  <a:cubicBezTo>
                    <a:pt x="438723" y="1636136"/>
                    <a:pt x="439435" y="1636136"/>
                    <a:pt x="440148" y="1635776"/>
                  </a:cubicBezTo>
                  <a:cubicBezTo>
                    <a:pt x="565955" y="1589721"/>
                    <a:pt x="658618" y="1468107"/>
                    <a:pt x="660400" y="1307288"/>
                  </a:cubicBezTo>
                  <a:lnTo>
                    <a:pt x="660400" y="0"/>
                  </a:lnTo>
                  <a:lnTo>
                    <a:pt x="0" y="0"/>
                  </a:lnTo>
                  <a:lnTo>
                    <a:pt x="0" y="1306318"/>
                  </a:lnTo>
                  <a:cubicBezTo>
                    <a:pt x="1782" y="1468826"/>
                    <a:pt x="93019" y="1590441"/>
                    <a:pt x="220252" y="1635417"/>
                  </a:cubicBezTo>
                  <a:close/>
                </a:path>
              </a:pathLst>
            </a:custGeom>
            <a:solidFill>
              <a:srgbClr val="153930"/>
            </a:solidFill>
          </p:spPr>
        </p:sp>
        <p:sp>
          <p:nvSpPr>
            <p:cNvPr name="TextBox 9" id="9"/>
            <p:cNvSpPr txBox="true"/>
            <p:nvPr/>
          </p:nvSpPr>
          <p:spPr>
            <a:xfrm>
              <a:off x="0" y="-47625"/>
              <a:ext cx="660400" cy="1575111"/>
            </a:xfrm>
            <a:prstGeom prst="rect">
              <a:avLst/>
            </a:prstGeom>
          </p:spPr>
          <p:txBody>
            <a:bodyPr anchor="ctr" rtlCol="false" tIns="61554" lIns="61554" bIns="61554" rIns="61554"/>
            <a:lstStyle/>
            <a:p>
              <a:pPr algn="ctr">
                <a:lnSpc>
                  <a:spcPts val="2940"/>
                </a:lnSpc>
              </a:pPr>
            </a:p>
          </p:txBody>
        </p:sp>
      </p:grpSp>
      <p:grpSp>
        <p:nvGrpSpPr>
          <p:cNvPr name="Group 10" id="10"/>
          <p:cNvGrpSpPr/>
          <p:nvPr/>
        </p:nvGrpSpPr>
        <p:grpSpPr>
          <a:xfrm rot="0">
            <a:off x="12398976" y="-3528093"/>
            <a:ext cx="7741206" cy="10976264"/>
            <a:chOff x="0" y="0"/>
            <a:chExt cx="10321608" cy="14635019"/>
          </a:xfrm>
        </p:grpSpPr>
        <p:grpSp>
          <p:nvGrpSpPr>
            <p:cNvPr name="Group 11" id="11"/>
            <p:cNvGrpSpPr/>
            <p:nvPr/>
          </p:nvGrpSpPr>
          <p:grpSpPr>
            <a:xfrm rot="0">
              <a:off x="1994913" y="2483570"/>
              <a:ext cx="6241679" cy="12151449"/>
              <a:chOff x="0" y="0"/>
              <a:chExt cx="585263" cy="1139404"/>
            </a:xfrm>
          </p:grpSpPr>
          <p:sp>
            <p:nvSpPr>
              <p:cNvPr name="Freeform 12" id="12"/>
              <p:cNvSpPr/>
              <p:nvPr/>
            </p:nvSpPr>
            <p:spPr>
              <a:xfrm flipH="false" flipV="false" rot="0">
                <a:off x="0" y="0"/>
                <a:ext cx="585263" cy="1139404"/>
              </a:xfrm>
              <a:custGeom>
                <a:avLst/>
                <a:gdLst/>
                <a:ahLst/>
                <a:cxnLst/>
                <a:rect r="r" b="b" t="t" l="l"/>
                <a:pathLst>
                  <a:path h="1139404" w="585263">
                    <a:moveTo>
                      <a:pt x="195193" y="1120335"/>
                    </a:moveTo>
                    <a:cubicBezTo>
                      <a:pt x="225198" y="1131849"/>
                      <a:pt x="259310" y="1139404"/>
                      <a:pt x="292789" y="1139404"/>
                    </a:cubicBezTo>
                    <a:cubicBezTo>
                      <a:pt x="326269" y="1139404"/>
                      <a:pt x="358486" y="1132927"/>
                      <a:pt x="388175" y="1121413"/>
                    </a:cubicBezTo>
                    <a:cubicBezTo>
                      <a:pt x="388807" y="1121054"/>
                      <a:pt x="389438" y="1121054"/>
                      <a:pt x="390070" y="1120694"/>
                    </a:cubicBezTo>
                    <a:cubicBezTo>
                      <a:pt x="501564" y="1074639"/>
                      <a:pt x="583684" y="953025"/>
                      <a:pt x="585263" y="803647"/>
                    </a:cubicBezTo>
                    <a:lnTo>
                      <a:pt x="585263" y="0"/>
                    </a:lnTo>
                    <a:lnTo>
                      <a:pt x="0" y="0"/>
                    </a:lnTo>
                    <a:lnTo>
                      <a:pt x="0" y="803051"/>
                    </a:lnTo>
                    <a:cubicBezTo>
                      <a:pt x="1579" y="953744"/>
                      <a:pt x="82436" y="1075359"/>
                      <a:pt x="195193" y="1120335"/>
                    </a:cubicBezTo>
                    <a:close/>
                  </a:path>
                </a:pathLst>
              </a:custGeom>
              <a:solidFill>
                <a:srgbClr val="153930"/>
              </a:solidFill>
            </p:spPr>
          </p:sp>
          <p:sp>
            <p:nvSpPr>
              <p:cNvPr name="TextBox 13" id="13"/>
              <p:cNvSpPr txBox="true"/>
              <p:nvPr/>
            </p:nvSpPr>
            <p:spPr>
              <a:xfrm>
                <a:off x="0" y="-47625"/>
                <a:ext cx="585263" cy="1060029"/>
              </a:xfrm>
              <a:prstGeom prst="rect">
                <a:avLst/>
              </a:prstGeom>
            </p:spPr>
            <p:txBody>
              <a:bodyPr anchor="ctr" rtlCol="false" tIns="50800" lIns="50800" bIns="50800" rIns="50800"/>
              <a:lstStyle/>
              <a:p>
                <a:pPr algn="ctr">
                  <a:lnSpc>
                    <a:spcPts val="2940"/>
                  </a:lnSpc>
                </a:pPr>
              </a:p>
            </p:txBody>
          </p:sp>
        </p:grpSp>
        <p:grpSp>
          <p:nvGrpSpPr>
            <p:cNvPr name="Group 14" id="14"/>
            <p:cNvGrpSpPr/>
            <p:nvPr/>
          </p:nvGrpSpPr>
          <p:grpSpPr>
            <a:xfrm rot="0">
              <a:off x="5382455" y="6634018"/>
              <a:ext cx="4939153" cy="4939153"/>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892C"/>
              </a:solidFill>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3359"/>
                  </a:lnSpc>
                </a:pPr>
              </a:p>
            </p:txBody>
          </p:sp>
        </p:grpSp>
        <p:grpSp>
          <p:nvGrpSpPr>
            <p:cNvPr name="Group 17" id="17"/>
            <p:cNvGrpSpPr/>
            <p:nvPr/>
          </p:nvGrpSpPr>
          <p:grpSpPr>
            <a:xfrm rot="0">
              <a:off x="0" y="0"/>
              <a:ext cx="3963695" cy="9902108"/>
              <a:chOff x="0" y="0"/>
              <a:chExt cx="456090" cy="1139404"/>
            </a:xfrm>
          </p:grpSpPr>
          <p:sp>
            <p:nvSpPr>
              <p:cNvPr name="Freeform 18" id="18"/>
              <p:cNvSpPr/>
              <p:nvPr/>
            </p:nvSpPr>
            <p:spPr>
              <a:xfrm flipH="false" flipV="false" rot="0">
                <a:off x="0" y="0"/>
                <a:ext cx="456090" cy="1139404"/>
              </a:xfrm>
              <a:custGeom>
                <a:avLst/>
                <a:gdLst/>
                <a:ahLst/>
                <a:cxnLst/>
                <a:rect r="r" b="b" t="t" l="l"/>
                <a:pathLst>
                  <a:path h="1139404" w="456090">
                    <a:moveTo>
                      <a:pt x="152112" y="1120335"/>
                    </a:moveTo>
                    <a:cubicBezTo>
                      <a:pt x="175495" y="1131849"/>
                      <a:pt x="202078" y="1139404"/>
                      <a:pt x="228168" y="1139404"/>
                    </a:cubicBezTo>
                    <a:cubicBezTo>
                      <a:pt x="254259" y="1139404"/>
                      <a:pt x="279365" y="1132927"/>
                      <a:pt x="302501" y="1121413"/>
                    </a:cubicBezTo>
                    <a:cubicBezTo>
                      <a:pt x="302994" y="1121054"/>
                      <a:pt x="303486" y="1121054"/>
                      <a:pt x="303978" y="1120694"/>
                    </a:cubicBezTo>
                    <a:cubicBezTo>
                      <a:pt x="390864" y="1074639"/>
                      <a:pt x="454859" y="953025"/>
                      <a:pt x="456090" y="803647"/>
                    </a:cubicBezTo>
                    <a:lnTo>
                      <a:pt x="456090" y="0"/>
                    </a:lnTo>
                    <a:lnTo>
                      <a:pt x="0" y="0"/>
                    </a:lnTo>
                    <a:lnTo>
                      <a:pt x="0" y="803051"/>
                    </a:lnTo>
                    <a:cubicBezTo>
                      <a:pt x="1231" y="953744"/>
                      <a:pt x="64241" y="1075359"/>
                      <a:pt x="152112" y="1120335"/>
                    </a:cubicBezTo>
                    <a:close/>
                  </a:path>
                </a:pathLst>
              </a:custGeom>
              <a:solidFill>
                <a:srgbClr val="2D892C">
                  <a:alpha val="83922"/>
                </a:srgbClr>
              </a:solidFill>
            </p:spPr>
          </p:sp>
          <p:sp>
            <p:nvSpPr>
              <p:cNvPr name="TextBox 19" id="19"/>
              <p:cNvSpPr txBox="true"/>
              <p:nvPr/>
            </p:nvSpPr>
            <p:spPr>
              <a:xfrm>
                <a:off x="0" y="-47625"/>
                <a:ext cx="456090" cy="1060029"/>
              </a:xfrm>
              <a:prstGeom prst="rect">
                <a:avLst/>
              </a:prstGeom>
            </p:spPr>
            <p:txBody>
              <a:bodyPr anchor="ctr" rtlCol="false" tIns="50800" lIns="50800" bIns="50800" rIns="50800"/>
              <a:lstStyle/>
              <a:p>
                <a:pPr algn="ctr">
                  <a:lnSpc>
                    <a:spcPts val="2940"/>
                  </a:lnSpc>
                </a:pPr>
              </a:p>
            </p:txBody>
          </p:sp>
        </p:grpSp>
      </p:grpSp>
      <p:sp>
        <p:nvSpPr>
          <p:cNvPr name="Freeform 20" id="20"/>
          <p:cNvSpPr/>
          <p:nvPr/>
        </p:nvSpPr>
        <p:spPr>
          <a:xfrm flipH="false" flipV="false" rot="0">
            <a:off x="6148529" y="8829803"/>
            <a:ext cx="2414065" cy="428497"/>
          </a:xfrm>
          <a:custGeom>
            <a:avLst/>
            <a:gdLst/>
            <a:ahLst/>
            <a:cxnLst/>
            <a:rect r="r" b="b" t="t" l="l"/>
            <a:pathLst>
              <a:path h="428497" w="2414065">
                <a:moveTo>
                  <a:pt x="0" y="0"/>
                </a:moveTo>
                <a:lnTo>
                  <a:pt x="2414065" y="0"/>
                </a:lnTo>
                <a:lnTo>
                  <a:pt x="2414065" y="428497"/>
                </a:lnTo>
                <a:lnTo>
                  <a:pt x="0" y="42849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1" id="21"/>
          <p:cNvSpPr txBox="true"/>
          <p:nvPr/>
        </p:nvSpPr>
        <p:spPr>
          <a:xfrm rot="0">
            <a:off x="2874579" y="1143697"/>
            <a:ext cx="2668394" cy="415290"/>
          </a:xfrm>
          <a:prstGeom prst="rect">
            <a:avLst/>
          </a:prstGeom>
        </p:spPr>
        <p:txBody>
          <a:bodyPr anchor="t" rtlCol="false" tIns="0" lIns="0" bIns="0" rIns="0">
            <a:spAutoFit/>
          </a:bodyPr>
          <a:lstStyle/>
          <a:p>
            <a:pPr algn="l">
              <a:lnSpc>
                <a:spcPts val="3359"/>
              </a:lnSpc>
            </a:pPr>
            <a:r>
              <a:rPr lang="en-US" sz="2400" b="true">
                <a:solidFill>
                  <a:srgbClr val="041109"/>
                </a:solidFill>
                <a:latin typeface="Inclusive Sans Bold"/>
                <a:ea typeface="Inclusive Sans Bold"/>
                <a:cs typeface="Inclusive Sans Bold"/>
                <a:sym typeface="Inclusive Sans Bold"/>
              </a:rPr>
              <a:t>Etik</a:t>
            </a:r>
            <a:r>
              <a:rPr lang="en-US" b="true" sz="2400">
                <a:solidFill>
                  <a:srgbClr val="041109"/>
                </a:solidFill>
                <a:latin typeface="Inclusive Sans Bold"/>
                <a:ea typeface="Inclusive Sans Bold"/>
                <a:cs typeface="Inclusive Sans Bold"/>
                <a:sym typeface="Inclusive Sans Bold"/>
              </a:rPr>
              <a:t>a Profesi (A)</a:t>
            </a:r>
          </a:p>
        </p:txBody>
      </p:sp>
      <p:sp>
        <p:nvSpPr>
          <p:cNvPr name="TextBox 22" id="22"/>
          <p:cNvSpPr txBox="true"/>
          <p:nvPr/>
        </p:nvSpPr>
        <p:spPr>
          <a:xfrm rot="0">
            <a:off x="1880518" y="2335048"/>
            <a:ext cx="9942928" cy="4089400"/>
          </a:xfrm>
          <a:prstGeom prst="rect">
            <a:avLst/>
          </a:prstGeom>
        </p:spPr>
        <p:txBody>
          <a:bodyPr anchor="t" rtlCol="false" tIns="0" lIns="0" bIns="0" rIns="0">
            <a:spAutoFit/>
          </a:bodyPr>
          <a:lstStyle/>
          <a:p>
            <a:pPr algn="l">
              <a:lnSpc>
                <a:spcPts val="6500"/>
              </a:lnSpc>
            </a:pPr>
            <a:r>
              <a:rPr lang="en-US" b="true" sz="5000" spc="50">
                <a:solidFill>
                  <a:srgbClr val="041109"/>
                </a:solidFill>
                <a:latin typeface="Inclusive Sans Bold"/>
                <a:ea typeface="Inclusive Sans Bold"/>
                <a:cs typeface="Inclusive Sans Bold"/>
                <a:sym typeface="Inclusive Sans Bold"/>
              </a:rPr>
              <a:t>ANALISIS ETIKA DAN DAMPAK SOSIAL </a:t>
            </a:r>
            <a:r>
              <a:rPr lang="en-US" b="true" sz="5000" i="true" spc="50">
                <a:solidFill>
                  <a:srgbClr val="2D892C"/>
                </a:solidFill>
                <a:latin typeface="Inclusive Sans Bold Italics"/>
                <a:ea typeface="Inclusive Sans Bold Italics"/>
                <a:cs typeface="Inclusive Sans Bold Italics"/>
                <a:sym typeface="Inclusive Sans Bold Italics"/>
              </a:rPr>
              <a:t>ALGORITHMIC MANAGEMENT</a:t>
            </a:r>
            <a:r>
              <a:rPr lang="en-US" b="true" sz="5000" i="true" spc="50">
                <a:solidFill>
                  <a:srgbClr val="041109"/>
                </a:solidFill>
                <a:latin typeface="Inclusive Sans Bold Italics"/>
                <a:ea typeface="Inclusive Sans Bold Italics"/>
                <a:cs typeface="Inclusive Sans Bold Italics"/>
                <a:sym typeface="Inclusive Sans Bold Italics"/>
              </a:rPr>
              <a:t> </a:t>
            </a:r>
            <a:r>
              <a:rPr lang="en-US" b="true" sz="5000" spc="50">
                <a:solidFill>
                  <a:srgbClr val="041109"/>
                </a:solidFill>
                <a:latin typeface="Inclusive Sans Bold"/>
                <a:ea typeface="Inclusive Sans Bold"/>
                <a:cs typeface="Inclusive Sans Bold"/>
                <a:sym typeface="Inclusive Sans Bold"/>
              </a:rPr>
              <a:t>PADA MITRA DRIVER PLATFORM </a:t>
            </a:r>
          </a:p>
          <a:p>
            <a:pPr algn="l">
              <a:lnSpc>
                <a:spcPts val="6500"/>
              </a:lnSpc>
            </a:pPr>
            <a:r>
              <a:rPr lang="en-US" b="true" sz="5000" i="true" spc="50">
                <a:solidFill>
                  <a:srgbClr val="2D892C"/>
                </a:solidFill>
                <a:latin typeface="Inclusive Sans Bold Italics"/>
                <a:ea typeface="Inclusive Sans Bold Italics"/>
                <a:cs typeface="Inclusive Sans Bold Italics"/>
                <a:sym typeface="Inclusive Sans Bold Italics"/>
              </a:rPr>
              <a:t>RIDE HAILING</a:t>
            </a:r>
            <a:r>
              <a:rPr lang="en-US" b="true" sz="5000" spc="50">
                <a:solidFill>
                  <a:srgbClr val="041109"/>
                </a:solidFill>
                <a:latin typeface="Inclusive Sans Bold"/>
                <a:ea typeface="Inclusive Sans Bold"/>
                <a:cs typeface="Inclusive Sans Bold"/>
                <a:sym typeface="Inclusive Sans Bold"/>
              </a:rPr>
              <a:t> DI INDONESIA</a:t>
            </a:r>
          </a:p>
        </p:txBody>
      </p:sp>
      <p:sp>
        <p:nvSpPr>
          <p:cNvPr name="TextBox 23" id="23"/>
          <p:cNvSpPr txBox="true"/>
          <p:nvPr/>
        </p:nvSpPr>
        <p:spPr>
          <a:xfrm rot="0">
            <a:off x="1880518" y="6513975"/>
            <a:ext cx="9122799" cy="415290"/>
          </a:xfrm>
          <a:prstGeom prst="rect">
            <a:avLst/>
          </a:prstGeom>
        </p:spPr>
        <p:txBody>
          <a:bodyPr anchor="t" rtlCol="false" tIns="0" lIns="0" bIns="0" rIns="0">
            <a:spAutoFit/>
          </a:bodyPr>
          <a:lstStyle/>
          <a:p>
            <a:pPr algn="l">
              <a:lnSpc>
                <a:spcPts val="3359"/>
              </a:lnSpc>
            </a:pPr>
            <a:r>
              <a:rPr lang="en-US" sz="2400">
                <a:solidFill>
                  <a:srgbClr val="545454"/>
                </a:solidFill>
                <a:latin typeface="Inclusive Sans"/>
                <a:ea typeface="Inclusive Sans"/>
                <a:cs typeface="Inclusive Sans"/>
                <a:sym typeface="Inclusive Sans"/>
              </a:rPr>
              <a:t>Klast</a:t>
            </a:r>
            <a:r>
              <a:rPr lang="en-US" sz="2400">
                <a:solidFill>
                  <a:srgbClr val="545454"/>
                </a:solidFill>
                <a:latin typeface="Inclusive Sans"/>
                <a:ea typeface="Inclusive Sans"/>
                <a:cs typeface="Inclusive Sans"/>
                <a:sym typeface="Inclusive Sans"/>
              </a:rPr>
              <a:t>er D: Platform, Gig Economy, dan Dampak Sosial</a:t>
            </a:r>
          </a:p>
        </p:txBody>
      </p:sp>
      <p:sp>
        <p:nvSpPr>
          <p:cNvPr name="TextBox 24" id="24"/>
          <p:cNvSpPr txBox="true"/>
          <p:nvPr/>
        </p:nvSpPr>
        <p:spPr>
          <a:xfrm rot="0">
            <a:off x="6148529" y="7643640"/>
            <a:ext cx="1453676" cy="415290"/>
          </a:xfrm>
          <a:prstGeom prst="rect">
            <a:avLst/>
          </a:prstGeom>
        </p:spPr>
        <p:txBody>
          <a:bodyPr anchor="t" rtlCol="false" tIns="0" lIns="0" bIns="0" rIns="0">
            <a:spAutoFit/>
          </a:bodyPr>
          <a:lstStyle/>
          <a:p>
            <a:pPr algn="l">
              <a:lnSpc>
                <a:spcPts val="3359"/>
              </a:lnSpc>
            </a:pPr>
            <a:r>
              <a:rPr lang="en-US" sz="2400" b="true">
                <a:solidFill>
                  <a:srgbClr val="041109"/>
                </a:solidFill>
                <a:latin typeface="Inclusive Sans Bold"/>
                <a:ea typeface="Inclusive Sans Bold"/>
                <a:cs typeface="Inclusive Sans Bold"/>
                <a:sym typeface="Inclusive Sans Bold"/>
              </a:rPr>
              <a:t>Date:</a:t>
            </a:r>
          </a:p>
        </p:txBody>
      </p:sp>
      <p:sp>
        <p:nvSpPr>
          <p:cNvPr name="TextBox 25" id="25"/>
          <p:cNvSpPr txBox="true"/>
          <p:nvPr/>
        </p:nvSpPr>
        <p:spPr>
          <a:xfrm rot="0">
            <a:off x="6148529" y="8172386"/>
            <a:ext cx="2409406" cy="365760"/>
          </a:xfrm>
          <a:prstGeom prst="rect">
            <a:avLst/>
          </a:prstGeom>
        </p:spPr>
        <p:txBody>
          <a:bodyPr anchor="t" rtlCol="false" tIns="0" lIns="0" bIns="0" rIns="0">
            <a:spAutoFit/>
          </a:bodyPr>
          <a:lstStyle/>
          <a:p>
            <a:pPr algn="l">
              <a:lnSpc>
                <a:spcPts val="2940"/>
              </a:lnSpc>
            </a:pPr>
            <a:r>
              <a:rPr lang="en-US" sz="2100">
                <a:solidFill>
                  <a:srgbClr val="737373"/>
                </a:solidFill>
                <a:latin typeface="Inclusive Sans"/>
                <a:ea typeface="Inclusive Sans"/>
                <a:cs typeface="Inclusive Sans"/>
                <a:sym typeface="Inclusive Sans"/>
              </a:rPr>
              <a:t>April </a:t>
            </a:r>
            <a:r>
              <a:rPr lang="en-US" sz="2100">
                <a:solidFill>
                  <a:srgbClr val="737373"/>
                </a:solidFill>
                <a:latin typeface="Inclusive Sans"/>
                <a:ea typeface="Inclusive Sans"/>
                <a:cs typeface="Inclusive Sans"/>
                <a:sym typeface="Inclusive Sans"/>
              </a:rPr>
              <a:t>21, 2026</a:t>
            </a:r>
          </a:p>
        </p:txBody>
      </p:sp>
      <p:sp>
        <p:nvSpPr>
          <p:cNvPr name="TextBox 26" id="26"/>
          <p:cNvSpPr txBox="true"/>
          <p:nvPr/>
        </p:nvSpPr>
        <p:spPr>
          <a:xfrm rot="0">
            <a:off x="1864556" y="7652176"/>
            <a:ext cx="2732336" cy="415290"/>
          </a:xfrm>
          <a:prstGeom prst="rect">
            <a:avLst/>
          </a:prstGeom>
        </p:spPr>
        <p:txBody>
          <a:bodyPr anchor="t" rtlCol="false" tIns="0" lIns="0" bIns="0" rIns="0">
            <a:spAutoFit/>
          </a:bodyPr>
          <a:lstStyle/>
          <a:p>
            <a:pPr algn="l">
              <a:lnSpc>
                <a:spcPts val="3359"/>
              </a:lnSpc>
            </a:pPr>
            <a:r>
              <a:rPr lang="en-US" sz="2400" b="true">
                <a:solidFill>
                  <a:srgbClr val="041109"/>
                </a:solidFill>
                <a:latin typeface="Inclusive Sans Bold"/>
                <a:ea typeface="Inclusive Sans Bold"/>
                <a:cs typeface="Inclusive Sans Bold"/>
                <a:sym typeface="Inclusive Sans Bold"/>
              </a:rPr>
              <a:t>Present By:</a:t>
            </a:r>
          </a:p>
        </p:txBody>
      </p:sp>
      <p:sp>
        <p:nvSpPr>
          <p:cNvPr name="TextBox 27" id="27"/>
          <p:cNvSpPr txBox="true"/>
          <p:nvPr/>
        </p:nvSpPr>
        <p:spPr>
          <a:xfrm rot="0">
            <a:off x="1864556" y="8180921"/>
            <a:ext cx="2330170" cy="365760"/>
          </a:xfrm>
          <a:prstGeom prst="rect">
            <a:avLst/>
          </a:prstGeom>
        </p:spPr>
        <p:txBody>
          <a:bodyPr anchor="t" rtlCol="false" tIns="0" lIns="0" bIns="0" rIns="0">
            <a:spAutoFit/>
          </a:bodyPr>
          <a:lstStyle/>
          <a:p>
            <a:pPr algn="l">
              <a:lnSpc>
                <a:spcPts val="2940"/>
              </a:lnSpc>
            </a:pPr>
            <a:r>
              <a:rPr lang="en-US" sz="2100">
                <a:solidFill>
                  <a:srgbClr val="737373"/>
                </a:solidFill>
                <a:latin typeface="Inclusive Sans"/>
                <a:ea typeface="Inclusive Sans"/>
                <a:cs typeface="Inclusive Sans"/>
                <a:sym typeface="Inclusive Sans"/>
              </a:rPr>
              <a:t>Kelompok 10</a:t>
            </a:r>
          </a:p>
        </p:txBody>
      </p:sp>
      <p:sp>
        <p:nvSpPr>
          <p:cNvPr name="Freeform 28" id="28"/>
          <p:cNvSpPr/>
          <p:nvPr/>
        </p:nvSpPr>
        <p:spPr>
          <a:xfrm flipH="false" flipV="true" rot="0">
            <a:off x="-1221544" y="-880716"/>
            <a:ext cx="3086100" cy="3086100"/>
          </a:xfrm>
          <a:custGeom>
            <a:avLst/>
            <a:gdLst/>
            <a:ahLst/>
            <a:cxnLst/>
            <a:rect r="r" b="b" t="t" l="l"/>
            <a:pathLst>
              <a:path h="3086100" w="3086100">
                <a:moveTo>
                  <a:pt x="0" y="3086100"/>
                </a:moveTo>
                <a:lnTo>
                  <a:pt x="3086100" y="3086100"/>
                </a:lnTo>
                <a:lnTo>
                  <a:pt x="3086100" y="0"/>
                </a:lnTo>
                <a:lnTo>
                  <a:pt x="0" y="0"/>
                </a:lnTo>
                <a:lnTo>
                  <a:pt x="0" y="308610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9" id="29"/>
          <p:cNvSpPr/>
          <p:nvPr/>
        </p:nvSpPr>
        <p:spPr>
          <a:xfrm flipH="false" flipV="false" rot="5400000">
            <a:off x="0" y="8687510"/>
            <a:ext cx="1599490" cy="1599490"/>
          </a:xfrm>
          <a:custGeom>
            <a:avLst/>
            <a:gdLst/>
            <a:ahLst/>
            <a:cxnLst/>
            <a:rect r="r" b="b" t="t" l="l"/>
            <a:pathLst>
              <a:path h="1599490" w="1599490">
                <a:moveTo>
                  <a:pt x="0" y="0"/>
                </a:moveTo>
                <a:lnTo>
                  <a:pt x="1599490" y="0"/>
                </a:lnTo>
                <a:lnTo>
                  <a:pt x="1599490" y="1599490"/>
                </a:lnTo>
                <a:lnTo>
                  <a:pt x="0" y="159949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12888" t="0" r="-12888" b="0"/>
            </a:stretch>
          </a:blipFill>
        </p:spPr>
      </p:sp>
      <p:grpSp>
        <p:nvGrpSpPr>
          <p:cNvPr name="Group 3" id="3"/>
          <p:cNvGrpSpPr/>
          <p:nvPr/>
        </p:nvGrpSpPr>
        <p:grpSpPr>
          <a:xfrm rot="5400000">
            <a:off x="15521828" y="-1061985"/>
            <a:ext cx="1997154" cy="3888106"/>
            <a:chOff x="0" y="0"/>
            <a:chExt cx="585263" cy="1139404"/>
          </a:xfrm>
        </p:grpSpPr>
        <p:sp>
          <p:nvSpPr>
            <p:cNvPr name="Freeform 4" id="4"/>
            <p:cNvSpPr/>
            <p:nvPr/>
          </p:nvSpPr>
          <p:spPr>
            <a:xfrm flipH="false" flipV="false" rot="0">
              <a:off x="0" y="0"/>
              <a:ext cx="585263" cy="1139404"/>
            </a:xfrm>
            <a:custGeom>
              <a:avLst/>
              <a:gdLst/>
              <a:ahLst/>
              <a:cxnLst/>
              <a:rect r="r" b="b" t="t" l="l"/>
              <a:pathLst>
                <a:path h="1139404" w="585263">
                  <a:moveTo>
                    <a:pt x="195193" y="1120335"/>
                  </a:moveTo>
                  <a:cubicBezTo>
                    <a:pt x="225198" y="1131849"/>
                    <a:pt x="259310" y="1139404"/>
                    <a:pt x="292789" y="1139404"/>
                  </a:cubicBezTo>
                  <a:cubicBezTo>
                    <a:pt x="326269" y="1139404"/>
                    <a:pt x="358486" y="1132927"/>
                    <a:pt x="388175" y="1121413"/>
                  </a:cubicBezTo>
                  <a:cubicBezTo>
                    <a:pt x="388807" y="1121054"/>
                    <a:pt x="389438" y="1121054"/>
                    <a:pt x="390070" y="1120694"/>
                  </a:cubicBezTo>
                  <a:cubicBezTo>
                    <a:pt x="501564" y="1074639"/>
                    <a:pt x="583684" y="953025"/>
                    <a:pt x="585263" y="803647"/>
                  </a:cubicBezTo>
                  <a:lnTo>
                    <a:pt x="585263" y="0"/>
                  </a:lnTo>
                  <a:lnTo>
                    <a:pt x="0" y="0"/>
                  </a:lnTo>
                  <a:lnTo>
                    <a:pt x="0" y="803051"/>
                  </a:lnTo>
                  <a:cubicBezTo>
                    <a:pt x="1579" y="953744"/>
                    <a:pt x="82436" y="1075359"/>
                    <a:pt x="195193" y="1120335"/>
                  </a:cubicBezTo>
                  <a:close/>
                </a:path>
              </a:pathLst>
            </a:custGeom>
            <a:solidFill>
              <a:srgbClr val="153930"/>
            </a:solidFill>
          </p:spPr>
        </p:sp>
        <p:sp>
          <p:nvSpPr>
            <p:cNvPr name="TextBox 5" id="5"/>
            <p:cNvSpPr txBox="true"/>
            <p:nvPr/>
          </p:nvSpPr>
          <p:spPr>
            <a:xfrm>
              <a:off x="0" y="-47625"/>
              <a:ext cx="585263" cy="1060029"/>
            </a:xfrm>
            <a:prstGeom prst="rect">
              <a:avLst/>
            </a:prstGeom>
          </p:spPr>
          <p:txBody>
            <a:bodyPr anchor="ctr" rtlCol="false" tIns="21673" lIns="21673" bIns="21673" rIns="21673"/>
            <a:lstStyle/>
            <a:p>
              <a:pPr algn="ctr">
                <a:lnSpc>
                  <a:spcPts val="2940"/>
                </a:lnSpc>
              </a:pPr>
            </a:p>
          </p:txBody>
        </p:sp>
      </p:grpSp>
      <p:grpSp>
        <p:nvGrpSpPr>
          <p:cNvPr name="Group 6" id="6"/>
          <p:cNvGrpSpPr/>
          <p:nvPr/>
        </p:nvGrpSpPr>
        <p:grpSpPr>
          <a:xfrm rot="5400000">
            <a:off x="15226714" y="-906701"/>
            <a:ext cx="1580383" cy="158038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892C"/>
            </a:solidFill>
          </p:spPr>
        </p:sp>
        <p:sp>
          <p:nvSpPr>
            <p:cNvPr name="TextBox 8" id="8"/>
            <p:cNvSpPr txBox="true"/>
            <p:nvPr/>
          </p:nvSpPr>
          <p:spPr>
            <a:xfrm>
              <a:off x="76200" y="28575"/>
              <a:ext cx="660400" cy="708025"/>
            </a:xfrm>
            <a:prstGeom prst="rect">
              <a:avLst/>
            </a:prstGeom>
          </p:spPr>
          <p:txBody>
            <a:bodyPr anchor="ctr" rtlCol="false" tIns="21673" lIns="21673" bIns="21673" rIns="21673"/>
            <a:lstStyle/>
            <a:p>
              <a:pPr algn="ctr">
                <a:lnSpc>
                  <a:spcPts val="3359"/>
                </a:lnSpc>
              </a:pPr>
            </a:p>
          </p:txBody>
        </p:sp>
      </p:grpSp>
      <p:grpSp>
        <p:nvGrpSpPr>
          <p:cNvPr name="Group 9" id="9"/>
          <p:cNvGrpSpPr/>
          <p:nvPr/>
        </p:nvGrpSpPr>
        <p:grpSpPr>
          <a:xfrm rot="5400000">
            <a:off x="17040803" y="88068"/>
            <a:ext cx="1268266" cy="3168383"/>
            <a:chOff x="0" y="0"/>
            <a:chExt cx="456090" cy="1139404"/>
          </a:xfrm>
        </p:grpSpPr>
        <p:sp>
          <p:nvSpPr>
            <p:cNvPr name="Freeform 10" id="10"/>
            <p:cNvSpPr/>
            <p:nvPr/>
          </p:nvSpPr>
          <p:spPr>
            <a:xfrm flipH="false" flipV="false" rot="0">
              <a:off x="0" y="0"/>
              <a:ext cx="456090" cy="1139404"/>
            </a:xfrm>
            <a:custGeom>
              <a:avLst/>
              <a:gdLst/>
              <a:ahLst/>
              <a:cxnLst/>
              <a:rect r="r" b="b" t="t" l="l"/>
              <a:pathLst>
                <a:path h="1139404" w="456090">
                  <a:moveTo>
                    <a:pt x="152112" y="1120335"/>
                  </a:moveTo>
                  <a:cubicBezTo>
                    <a:pt x="175495" y="1131849"/>
                    <a:pt x="202078" y="1139404"/>
                    <a:pt x="228168" y="1139404"/>
                  </a:cubicBezTo>
                  <a:cubicBezTo>
                    <a:pt x="254259" y="1139404"/>
                    <a:pt x="279365" y="1132927"/>
                    <a:pt x="302501" y="1121413"/>
                  </a:cubicBezTo>
                  <a:cubicBezTo>
                    <a:pt x="302994" y="1121054"/>
                    <a:pt x="303486" y="1121054"/>
                    <a:pt x="303978" y="1120694"/>
                  </a:cubicBezTo>
                  <a:cubicBezTo>
                    <a:pt x="390864" y="1074639"/>
                    <a:pt x="454859" y="953025"/>
                    <a:pt x="456090" y="803647"/>
                  </a:cubicBezTo>
                  <a:lnTo>
                    <a:pt x="456090" y="0"/>
                  </a:lnTo>
                  <a:lnTo>
                    <a:pt x="0" y="0"/>
                  </a:lnTo>
                  <a:lnTo>
                    <a:pt x="0" y="803051"/>
                  </a:lnTo>
                  <a:cubicBezTo>
                    <a:pt x="1231" y="953744"/>
                    <a:pt x="64241" y="1075359"/>
                    <a:pt x="152112" y="1120335"/>
                  </a:cubicBezTo>
                  <a:close/>
                </a:path>
              </a:pathLst>
            </a:custGeom>
            <a:solidFill>
              <a:srgbClr val="2D892C">
                <a:alpha val="83922"/>
              </a:srgbClr>
            </a:solidFill>
          </p:spPr>
        </p:sp>
        <p:sp>
          <p:nvSpPr>
            <p:cNvPr name="TextBox 11" id="11"/>
            <p:cNvSpPr txBox="true"/>
            <p:nvPr/>
          </p:nvSpPr>
          <p:spPr>
            <a:xfrm>
              <a:off x="0" y="-47625"/>
              <a:ext cx="456090" cy="1060029"/>
            </a:xfrm>
            <a:prstGeom prst="rect">
              <a:avLst/>
            </a:prstGeom>
          </p:spPr>
          <p:txBody>
            <a:bodyPr anchor="ctr" rtlCol="false" tIns="21673" lIns="21673" bIns="21673" rIns="21673"/>
            <a:lstStyle/>
            <a:p>
              <a:pPr algn="ctr">
                <a:lnSpc>
                  <a:spcPts val="2940"/>
                </a:lnSpc>
              </a:pPr>
            </a:p>
          </p:txBody>
        </p:sp>
      </p:grpSp>
      <p:sp>
        <p:nvSpPr>
          <p:cNvPr name="Freeform 12" id="12"/>
          <p:cNvSpPr/>
          <p:nvPr/>
        </p:nvSpPr>
        <p:spPr>
          <a:xfrm flipH="false" flipV="false" rot="0">
            <a:off x="15815031" y="7666502"/>
            <a:ext cx="3802624" cy="3802624"/>
          </a:xfrm>
          <a:custGeom>
            <a:avLst/>
            <a:gdLst/>
            <a:ahLst/>
            <a:cxnLst/>
            <a:rect r="r" b="b" t="t" l="l"/>
            <a:pathLst>
              <a:path h="3802624" w="3802624">
                <a:moveTo>
                  <a:pt x="0" y="0"/>
                </a:moveTo>
                <a:lnTo>
                  <a:pt x="3802624" y="0"/>
                </a:lnTo>
                <a:lnTo>
                  <a:pt x="3802624" y="3802624"/>
                </a:lnTo>
                <a:lnTo>
                  <a:pt x="0" y="38026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10800000">
            <a:off x="-1543050" y="-436397"/>
            <a:ext cx="3086100" cy="3086100"/>
          </a:xfrm>
          <a:custGeom>
            <a:avLst/>
            <a:gdLst/>
            <a:ahLst/>
            <a:cxnLst/>
            <a:rect r="r" b="b" t="t" l="l"/>
            <a:pathLst>
              <a:path h="3086100" w="3086100">
                <a:moveTo>
                  <a:pt x="0" y="0"/>
                </a:moveTo>
                <a:lnTo>
                  <a:pt x="3086100" y="0"/>
                </a:lnTo>
                <a:lnTo>
                  <a:pt x="3086100" y="3086100"/>
                </a:lnTo>
                <a:lnTo>
                  <a:pt x="0" y="30861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4" id="14"/>
          <p:cNvSpPr txBox="true"/>
          <p:nvPr/>
        </p:nvSpPr>
        <p:spPr>
          <a:xfrm rot="0">
            <a:off x="1860414" y="1336864"/>
            <a:ext cx="9435248" cy="1042670"/>
          </a:xfrm>
          <a:prstGeom prst="rect">
            <a:avLst/>
          </a:prstGeom>
        </p:spPr>
        <p:txBody>
          <a:bodyPr anchor="t" rtlCol="false" tIns="0" lIns="0" bIns="0" rIns="0">
            <a:spAutoFit/>
          </a:bodyPr>
          <a:lstStyle/>
          <a:p>
            <a:pPr algn="l">
              <a:lnSpc>
                <a:spcPts val="8319"/>
              </a:lnSpc>
            </a:pPr>
            <a:r>
              <a:rPr lang="en-US" sz="6399" spc="63" b="true">
                <a:solidFill>
                  <a:srgbClr val="2D892C"/>
                </a:solidFill>
                <a:latin typeface="Inclusive Sans Bold"/>
                <a:ea typeface="Inclusive Sans Bold"/>
                <a:cs typeface="Inclusive Sans Bold"/>
                <a:sym typeface="Inclusive Sans Bold"/>
              </a:rPr>
              <a:t>Table of Contents</a:t>
            </a:r>
          </a:p>
        </p:txBody>
      </p:sp>
      <p:sp>
        <p:nvSpPr>
          <p:cNvPr name="TextBox 15" id="15"/>
          <p:cNvSpPr txBox="true"/>
          <p:nvPr/>
        </p:nvSpPr>
        <p:spPr>
          <a:xfrm rot="0">
            <a:off x="1860414" y="2322384"/>
            <a:ext cx="6286040" cy="415290"/>
          </a:xfrm>
          <a:prstGeom prst="rect">
            <a:avLst/>
          </a:prstGeom>
        </p:spPr>
        <p:txBody>
          <a:bodyPr anchor="t" rtlCol="false" tIns="0" lIns="0" bIns="0" rIns="0">
            <a:spAutoFit/>
          </a:bodyPr>
          <a:lstStyle/>
          <a:p>
            <a:pPr algn="l">
              <a:lnSpc>
                <a:spcPts val="3359"/>
              </a:lnSpc>
            </a:pPr>
            <a:r>
              <a:rPr lang="en-US" sz="2400" b="true">
                <a:solidFill>
                  <a:srgbClr val="545454"/>
                </a:solidFill>
                <a:latin typeface="Inclusive Sans Bold"/>
                <a:ea typeface="Inclusive Sans Bold"/>
                <a:cs typeface="Inclusive Sans Bold"/>
                <a:sym typeface="Inclusive Sans Bold"/>
              </a:rPr>
              <a:t>Overview of the Presentation</a:t>
            </a:r>
          </a:p>
        </p:txBody>
      </p:sp>
      <p:grpSp>
        <p:nvGrpSpPr>
          <p:cNvPr name="Group 16" id="16"/>
          <p:cNvGrpSpPr/>
          <p:nvPr/>
        </p:nvGrpSpPr>
        <p:grpSpPr>
          <a:xfrm rot="0">
            <a:off x="2159877" y="3084847"/>
            <a:ext cx="394102" cy="394102"/>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892C"/>
            </a:solidFill>
          </p:spPr>
        </p:sp>
        <p:sp>
          <p:nvSpPr>
            <p:cNvPr name="TextBox 18" id="18"/>
            <p:cNvSpPr txBox="true"/>
            <p:nvPr/>
          </p:nvSpPr>
          <p:spPr>
            <a:xfrm>
              <a:off x="76200" y="19050"/>
              <a:ext cx="660400" cy="717550"/>
            </a:xfrm>
            <a:prstGeom prst="rect">
              <a:avLst/>
            </a:prstGeom>
          </p:spPr>
          <p:txBody>
            <a:bodyPr anchor="ctr" rtlCol="false" tIns="50800" lIns="50800" bIns="50800" rIns="50800"/>
            <a:lstStyle/>
            <a:p>
              <a:pPr algn="ctr">
                <a:lnSpc>
                  <a:spcPts val="2940"/>
                </a:lnSpc>
              </a:pPr>
            </a:p>
          </p:txBody>
        </p:sp>
      </p:grpSp>
      <p:grpSp>
        <p:nvGrpSpPr>
          <p:cNvPr name="Group 19" id="19"/>
          <p:cNvGrpSpPr/>
          <p:nvPr/>
        </p:nvGrpSpPr>
        <p:grpSpPr>
          <a:xfrm rot="0">
            <a:off x="2773054" y="3084847"/>
            <a:ext cx="6086993" cy="710549"/>
            <a:chOff x="0" y="0"/>
            <a:chExt cx="8115990" cy="947399"/>
          </a:xfrm>
        </p:grpSpPr>
        <p:sp>
          <p:nvSpPr>
            <p:cNvPr name="TextBox 20" id="20"/>
            <p:cNvSpPr txBox="true"/>
            <p:nvPr/>
          </p:nvSpPr>
          <p:spPr>
            <a:xfrm rot="0">
              <a:off x="0" y="532109"/>
              <a:ext cx="8115990" cy="415290"/>
            </a:xfrm>
            <a:prstGeom prst="rect">
              <a:avLst/>
            </a:prstGeom>
          </p:spPr>
          <p:txBody>
            <a:bodyPr anchor="t" rtlCol="false" tIns="0" lIns="0" bIns="0" rIns="0">
              <a:spAutoFit/>
            </a:bodyPr>
            <a:lstStyle/>
            <a:p>
              <a:pPr algn="l">
                <a:lnSpc>
                  <a:spcPts val="2520"/>
                </a:lnSpc>
              </a:pPr>
              <a:r>
                <a:rPr lang="en-US" sz="1800">
                  <a:solidFill>
                    <a:srgbClr val="545454"/>
                  </a:solidFill>
                  <a:latin typeface="Poppins"/>
                  <a:ea typeface="Poppins"/>
                  <a:cs typeface="Poppins"/>
                  <a:sym typeface="Poppins"/>
                </a:rPr>
                <a:t>Latar Belakang, Rumusan Masalah dan Tujuan</a:t>
              </a:r>
            </a:p>
          </p:txBody>
        </p:sp>
        <p:sp>
          <p:nvSpPr>
            <p:cNvPr name="TextBox 21" id="21"/>
            <p:cNvSpPr txBox="true"/>
            <p:nvPr/>
          </p:nvSpPr>
          <p:spPr>
            <a:xfrm rot="0">
              <a:off x="0" y="-66675"/>
              <a:ext cx="3063860" cy="544195"/>
            </a:xfrm>
            <a:prstGeom prst="rect">
              <a:avLst/>
            </a:prstGeom>
          </p:spPr>
          <p:txBody>
            <a:bodyPr anchor="t" rtlCol="false" tIns="0" lIns="0" bIns="0" rIns="0">
              <a:spAutoFit/>
            </a:bodyPr>
            <a:lstStyle/>
            <a:p>
              <a:pPr algn="l">
                <a:lnSpc>
                  <a:spcPts val="3359"/>
                </a:lnSpc>
                <a:spcBef>
                  <a:spcPct val="0"/>
                </a:spcBef>
              </a:pPr>
              <a:r>
                <a:rPr lang="en-US" b="true" sz="2400" spc="24">
                  <a:solidFill>
                    <a:srgbClr val="000000"/>
                  </a:solidFill>
                  <a:latin typeface="Poppins Bold"/>
                  <a:ea typeface="Poppins Bold"/>
                  <a:cs typeface="Poppins Bold"/>
                  <a:sym typeface="Poppins Bold"/>
                </a:rPr>
                <a:t>Pendahuluan</a:t>
              </a:r>
            </a:p>
          </p:txBody>
        </p:sp>
      </p:grpSp>
      <p:grpSp>
        <p:nvGrpSpPr>
          <p:cNvPr name="Group 22" id="22"/>
          <p:cNvGrpSpPr/>
          <p:nvPr/>
        </p:nvGrpSpPr>
        <p:grpSpPr>
          <a:xfrm rot="0">
            <a:off x="2773054" y="4224022"/>
            <a:ext cx="5119104" cy="1653524"/>
            <a:chOff x="0" y="0"/>
            <a:chExt cx="6825472" cy="2204699"/>
          </a:xfrm>
        </p:grpSpPr>
        <p:sp>
          <p:nvSpPr>
            <p:cNvPr name="TextBox 23" id="23"/>
            <p:cNvSpPr txBox="true"/>
            <p:nvPr/>
          </p:nvSpPr>
          <p:spPr>
            <a:xfrm rot="0">
              <a:off x="0" y="532109"/>
              <a:ext cx="6825472" cy="1672590"/>
            </a:xfrm>
            <a:prstGeom prst="rect">
              <a:avLst/>
            </a:prstGeom>
          </p:spPr>
          <p:txBody>
            <a:bodyPr anchor="t" rtlCol="false" tIns="0" lIns="0" bIns="0" rIns="0">
              <a:spAutoFit/>
            </a:bodyPr>
            <a:lstStyle/>
            <a:p>
              <a:pPr algn="l" marL="388620" indent="-194310" lvl="1">
                <a:lnSpc>
                  <a:spcPts val="2520"/>
                </a:lnSpc>
                <a:buFont typeface="Arial"/>
                <a:buChar char="•"/>
              </a:pPr>
              <a:r>
                <a:rPr lang="en-US" sz="1800">
                  <a:solidFill>
                    <a:srgbClr val="545454"/>
                  </a:solidFill>
                  <a:latin typeface="Poppins"/>
                  <a:ea typeface="Poppins"/>
                  <a:cs typeface="Poppins"/>
                  <a:sym typeface="Poppins"/>
                </a:rPr>
                <a:t>Perbedaan Etika, Moral, dan Etiket</a:t>
              </a:r>
            </a:p>
            <a:p>
              <a:pPr algn="l" marL="388620" indent="-194310" lvl="1">
                <a:lnSpc>
                  <a:spcPts val="2520"/>
                </a:lnSpc>
                <a:buFont typeface="Arial"/>
                <a:buChar char="•"/>
              </a:pPr>
              <a:r>
                <a:rPr lang="en-US" sz="1800">
                  <a:solidFill>
                    <a:srgbClr val="545454"/>
                  </a:solidFill>
                  <a:latin typeface="Poppins"/>
                  <a:ea typeface="Poppins"/>
                  <a:cs typeface="Poppins"/>
                  <a:sym typeface="Poppins"/>
                </a:rPr>
                <a:t>Teori Etika yang Relevan</a:t>
              </a:r>
            </a:p>
            <a:p>
              <a:pPr algn="l" marL="388620" indent="-194310" lvl="1">
                <a:lnSpc>
                  <a:spcPts val="2520"/>
                </a:lnSpc>
                <a:buFont typeface="Arial"/>
                <a:buChar char="•"/>
              </a:pPr>
              <a:r>
                <a:rPr lang="en-US" sz="1800">
                  <a:solidFill>
                    <a:srgbClr val="545454"/>
                  </a:solidFill>
                  <a:latin typeface="Poppins"/>
                  <a:ea typeface="Poppins"/>
                  <a:cs typeface="Poppins"/>
                  <a:sym typeface="Poppins"/>
                </a:rPr>
                <a:t>Kode Etik Profesi IT</a:t>
              </a:r>
            </a:p>
            <a:p>
              <a:pPr algn="l" marL="388620" indent="-194310" lvl="1">
                <a:lnSpc>
                  <a:spcPts val="2520"/>
                </a:lnSpc>
                <a:buFont typeface="Arial"/>
                <a:buChar char="•"/>
              </a:pPr>
              <a:r>
                <a:rPr lang="en-US" sz="1800">
                  <a:solidFill>
                    <a:srgbClr val="545454"/>
                  </a:solidFill>
                  <a:latin typeface="Poppins"/>
                  <a:ea typeface="Poppins"/>
                  <a:cs typeface="Poppins"/>
                  <a:sym typeface="Poppins"/>
                </a:rPr>
                <a:t>Kerangka 3P (Profit, People, Pla)</a:t>
              </a:r>
            </a:p>
          </p:txBody>
        </p:sp>
        <p:sp>
          <p:nvSpPr>
            <p:cNvPr name="TextBox 24" id="24"/>
            <p:cNvSpPr txBox="true"/>
            <p:nvPr/>
          </p:nvSpPr>
          <p:spPr>
            <a:xfrm rot="0">
              <a:off x="0" y="-66675"/>
              <a:ext cx="4069806" cy="544195"/>
            </a:xfrm>
            <a:prstGeom prst="rect">
              <a:avLst/>
            </a:prstGeom>
          </p:spPr>
          <p:txBody>
            <a:bodyPr anchor="t" rtlCol="false" tIns="0" lIns="0" bIns="0" rIns="0">
              <a:spAutoFit/>
            </a:bodyPr>
            <a:lstStyle/>
            <a:p>
              <a:pPr algn="l">
                <a:lnSpc>
                  <a:spcPts val="3359"/>
                </a:lnSpc>
                <a:spcBef>
                  <a:spcPct val="0"/>
                </a:spcBef>
              </a:pPr>
              <a:r>
                <a:rPr lang="en-US" b="true" sz="2400" spc="24">
                  <a:solidFill>
                    <a:srgbClr val="000000"/>
                  </a:solidFill>
                  <a:latin typeface="Poppins Bold"/>
                  <a:ea typeface="Poppins Bold"/>
                  <a:cs typeface="Poppins Bold"/>
                  <a:sym typeface="Poppins Bold"/>
                </a:rPr>
                <a:t>Landasan Teori</a:t>
              </a:r>
            </a:p>
          </p:txBody>
        </p:sp>
      </p:grpSp>
      <p:grpSp>
        <p:nvGrpSpPr>
          <p:cNvPr name="Group 25" id="25"/>
          <p:cNvGrpSpPr/>
          <p:nvPr/>
        </p:nvGrpSpPr>
        <p:grpSpPr>
          <a:xfrm rot="0">
            <a:off x="2159877" y="4224022"/>
            <a:ext cx="394102" cy="394102"/>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892C"/>
            </a:solidFill>
          </p:spPr>
        </p:sp>
        <p:sp>
          <p:nvSpPr>
            <p:cNvPr name="TextBox 27" id="27"/>
            <p:cNvSpPr txBox="true"/>
            <p:nvPr/>
          </p:nvSpPr>
          <p:spPr>
            <a:xfrm>
              <a:off x="76200" y="19050"/>
              <a:ext cx="660400" cy="717550"/>
            </a:xfrm>
            <a:prstGeom prst="rect">
              <a:avLst/>
            </a:prstGeom>
          </p:spPr>
          <p:txBody>
            <a:bodyPr anchor="ctr" rtlCol="false" tIns="50800" lIns="50800" bIns="50800" rIns="50800"/>
            <a:lstStyle/>
            <a:p>
              <a:pPr algn="ctr">
                <a:lnSpc>
                  <a:spcPts val="2940"/>
                </a:lnSpc>
              </a:pPr>
            </a:p>
          </p:txBody>
        </p:sp>
      </p:grpSp>
      <p:grpSp>
        <p:nvGrpSpPr>
          <p:cNvPr name="Group 28" id="28"/>
          <p:cNvGrpSpPr/>
          <p:nvPr/>
        </p:nvGrpSpPr>
        <p:grpSpPr>
          <a:xfrm rot="0">
            <a:off x="9755701" y="4125922"/>
            <a:ext cx="6826182" cy="710549"/>
            <a:chOff x="0" y="0"/>
            <a:chExt cx="9101576" cy="947399"/>
          </a:xfrm>
        </p:grpSpPr>
        <p:sp>
          <p:nvSpPr>
            <p:cNvPr name="TextBox 29" id="29"/>
            <p:cNvSpPr txBox="true"/>
            <p:nvPr/>
          </p:nvSpPr>
          <p:spPr>
            <a:xfrm rot="0">
              <a:off x="0" y="-66675"/>
              <a:ext cx="5615707" cy="544195"/>
            </a:xfrm>
            <a:prstGeom prst="rect">
              <a:avLst/>
            </a:prstGeom>
          </p:spPr>
          <p:txBody>
            <a:bodyPr anchor="t" rtlCol="false" tIns="0" lIns="0" bIns="0" rIns="0">
              <a:spAutoFit/>
            </a:bodyPr>
            <a:lstStyle/>
            <a:p>
              <a:pPr algn="l">
                <a:lnSpc>
                  <a:spcPts val="3359"/>
                </a:lnSpc>
                <a:spcBef>
                  <a:spcPct val="0"/>
                </a:spcBef>
              </a:pPr>
              <a:r>
                <a:rPr lang="en-US" b="true" sz="2400" spc="24">
                  <a:solidFill>
                    <a:srgbClr val="000000"/>
                  </a:solidFill>
                  <a:latin typeface="Poppins Bold"/>
                  <a:ea typeface="Poppins Bold"/>
                  <a:cs typeface="Poppins Bold"/>
                  <a:sym typeface="Poppins Bold"/>
                </a:rPr>
                <a:t>Pembahasan</a:t>
              </a:r>
            </a:p>
          </p:txBody>
        </p:sp>
        <p:sp>
          <p:nvSpPr>
            <p:cNvPr name="TextBox 30" id="30"/>
            <p:cNvSpPr txBox="true"/>
            <p:nvPr/>
          </p:nvSpPr>
          <p:spPr>
            <a:xfrm rot="0">
              <a:off x="0" y="532109"/>
              <a:ext cx="9101576" cy="415290"/>
            </a:xfrm>
            <a:prstGeom prst="rect">
              <a:avLst/>
            </a:prstGeom>
          </p:spPr>
          <p:txBody>
            <a:bodyPr anchor="t" rtlCol="false" tIns="0" lIns="0" bIns="0" rIns="0">
              <a:spAutoFit/>
            </a:bodyPr>
            <a:lstStyle/>
            <a:p>
              <a:pPr algn="l">
                <a:lnSpc>
                  <a:spcPts val="2520"/>
                </a:lnSpc>
              </a:pPr>
              <a:r>
                <a:rPr lang="en-US" sz="1800">
                  <a:solidFill>
                    <a:srgbClr val="545454"/>
                  </a:solidFill>
                  <a:latin typeface="Poppins"/>
                  <a:ea typeface="Poppins"/>
                  <a:cs typeface="Poppins"/>
                  <a:sym typeface="Poppins"/>
                </a:rPr>
                <a:t>Dampak Etis, Dampak Hukum, dan Rekomendasi</a:t>
              </a:r>
            </a:p>
          </p:txBody>
        </p:sp>
      </p:grpSp>
      <p:grpSp>
        <p:nvGrpSpPr>
          <p:cNvPr name="Group 31" id="31"/>
          <p:cNvGrpSpPr/>
          <p:nvPr/>
        </p:nvGrpSpPr>
        <p:grpSpPr>
          <a:xfrm rot="0">
            <a:off x="9142524" y="4125922"/>
            <a:ext cx="394102" cy="394102"/>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892C"/>
            </a:solidFill>
          </p:spPr>
        </p:sp>
        <p:sp>
          <p:nvSpPr>
            <p:cNvPr name="TextBox 33" id="33"/>
            <p:cNvSpPr txBox="true"/>
            <p:nvPr/>
          </p:nvSpPr>
          <p:spPr>
            <a:xfrm>
              <a:off x="76200" y="19050"/>
              <a:ext cx="660400" cy="717550"/>
            </a:xfrm>
            <a:prstGeom prst="rect">
              <a:avLst/>
            </a:prstGeom>
          </p:spPr>
          <p:txBody>
            <a:bodyPr anchor="ctr" rtlCol="false" tIns="50800" lIns="50800" bIns="50800" rIns="50800"/>
            <a:lstStyle/>
            <a:p>
              <a:pPr algn="ctr">
                <a:lnSpc>
                  <a:spcPts val="2940"/>
                </a:lnSpc>
              </a:pPr>
            </a:p>
          </p:txBody>
        </p:sp>
      </p:grpSp>
      <p:grpSp>
        <p:nvGrpSpPr>
          <p:cNvPr name="Group 34" id="34"/>
          <p:cNvGrpSpPr/>
          <p:nvPr/>
        </p:nvGrpSpPr>
        <p:grpSpPr>
          <a:xfrm rot="0">
            <a:off x="9761778" y="3084847"/>
            <a:ext cx="6814029" cy="710549"/>
            <a:chOff x="0" y="0"/>
            <a:chExt cx="9085372" cy="947399"/>
          </a:xfrm>
        </p:grpSpPr>
        <p:sp>
          <p:nvSpPr>
            <p:cNvPr name="TextBox 35" id="35"/>
            <p:cNvSpPr txBox="true"/>
            <p:nvPr/>
          </p:nvSpPr>
          <p:spPr>
            <a:xfrm rot="0">
              <a:off x="0" y="-66675"/>
              <a:ext cx="9085372" cy="544195"/>
            </a:xfrm>
            <a:prstGeom prst="rect">
              <a:avLst/>
            </a:prstGeom>
          </p:spPr>
          <p:txBody>
            <a:bodyPr anchor="t" rtlCol="false" tIns="0" lIns="0" bIns="0" rIns="0">
              <a:spAutoFit/>
            </a:bodyPr>
            <a:lstStyle/>
            <a:p>
              <a:pPr algn="l">
                <a:lnSpc>
                  <a:spcPts val="3359"/>
                </a:lnSpc>
                <a:spcBef>
                  <a:spcPct val="0"/>
                </a:spcBef>
              </a:pPr>
              <a:r>
                <a:rPr lang="en-US" b="true" sz="2400" spc="24">
                  <a:solidFill>
                    <a:srgbClr val="000000"/>
                  </a:solidFill>
                  <a:latin typeface="Poppins Bold"/>
                  <a:ea typeface="Poppins Bold"/>
                  <a:cs typeface="Poppins Bold"/>
                  <a:sym typeface="Poppins Bold"/>
                </a:rPr>
                <a:t>Analisis Kasus (Algorithmic Management)</a:t>
              </a:r>
            </a:p>
          </p:txBody>
        </p:sp>
        <p:sp>
          <p:nvSpPr>
            <p:cNvPr name="TextBox 36" id="36"/>
            <p:cNvSpPr txBox="true"/>
            <p:nvPr/>
          </p:nvSpPr>
          <p:spPr>
            <a:xfrm rot="0">
              <a:off x="0" y="532109"/>
              <a:ext cx="7768280" cy="415290"/>
            </a:xfrm>
            <a:prstGeom prst="rect">
              <a:avLst/>
            </a:prstGeom>
          </p:spPr>
          <p:txBody>
            <a:bodyPr anchor="t" rtlCol="false" tIns="0" lIns="0" bIns="0" rIns="0">
              <a:spAutoFit/>
            </a:bodyPr>
            <a:lstStyle/>
            <a:p>
              <a:pPr algn="l">
                <a:lnSpc>
                  <a:spcPts val="2520"/>
                </a:lnSpc>
              </a:pPr>
              <a:r>
                <a:rPr lang="en-US" sz="1800">
                  <a:solidFill>
                    <a:srgbClr val="737373"/>
                  </a:solidFill>
                  <a:latin typeface="Poppins"/>
                  <a:ea typeface="Poppins"/>
                  <a:cs typeface="Poppins"/>
                  <a:sym typeface="Poppins"/>
                </a:rPr>
                <a:t>Lensa People, Lensa Profit, dan Lensa Planet</a:t>
              </a:r>
            </a:p>
          </p:txBody>
        </p:sp>
      </p:grpSp>
      <p:grpSp>
        <p:nvGrpSpPr>
          <p:cNvPr name="Group 37" id="37"/>
          <p:cNvGrpSpPr/>
          <p:nvPr/>
        </p:nvGrpSpPr>
        <p:grpSpPr>
          <a:xfrm rot="0">
            <a:off x="9148600" y="3084847"/>
            <a:ext cx="394102" cy="394102"/>
            <a:chOff x="0" y="0"/>
            <a:chExt cx="812800" cy="812800"/>
          </a:xfrm>
        </p:grpSpPr>
        <p:sp>
          <p:nvSpPr>
            <p:cNvPr name="Freeform 38" id="3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892C"/>
            </a:solidFill>
          </p:spPr>
        </p:sp>
        <p:sp>
          <p:nvSpPr>
            <p:cNvPr name="TextBox 39" id="39"/>
            <p:cNvSpPr txBox="true"/>
            <p:nvPr/>
          </p:nvSpPr>
          <p:spPr>
            <a:xfrm>
              <a:off x="76200" y="19050"/>
              <a:ext cx="660400" cy="717550"/>
            </a:xfrm>
            <a:prstGeom prst="rect">
              <a:avLst/>
            </a:prstGeom>
          </p:spPr>
          <p:txBody>
            <a:bodyPr anchor="ctr" rtlCol="false" tIns="50800" lIns="50800" bIns="50800" rIns="50800"/>
            <a:lstStyle/>
            <a:p>
              <a:pPr algn="ctr">
                <a:lnSpc>
                  <a:spcPts val="2940"/>
                </a:lnSpc>
              </a:pPr>
            </a:p>
          </p:txBody>
        </p:sp>
      </p:grpSp>
      <p:grpSp>
        <p:nvGrpSpPr>
          <p:cNvPr name="Group 40" id="40"/>
          <p:cNvGrpSpPr/>
          <p:nvPr/>
        </p:nvGrpSpPr>
        <p:grpSpPr>
          <a:xfrm rot="0">
            <a:off x="9761778" y="5166997"/>
            <a:ext cx="6826182" cy="710549"/>
            <a:chOff x="0" y="0"/>
            <a:chExt cx="9101576" cy="947399"/>
          </a:xfrm>
        </p:grpSpPr>
        <p:sp>
          <p:nvSpPr>
            <p:cNvPr name="TextBox 41" id="41"/>
            <p:cNvSpPr txBox="true"/>
            <p:nvPr/>
          </p:nvSpPr>
          <p:spPr>
            <a:xfrm rot="0">
              <a:off x="0" y="-66675"/>
              <a:ext cx="5615707" cy="544195"/>
            </a:xfrm>
            <a:prstGeom prst="rect">
              <a:avLst/>
            </a:prstGeom>
          </p:spPr>
          <p:txBody>
            <a:bodyPr anchor="t" rtlCol="false" tIns="0" lIns="0" bIns="0" rIns="0">
              <a:spAutoFit/>
            </a:bodyPr>
            <a:lstStyle/>
            <a:p>
              <a:pPr algn="l">
                <a:lnSpc>
                  <a:spcPts val="3359"/>
                </a:lnSpc>
                <a:spcBef>
                  <a:spcPct val="0"/>
                </a:spcBef>
              </a:pPr>
              <a:r>
                <a:rPr lang="en-US" b="true" sz="2400" spc="24">
                  <a:solidFill>
                    <a:srgbClr val="000000"/>
                  </a:solidFill>
                  <a:latin typeface="Poppins Bold"/>
                  <a:ea typeface="Poppins Bold"/>
                  <a:cs typeface="Poppins Bold"/>
                  <a:sym typeface="Poppins Bold"/>
                </a:rPr>
                <a:t>Penutup</a:t>
              </a:r>
            </a:p>
          </p:txBody>
        </p:sp>
        <p:sp>
          <p:nvSpPr>
            <p:cNvPr name="TextBox 42" id="42"/>
            <p:cNvSpPr txBox="true"/>
            <p:nvPr/>
          </p:nvSpPr>
          <p:spPr>
            <a:xfrm rot="0">
              <a:off x="0" y="532109"/>
              <a:ext cx="9101576" cy="415290"/>
            </a:xfrm>
            <a:prstGeom prst="rect">
              <a:avLst/>
            </a:prstGeom>
          </p:spPr>
          <p:txBody>
            <a:bodyPr anchor="t" rtlCol="false" tIns="0" lIns="0" bIns="0" rIns="0">
              <a:spAutoFit/>
            </a:bodyPr>
            <a:lstStyle/>
            <a:p>
              <a:pPr algn="l">
                <a:lnSpc>
                  <a:spcPts val="2520"/>
                </a:lnSpc>
              </a:pPr>
              <a:r>
                <a:rPr lang="en-US" sz="1800">
                  <a:solidFill>
                    <a:srgbClr val="545454"/>
                  </a:solidFill>
                  <a:latin typeface="Poppins"/>
                  <a:ea typeface="Poppins"/>
                  <a:cs typeface="Poppins"/>
                  <a:sym typeface="Poppins"/>
                </a:rPr>
                <a:t>Kesimpulan dan Saran</a:t>
              </a:r>
            </a:p>
          </p:txBody>
        </p:sp>
      </p:grpSp>
      <p:grpSp>
        <p:nvGrpSpPr>
          <p:cNvPr name="Group 43" id="43"/>
          <p:cNvGrpSpPr/>
          <p:nvPr/>
        </p:nvGrpSpPr>
        <p:grpSpPr>
          <a:xfrm rot="0">
            <a:off x="9148600" y="5166997"/>
            <a:ext cx="394102" cy="394102"/>
            <a:chOff x="0" y="0"/>
            <a:chExt cx="812800" cy="812800"/>
          </a:xfrm>
        </p:grpSpPr>
        <p:sp>
          <p:nvSpPr>
            <p:cNvPr name="Freeform 44" id="4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892C"/>
            </a:solidFill>
          </p:spPr>
        </p:sp>
        <p:sp>
          <p:nvSpPr>
            <p:cNvPr name="TextBox 45" id="45"/>
            <p:cNvSpPr txBox="true"/>
            <p:nvPr/>
          </p:nvSpPr>
          <p:spPr>
            <a:xfrm>
              <a:off x="76200" y="19050"/>
              <a:ext cx="660400" cy="717550"/>
            </a:xfrm>
            <a:prstGeom prst="rect">
              <a:avLst/>
            </a:prstGeom>
          </p:spPr>
          <p:txBody>
            <a:bodyPr anchor="ctr" rtlCol="false" tIns="50800" lIns="50800" bIns="50800" rIns="50800"/>
            <a:lstStyle/>
            <a:p>
              <a:pPr algn="ctr">
                <a:lnSpc>
                  <a:spcPts val="2940"/>
                </a:lnSpc>
              </a:pPr>
            </a:p>
          </p:txBody>
        </p:sp>
      </p:grpSp>
      <p:sp>
        <p:nvSpPr>
          <p:cNvPr name="TextBox 46" id="46"/>
          <p:cNvSpPr txBox="true"/>
          <p:nvPr/>
        </p:nvSpPr>
        <p:spPr>
          <a:xfrm rot="0">
            <a:off x="1860414" y="6397638"/>
            <a:ext cx="7318473" cy="777240"/>
          </a:xfrm>
          <a:prstGeom prst="rect">
            <a:avLst/>
          </a:prstGeom>
        </p:spPr>
        <p:txBody>
          <a:bodyPr anchor="t" rtlCol="false" tIns="0" lIns="0" bIns="0" rIns="0">
            <a:spAutoFit/>
          </a:bodyPr>
          <a:lstStyle/>
          <a:p>
            <a:pPr algn="l">
              <a:lnSpc>
                <a:spcPts val="6240"/>
              </a:lnSpc>
            </a:pPr>
            <a:r>
              <a:rPr lang="en-US" b="true" sz="4800" spc="48">
                <a:solidFill>
                  <a:srgbClr val="2D892C"/>
                </a:solidFill>
                <a:latin typeface="Inclusive Sans Bold"/>
                <a:ea typeface="Inclusive Sans Bold"/>
                <a:cs typeface="Inclusive Sans Bold"/>
                <a:sym typeface="Inclusive Sans Bold"/>
              </a:rPr>
              <a:t>Anggota Kelompok 10</a:t>
            </a:r>
          </a:p>
        </p:txBody>
      </p:sp>
      <p:sp>
        <p:nvSpPr>
          <p:cNvPr name="TextBox 47" id="47"/>
          <p:cNvSpPr txBox="true"/>
          <p:nvPr/>
        </p:nvSpPr>
        <p:spPr>
          <a:xfrm rot="0">
            <a:off x="1700040" y="7309931"/>
            <a:ext cx="6389264" cy="1564005"/>
          </a:xfrm>
          <a:prstGeom prst="rect">
            <a:avLst/>
          </a:prstGeom>
        </p:spPr>
        <p:txBody>
          <a:bodyPr anchor="t" rtlCol="false" tIns="0" lIns="0" bIns="0" rIns="0">
            <a:spAutoFit/>
          </a:bodyPr>
          <a:lstStyle/>
          <a:p>
            <a:pPr algn="l" marL="388620" indent="-194310" lvl="1">
              <a:lnSpc>
                <a:spcPts val="2520"/>
              </a:lnSpc>
              <a:buFont typeface="Arial"/>
              <a:buChar char="•"/>
            </a:pPr>
            <a:r>
              <a:rPr lang="en-US" sz="1800">
                <a:solidFill>
                  <a:srgbClr val="545454"/>
                </a:solidFill>
                <a:latin typeface="Inclusive Sans"/>
                <a:ea typeface="Inclusive Sans"/>
                <a:cs typeface="Inclusive Sans"/>
                <a:sym typeface="Inclusive Sans"/>
              </a:rPr>
              <a:t>Naila Putri Fahel (4524210053)</a:t>
            </a:r>
          </a:p>
          <a:p>
            <a:pPr algn="l" marL="388620" indent="-194310" lvl="1">
              <a:lnSpc>
                <a:spcPts val="2520"/>
              </a:lnSpc>
              <a:buFont typeface="Arial"/>
              <a:buChar char="•"/>
            </a:pPr>
            <a:r>
              <a:rPr lang="en-US" sz="1800">
                <a:solidFill>
                  <a:srgbClr val="545454"/>
                </a:solidFill>
                <a:latin typeface="Inclusive Sans"/>
                <a:ea typeface="Inclusive Sans"/>
                <a:cs typeface="Inclusive Sans"/>
                <a:sym typeface="Inclusive Sans"/>
              </a:rPr>
              <a:t>Muhamad Edvin Hidayat (4524210054)</a:t>
            </a:r>
          </a:p>
          <a:p>
            <a:pPr algn="l" marL="388620" indent="-194310" lvl="1">
              <a:lnSpc>
                <a:spcPts val="2520"/>
              </a:lnSpc>
              <a:buFont typeface="Arial"/>
              <a:buChar char="•"/>
            </a:pPr>
            <a:r>
              <a:rPr lang="en-US" sz="1800">
                <a:solidFill>
                  <a:srgbClr val="545454"/>
                </a:solidFill>
                <a:latin typeface="Inclusive Sans"/>
                <a:ea typeface="Inclusive Sans"/>
                <a:cs typeface="Inclusive Sans"/>
                <a:sym typeface="Inclusive Sans"/>
              </a:rPr>
              <a:t>Muhammad Agis Irawan (4524210056)</a:t>
            </a:r>
          </a:p>
          <a:p>
            <a:pPr algn="l" marL="388620" indent="-194310" lvl="1">
              <a:lnSpc>
                <a:spcPts val="2520"/>
              </a:lnSpc>
              <a:buFont typeface="Arial"/>
              <a:buChar char="•"/>
            </a:pPr>
            <a:r>
              <a:rPr lang="en-US" sz="1800">
                <a:solidFill>
                  <a:srgbClr val="545454"/>
                </a:solidFill>
                <a:latin typeface="Inclusive Sans"/>
                <a:ea typeface="Inclusive Sans"/>
                <a:cs typeface="Inclusive Sans"/>
                <a:sym typeface="Inclusive Sans"/>
              </a:rPr>
              <a:t>Vina Aisya Hafiz (4524210131)</a:t>
            </a:r>
          </a:p>
          <a:p>
            <a:pPr algn="l" marL="388620" indent="-194310" lvl="1">
              <a:lnSpc>
                <a:spcPts val="2520"/>
              </a:lnSpc>
              <a:buFont typeface="Arial"/>
              <a:buChar char="•"/>
            </a:pPr>
            <a:r>
              <a:rPr lang="en-US" sz="1800">
                <a:solidFill>
                  <a:srgbClr val="545454"/>
                </a:solidFill>
                <a:latin typeface="Inclusive Sans"/>
                <a:ea typeface="Inclusive Sans"/>
                <a:cs typeface="Inclusive Sans"/>
                <a:sym typeface="Inclusive Sans"/>
              </a:rPr>
              <a:t>Muhamad Bachtiar (4524210141)</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12888" t="0" r="-12888" b="0"/>
            </a:stretch>
          </a:blipFill>
        </p:spPr>
      </p:sp>
      <p:grpSp>
        <p:nvGrpSpPr>
          <p:cNvPr name="Group 3" id="3"/>
          <p:cNvGrpSpPr/>
          <p:nvPr/>
        </p:nvGrpSpPr>
        <p:grpSpPr>
          <a:xfrm rot="0">
            <a:off x="15831362" y="8804023"/>
            <a:ext cx="3449974" cy="2940832"/>
            <a:chOff x="0" y="0"/>
            <a:chExt cx="953519" cy="812800"/>
          </a:xfrm>
        </p:grpSpPr>
        <p:sp>
          <p:nvSpPr>
            <p:cNvPr name="Freeform 4" id="4"/>
            <p:cNvSpPr/>
            <p:nvPr/>
          </p:nvSpPr>
          <p:spPr>
            <a:xfrm flipH="false" flipV="false" rot="0">
              <a:off x="0" y="0"/>
              <a:ext cx="953519" cy="812800"/>
            </a:xfrm>
            <a:custGeom>
              <a:avLst/>
              <a:gdLst/>
              <a:ahLst/>
              <a:cxnLst/>
              <a:rect r="r" b="b" t="t" l="l"/>
              <a:pathLst>
                <a:path h="812800" w="953519">
                  <a:moveTo>
                    <a:pt x="476759" y="0"/>
                  </a:moveTo>
                  <a:cubicBezTo>
                    <a:pt x="213452" y="0"/>
                    <a:pt x="0" y="181951"/>
                    <a:pt x="0" y="406400"/>
                  </a:cubicBezTo>
                  <a:cubicBezTo>
                    <a:pt x="0" y="630849"/>
                    <a:pt x="213452" y="812800"/>
                    <a:pt x="476759" y="812800"/>
                  </a:cubicBezTo>
                  <a:cubicBezTo>
                    <a:pt x="740066" y="812800"/>
                    <a:pt x="953519" y="630849"/>
                    <a:pt x="953519" y="406400"/>
                  </a:cubicBezTo>
                  <a:cubicBezTo>
                    <a:pt x="953519" y="181951"/>
                    <a:pt x="740066" y="0"/>
                    <a:pt x="476759" y="0"/>
                  </a:cubicBezTo>
                  <a:close/>
                </a:path>
              </a:pathLst>
            </a:custGeom>
            <a:solidFill>
              <a:srgbClr val="2D892C"/>
            </a:solidFill>
            <a:ln cap="sq">
              <a:noFill/>
              <a:prstDash val="solid"/>
              <a:miter/>
            </a:ln>
          </p:spPr>
        </p:sp>
        <p:sp>
          <p:nvSpPr>
            <p:cNvPr name="TextBox 5" id="5"/>
            <p:cNvSpPr txBox="true"/>
            <p:nvPr/>
          </p:nvSpPr>
          <p:spPr>
            <a:xfrm>
              <a:off x="89392" y="28575"/>
              <a:ext cx="774734" cy="708025"/>
            </a:xfrm>
            <a:prstGeom prst="rect">
              <a:avLst/>
            </a:prstGeom>
          </p:spPr>
          <p:txBody>
            <a:bodyPr anchor="ctr" rtlCol="false" tIns="50800" lIns="50800" bIns="50800" rIns="50800"/>
            <a:lstStyle/>
            <a:p>
              <a:pPr algn="ctr">
                <a:lnSpc>
                  <a:spcPts val="2940"/>
                </a:lnSpc>
              </a:pPr>
            </a:p>
          </p:txBody>
        </p:sp>
      </p:grpSp>
      <p:grpSp>
        <p:nvGrpSpPr>
          <p:cNvPr name="Group 6" id="6"/>
          <p:cNvGrpSpPr/>
          <p:nvPr/>
        </p:nvGrpSpPr>
        <p:grpSpPr>
          <a:xfrm rot="1078810">
            <a:off x="14271305" y="1409841"/>
            <a:ext cx="1321493" cy="132149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F2EE"/>
            </a:solidFill>
          </p:spPr>
        </p:sp>
        <p:sp>
          <p:nvSpPr>
            <p:cNvPr name="TextBox 8" id="8"/>
            <p:cNvSpPr txBox="true"/>
            <p:nvPr/>
          </p:nvSpPr>
          <p:spPr>
            <a:xfrm>
              <a:off x="76200" y="28575"/>
              <a:ext cx="660400" cy="708025"/>
            </a:xfrm>
            <a:prstGeom prst="rect">
              <a:avLst/>
            </a:prstGeom>
          </p:spPr>
          <p:txBody>
            <a:bodyPr anchor="ctr" rtlCol="false" tIns="44534" lIns="44534" bIns="44534" rIns="44534"/>
            <a:lstStyle/>
            <a:p>
              <a:pPr algn="ctr">
                <a:lnSpc>
                  <a:spcPts val="2940"/>
                </a:lnSpc>
              </a:pPr>
            </a:p>
          </p:txBody>
        </p:sp>
      </p:grpSp>
      <p:sp>
        <p:nvSpPr>
          <p:cNvPr name="Freeform 9" id="9"/>
          <p:cNvSpPr/>
          <p:nvPr/>
        </p:nvSpPr>
        <p:spPr>
          <a:xfrm flipH="false" flipV="false" rot="-10800000">
            <a:off x="-891999" y="-783690"/>
            <a:ext cx="2782408" cy="2782408"/>
          </a:xfrm>
          <a:custGeom>
            <a:avLst/>
            <a:gdLst/>
            <a:ahLst/>
            <a:cxnLst/>
            <a:rect r="r" b="b" t="t" l="l"/>
            <a:pathLst>
              <a:path h="2782408" w="2782408">
                <a:moveTo>
                  <a:pt x="0" y="0"/>
                </a:moveTo>
                <a:lnTo>
                  <a:pt x="2782408" y="0"/>
                </a:lnTo>
                <a:lnTo>
                  <a:pt x="2782408" y="2782408"/>
                </a:lnTo>
                <a:lnTo>
                  <a:pt x="0" y="27824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15937396" y="-1688002"/>
            <a:ext cx="3237907" cy="4591031"/>
            <a:chOff x="0" y="0"/>
            <a:chExt cx="4317209" cy="6121375"/>
          </a:xfrm>
        </p:grpSpPr>
        <p:grpSp>
          <p:nvGrpSpPr>
            <p:cNvPr name="Group 11" id="11"/>
            <p:cNvGrpSpPr/>
            <p:nvPr/>
          </p:nvGrpSpPr>
          <p:grpSpPr>
            <a:xfrm rot="0">
              <a:off x="834410" y="1038800"/>
              <a:ext cx="2610701" cy="5082575"/>
              <a:chOff x="0" y="0"/>
              <a:chExt cx="585263" cy="1139404"/>
            </a:xfrm>
          </p:grpSpPr>
          <p:sp>
            <p:nvSpPr>
              <p:cNvPr name="Freeform 12" id="12"/>
              <p:cNvSpPr/>
              <p:nvPr/>
            </p:nvSpPr>
            <p:spPr>
              <a:xfrm flipH="false" flipV="false" rot="0">
                <a:off x="0" y="0"/>
                <a:ext cx="585263" cy="1139404"/>
              </a:xfrm>
              <a:custGeom>
                <a:avLst/>
                <a:gdLst/>
                <a:ahLst/>
                <a:cxnLst/>
                <a:rect r="r" b="b" t="t" l="l"/>
                <a:pathLst>
                  <a:path h="1139404" w="585263">
                    <a:moveTo>
                      <a:pt x="195193" y="1120335"/>
                    </a:moveTo>
                    <a:cubicBezTo>
                      <a:pt x="225198" y="1131849"/>
                      <a:pt x="259310" y="1139404"/>
                      <a:pt x="292789" y="1139404"/>
                    </a:cubicBezTo>
                    <a:cubicBezTo>
                      <a:pt x="326269" y="1139404"/>
                      <a:pt x="358486" y="1132927"/>
                      <a:pt x="388175" y="1121413"/>
                    </a:cubicBezTo>
                    <a:cubicBezTo>
                      <a:pt x="388807" y="1121054"/>
                      <a:pt x="389438" y="1121054"/>
                      <a:pt x="390070" y="1120694"/>
                    </a:cubicBezTo>
                    <a:cubicBezTo>
                      <a:pt x="501564" y="1074639"/>
                      <a:pt x="583684" y="953025"/>
                      <a:pt x="585263" y="803647"/>
                    </a:cubicBezTo>
                    <a:lnTo>
                      <a:pt x="585263" y="0"/>
                    </a:lnTo>
                    <a:lnTo>
                      <a:pt x="0" y="0"/>
                    </a:lnTo>
                    <a:lnTo>
                      <a:pt x="0" y="803051"/>
                    </a:lnTo>
                    <a:cubicBezTo>
                      <a:pt x="1579" y="953744"/>
                      <a:pt x="82436" y="1075359"/>
                      <a:pt x="195193" y="1120335"/>
                    </a:cubicBezTo>
                    <a:close/>
                  </a:path>
                </a:pathLst>
              </a:custGeom>
              <a:solidFill>
                <a:srgbClr val="153930"/>
              </a:solidFill>
            </p:spPr>
          </p:sp>
          <p:sp>
            <p:nvSpPr>
              <p:cNvPr name="TextBox 13" id="13"/>
              <p:cNvSpPr txBox="true"/>
              <p:nvPr/>
            </p:nvSpPr>
            <p:spPr>
              <a:xfrm>
                <a:off x="0" y="-47625"/>
                <a:ext cx="585263" cy="1060029"/>
              </a:xfrm>
              <a:prstGeom prst="rect">
                <a:avLst/>
              </a:prstGeom>
            </p:spPr>
            <p:txBody>
              <a:bodyPr anchor="ctr" rtlCol="false" tIns="50800" lIns="50800" bIns="50800" rIns="50800"/>
              <a:lstStyle/>
              <a:p>
                <a:pPr algn="ctr">
                  <a:lnSpc>
                    <a:spcPts val="2940"/>
                  </a:lnSpc>
                </a:pPr>
              </a:p>
            </p:txBody>
          </p:sp>
        </p:grpSp>
        <p:grpSp>
          <p:nvGrpSpPr>
            <p:cNvPr name="Group 14" id="14"/>
            <p:cNvGrpSpPr/>
            <p:nvPr/>
          </p:nvGrpSpPr>
          <p:grpSpPr>
            <a:xfrm rot="0">
              <a:off x="2251314" y="2774804"/>
              <a:ext cx="2065895" cy="2065895"/>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892C"/>
              </a:solidFill>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3360"/>
                  </a:lnSpc>
                </a:pPr>
              </a:p>
            </p:txBody>
          </p:sp>
        </p:grpSp>
        <p:grpSp>
          <p:nvGrpSpPr>
            <p:cNvPr name="Group 17" id="17"/>
            <p:cNvGrpSpPr/>
            <p:nvPr/>
          </p:nvGrpSpPr>
          <p:grpSpPr>
            <a:xfrm rot="0">
              <a:off x="0" y="0"/>
              <a:ext cx="1657891" cy="4141745"/>
              <a:chOff x="0" y="0"/>
              <a:chExt cx="456090" cy="1139404"/>
            </a:xfrm>
          </p:grpSpPr>
          <p:sp>
            <p:nvSpPr>
              <p:cNvPr name="Freeform 18" id="18"/>
              <p:cNvSpPr/>
              <p:nvPr/>
            </p:nvSpPr>
            <p:spPr>
              <a:xfrm flipH="false" flipV="false" rot="0">
                <a:off x="0" y="0"/>
                <a:ext cx="456090" cy="1139404"/>
              </a:xfrm>
              <a:custGeom>
                <a:avLst/>
                <a:gdLst/>
                <a:ahLst/>
                <a:cxnLst/>
                <a:rect r="r" b="b" t="t" l="l"/>
                <a:pathLst>
                  <a:path h="1139404" w="456090">
                    <a:moveTo>
                      <a:pt x="152112" y="1120335"/>
                    </a:moveTo>
                    <a:cubicBezTo>
                      <a:pt x="175495" y="1131849"/>
                      <a:pt x="202078" y="1139404"/>
                      <a:pt x="228168" y="1139404"/>
                    </a:cubicBezTo>
                    <a:cubicBezTo>
                      <a:pt x="254259" y="1139404"/>
                      <a:pt x="279365" y="1132927"/>
                      <a:pt x="302501" y="1121413"/>
                    </a:cubicBezTo>
                    <a:cubicBezTo>
                      <a:pt x="302994" y="1121054"/>
                      <a:pt x="303486" y="1121054"/>
                      <a:pt x="303978" y="1120694"/>
                    </a:cubicBezTo>
                    <a:cubicBezTo>
                      <a:pt x="390864" y="1074639"/>
                      <a:pt x="454859" y="953025"/>
                      <a:pt x="456090" y="803647"/>
                    </a:cubicBezTo>
                    <a:lnTo>
                      <a:pt x="456090" y="0"/>
                    </a:lnTo>
                    <a:lnTo>
                      <a:pt x="0" y="0"/>
                    </a:lnTo>
                    <a:lnTo>
                      <a:pt x="0" y="803051"/>
                    </a:lnTo>
                    <a:cubicBezTo>
                      <a:pt x="1231" y="953744"/>
                      <a:pt x="64241" y="1075359"/>
                      <a:pt x="152112" y="1120335"/>
                    </a:cubicBezTo>
                    <a:close/>
                  </a:path>
                </a:pathLst>
              </a:custGeom>
              <a:solidFill>
                <a:srgbClr val="2D892C">
                  <a:alpha val="83922"/>
                </a:srgbClr>
              </a:solidFill>
            </p:spPr>
          </p:sp>
          <p:sp>
            <p:nvSpPr>
              <p:cNvPr name="TextBox 19" id="19"/>
              <p:cNvSpPr txBox="true"/>
              <p:nvPr/>
            </p:nvSpPr>
            <p:spPr>
              <a:xfrm>
                <a:off x="0" y="-47625"/>
                <a:ext cx="456090" cy="1060029"/>
              </a:xfrm>
              <a:prstGeom prst="rect">
                <a:avLst/>
              </a:prstGeom>
            </p:spPr>
            <p:txBody>
              <a:bodyPr anchor="ctr" rtlCol="false" tIns="50800" lIns="50800" bIns="50800" rIns="50800"/>
              <a:lstStyle/>
              <a:p>
                <a:pPr algn="ctr">
                  <a:lnSpc>
                    <a:spcPts val="2940"/>
                  </a:lnSpc>
                </a:pPr>
              </a:p>
            </p:txBody>
          </p:sp>
        </p:grpSp>
      </p:grpSp>
      <p:sp>
        <p:nvSpPr>
          <p:cNvPr name="Freeform 20" id="20"/>
          <p:cNvSpPr/>
          <p:nvPr/>
        </p:nvSpPr>
        <p:spPr>
          <a:xfrm flipH="false" flipV="false" rot="2700000">
            <a:off x="-385230" y="9325747"/>
            <a:ext cx="1900826" cy="1026446"/>
          </a:xfrm>
          <a:custGeom>
            <a:avLst/>
            <a:gdLst/>
            <a:ahLst/>
            <a:cxnLst/>
            <a:rect r="r" b="b" t="t" l="l"/>
            <a:pathLst>
              <a:path h="1026446" w="1900826">
                <a:moveTo>
                  <a:pt x="0" y="0"/>
                </a:moveTo>
                <a:lnTo>
                  <a:pt x="1900826" y="0"/>
                </a:lnTo>
                <a:lnTo>
                  <a:pt x="1900826" y="1026447"/>
                </a:lnTo>
                <a:lnTo>
                  <a:pt x="0" y="102644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1" id="21"/>
          <p:cNvSpPr/>
          <p:nvPr/>
        </p:nvSpPr>
        <p:spPr>
          <a:xfrm flipH="false" flipV="false" rot="0">
            <a:off x="16598679" y="9505357"/>
            <a:ext cx="1321242" cy="667227"/>
          </a:xfrm>
          <a:custGeom>
            <a:avLst/>
            <a:gdLst/>
            <a:ahLst/>
            <a:cxnLst/>
            <a:rect r="r" b="b" t="t" l="l"/>
            <a:pathLst>
              <a:path h="667227" w="1321242">
                <a:moveTo>
                  <a:pt x="0" y="0"/>
                </a:moveTo>
                <a:lnTo>
                  <a:pt x="1321242" y="0"/>
                </a:lnTo>
                <a:lnTo>
                  <a:pt x="1321242" y="667227"/>
                </a:lnTo>
                <a:lnTo>
                  <a:pt x="0" y="667227"/>
                </a:lnTo>
                <a:lnTo>
                  <a:pt x="0" y="0"/>
                </a:lnTo>
                <a:close/>
              </a:path>
            </a:pathLst>
          </a:custGeom>
          <a:blipFill>
            <a:blip r:embed="rId7">
              <a:alphaModFix amt="40000"/>
              <a:extLst>
                <a:ext uri="{96DAC541-7B7A-43D3-8B79-37D633B846F1}">
                  <asvg:svgBlip xmlns:asvg="http://schemas.microsoft.com/office/drawing/2016/SVG/main" r:embed="rId8"/>
                </a:ext>
              </a:extLst>
            </a:blip>
            <a:stretch>
              <a:fillRect l="0" t="0" r="0" b="0"/>
            </a:stretch>
          </a:blipFill>
        </p:spPr>
      </p:sp>
      <p:sp>
        <p:nvSpPr>
          <p:cNvPr name="TextBox 22" id="22"/>
          <p:cNvSpPr txBox="true"/>
          <p:nvPr/>
        </p:nvSpPr>
        <p:spPr>
          <a:xfrm rot="0">
            <a:off x="4361293" y="531314"/>
            <a:ext cx="9565414" cy="2090420"/>
          </a:xfrm>
          <a:prstGeom prst="rect">
            <a:avLst/>
          </a:prstGeom>
        </p:spPr>
        <p:txBody>
          <a:bodyPr anchor="t" rtlCol="false" tIns="0" lIns="0" bIns="0" rIns="0">
            <a:spAutoFit/>
          </a:bodyPr>
          <a:lstStyle/>
          <a:p>
            <a:pPr algn="ctr">
              <a:lnSpc>
                <a:spcPts val="8319"/>
              </a:lnSpc>
            </a:pPr>
            <a:r>
              <a:rPr lang="en-US" b="true" sz="6399" spc="63">
                <a:solidFill>
                  <a:srgbClr val="2D892C"/>
                </a:solidFill>
                <a:latin typeface="Inclusive Sans Bold"/>
                <a:ea typeface="Inclusive Sans Bold"/>
                <a:cs typeface="Inclusive Sans Bold"/>
                <a:sym typeface="Inclusive Sans Bold"/>
              </a:rPr>
              <a:t>PENDAHULUAN</a:t>
            </a:r>
          </a:p>
          <a:p>
            <a:pPr algn="ctr">
              <a:lnSpc>
                <a:spcPts val="8319"/>
              </a:lnSpc>
            </a:pPr>
          </a:p>
        </p:txBody>
      </p:sp>
      <p:sp>
        <p:nvSpPr>
          <p:cNvPr name="TextBox 23" id="23"/>
          <p:cNvSpPr txBox="true"/>
          <p:nvPr/>
        </p:nvSpPr>
        <p:spPr>
          <a:xfrm rot="0">
            <a:off x="1600130" y="1789141"/>
            <a:ext cx="5385888" cy="505743"/>
          </a:xfrm>
          <a:prstGeom prst="rect">
            <a:avLst/>
          </a:prstGeom>
        </p:spPr>
        <p:txBody>
          <a:bodyPr anchor="t" rtlCol="false" tIns="0" lIns="0" bIns="0" rIns="0">
            <a:spAutoFit/>
          </a:bodyPr>
          <a:lstStyle/>
          <a:p>
            <a:pPr algn="l">
              <a:lnSpc>
                <a:spcPts val="4143"/>
              </a:lnSpc>
              <a:spcBef>
                <a:spcPct val="0"/>
              </a:spcBef>
            </a:pPr>
            <a:r>
              <a:rPr lang="en-US" b="true" sz="2959" spc="29">
                <a:solidFill>
                  <a:srgbClr val="000000"/>
                </a:solidFill>
                <a:latin typeface="Inclusive Sans Bold"/>
                <a:ea typeface="Inclusive Sans Bold"/>
                <a:cs typeface="Inclusive Sans Bold"/>
                <a:sym typeface="Inclusive Sans Bold"/>
              </a:rPr>
              <a:t>Latar Belakang</a:t>
            </a:r>
          </a:p>
        </p:txBody>
      </p:sp>
      <p:sp>
        <p:nvSpPr>
          <p:cNvPr name="TextBox 24" id="24"/>
          <p:cNvSpPr txBox="true"/>
          <p:nvPr/>
        </p:nvSpPr>
        <p:spPr>
          <a:xfrm rot="0">
            <a:off x="1028700" y="6131465"/>
            <a:ext cx="15345189" cy="3490223"/>
          </a:xfrm>
          <a:prstGeom prst="rect">
            <a:avLst/>
          </a:prstGeom>
        </p:spPr>
        <p:txBody>
          <a:bodyPr anchor="t" rtlCol="false" tIns="0" lIns="0" bIns="0" rIns="0">
            <a:spAutoFit/>
          </a:bodyPr>
          <a:lstStyle/>
          <a:p>
            <a:pPr algn="l">
              <a:lnSpc>
                <a:spcPts val="3450"/>
              </a:lnSpc>
            </a:pPr>
            <a:r>
              <a:rPr lang="en-US" sz="2464" b="true">
                <a:solidFill>
                  <a:srgbClr val="041109"/>
                </a:solidFill>
                <a:latin typeface="Inclusive Sans Bold"/>
                <a:ea typeface="Inclusive Sans Bold"/>
                <a:cs typeface="Inclusive Sans Bold"/>
                <a:sym typeface="Inclusive Sans Bold"/>
              </a:rPr>
              <a:t>Masalah Utama:</a:t>
            </a:r>
          </a:p>
          <a:p>
            <a:pPr algn="l" marL="1064233" indent="-354744" lvl="2">
              <a:lnSpc>
                <a:spcPts val="3450"/>
              </a:lnSpc>
              <a:buAutoNum type="alphaLcPeriod" startAt="1"/>
            </a:pPr>
            <a:r>
              <a:rPr lang="en-US" sz="2464">
                <a:solidFill>
                  <a:srgbClr val="737373"/>
                </a:solidFill>
                <a:latin typeface="Inclusive Sans"/>
                <a:ea typeface="Inclusive Sans"/>
                <a:cs typeface="Inclusive Sans"/>
                <a:sym typeface="Inclusive Sans"/>
              </a:rPr>
              <a:t>Sistem Kotak Hitam (Black Box): Algoritma tidak transparan. Keputusan seperti suspend otomatis dan dynamic pricing tanpa ruang banding yang manusiawi (human-in-the-loop).</a:t>
            </a:r>
          </a:p>
          <a:p>
            <a:pPr algn="l" marL="1064233" indent="-354744" lvl="2">
              <a:lnSpc>
                <a:spcPts val="3450"/>
              </a:lnSpc>
              <a:buAutoNum type="alphaLcPeriod" startAt="1"/>
            </a:pPr>
            <a:r>
              <a:rPr lang="en-US" sz="2464">
                <a:solidFill>
                  <a:srgbClr val="737373"/>
                </a:solidFill>
                <a:latin typeface="Inclusive Sans"/>
                <a:ea typeface="Inclusive Sans"/>
                <a:cs typeface="Inclusive Sans"/>
                <a:sym typeface="Inclusive Sans"/>
              </a:rPr>
              <a:t>Eksploitasi Digital: Mitra driver menanggung seluruh risiko operasional (bensin, servis, kuota), sementara platform menikmati keuntungan tanpa beban setara.</a:t>
            </a:r>
          </a:p>
          <a:p>
            <a:pPr algn="l" marL="1064233" indent="-354744" lvl="2">
              <a:lnSpc>
                <a:spcPts val="3450"/>
              </a:lnSpc>
              <a:buAutoNum type="alphaLcPeriod" startAt="1"/>
            </a:pPr>
            <a:r>
              <a:rPr lang="en-US" sz="2464">
                <a:solidFill>
                  <a:srgbClr val="737373"/>
                </a:solidFill>
                <a:latin typeface="Inclusive Sans"/>
                <a:ea typeface="Inclusive Sans"/>
                <a:cs typeface="Inclusive Sans"/>
                <a:sym typeface="Inclusive Sans"/>
              </a:rPr>
              <a:t>Dampak Lingkungan: Algoritma memaksa cruising for fares (mengemudi tanpa arah) → pemborosan BBM → peningkatan emisi karbon perkotaan</a:t>
            </a:r>
          </a:p>
          <a:p>
            <a:pPr algn="l">
              <a:lnSpc>
                <a:spcPts val="3450"/>
              </a:lnSpc>
            </a:pPr>
          </a:p>
        </p:txBody>
      </p:sp>
      <p:sp>
        <p:nvSpPr>
          <p:cNvPr name="TextBox 25" id="25"/>
          <p:cNvSpPr txBox="true"/>
          <p:nvPr/>
        </p:nvSpPr>
        <p:spPr>
          <a:xfrm rot="0">
            <a:off x="1914111" y="2421800"/>
            <a:ext cx="14459779" cy="3509640"/>
          </a:xfrm>
          <a:prstGeom prst="rect">
            <a:avLst/>
          </a:prstGeom>
        </p:spPr>
        <p:txBody>
          <a:bodyPr anchor="t" rtlCol="false" tIns="0" lIns="0" bIns="0" rIns="0">
            <a:spAutoFit/>
          </a:bodyPr>
          <a:lstStyle/>
          <a:p>
            <a:pPr algn="just">
              <a:lnSpc>
                <a:spcPts val="3487"/>
              </a:lnSpc>
            </a:pPr>
            <a:r>
              <a:rPr lang="en-US" sz="2491">
                <a:solidFill>
                  <a:srgbClr val="737373"/>
                </a:solidFill>
                <a:latin typeface="Inclusive Sans"/>
                <a:ea typeface="Inclusive Sans"/>
                <a:cs typeface="Inclusive Sans"/>
                <a:sym typeface="Inclusive Sans"/>
              </a:rPr>
              <a:t>          Perkembangan teknologi digital di Indonesia tela</a:t>
            </a:r>
            <a:r>
              <a:rPr lang="en-US" sz="2491">
                <a:solidFill>
                  <a:srgbClr val="737373"/>
                </a:solidFill>
                <a:latin typeface="Inclusive Sans"/>
                <a:ea typeface="Inclusive Sans"/>
                <a:cs typeface="Inclusive Sans"/>
                <a:sym typeface="Inclusive Sans"/>
              </a:rPr>
              <a:t>h mendorong munculnya fenomena gig economy, yaitu sistem kerja fleksibel berbasis platform digital. Platform ride-hailing seperti Gojek dan Grab menjadi salah satu contoh utama yang menghubungkan pengguna dengan mitra driver secara real-time.   </a:t>
            </a:r>
          </a:p>
          <a:p>
            <a:pPr algn="just">
              <a:lnSpc>
                <a:spcPts val="3487"/>
              </a:lnSpc>
            </a:pPr>
            <a:r>
              <a:rPr lang="en-US" sz="2491">
                <a:solidFill>
                  <a:srgbClr val="737373"/>
                </a:solidFill>
                <a:latin typeface="Inclusive Sans"/>
                <a:ea typeface="Inclusive Sans"/>
                <a:cs typeface="Inclusive Sans"/>
                <a:sym typeface="Inclusive Sans"/>
              </a:rPr>
              <a:t>         Sistem ini memberikan kemudahan bagi masyarakat dalam hal mobilitas serta membuka peluang kerja baru. Namun, di balik kemudahan tersebut, terdapat sistem pengelolaan kerja berbasis algoritma yang mengatur seluruh aktivitas driver secara otomatis</a:t>
            </a:r>
          </a:p>
          <a:p>
            <a:pPr algn="just">
              <a:lnSpc>
                <a:spcPts val="3487"/>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12888" t="0" r="-12888" b="0"/>
            </a:stretch>
          </a:blipFill>
        </p:spPr>
      </p:sp>
      <p:grpSp>
        <p:nvGrpSpPr>
          <p:cNvPr name="Group 3" id="3"/>
          <p:cNvGrpSpPr/>
          <p:nvPr/>
        </p:nvGrpSpPr>
        <p:grpSpPr>
          <a:xfrm rot="0">
            <a:off x="15831362" y="8804023"/>
            <a:ext cx="3449974" cy="2940832"/>
            <a:chOff x="0" y="0"/>
            <a:chExt cx="953519" cy="812800"/>
          </a:xfrm>
        </p:grpSpPr>
        <p:sp>
          <p:nvSpPr>
            <p:cNvPr name="Freeform 4" id="4"/>
            <p:cNvSpPr/>
            <p:nvPr/>
          </p:nvSpPr>
          <p:spPr>
            <a:xfrm flipH="false" flipV="false" rot="0">
              <a:off x="0" y="0"/>
              <a:ext cx="953519" cy="812800"/>
            </a:xfrm>
            <a:custGeom>
              <a:avLst/>
              <a:gdLst/>
              <a:ahLst/>
              <a:cxnLst/>
              <a:rect r="r" b="b" t="t" l="l"/>
              <a:pathLst>
                <a:path h="812800" w="953519">
                  <a:moveTo>
                    <a:pt x="476759" y="0"/>
                  </a:moveTo>
                  <a:cubicBezTo>
                    <a:pt x="213452" y="0"/>
                    <a:pt x="0" y="181951"/>
                    <a:pt x="0" y="406400"/>
                  </a:cubicBezTo>
                  <a:cubicBezTo>
                    <a:pt x="0" y="630849"/>
                    <a:pt x="213452" y="812800"/>
                    <a:pt x="476759" y="812800"/>
                  </a:cubicBezTo>
                  <a:cubicBezTo>
                    <a:pt x="740066" y="812800"/>
                    <a:pt x="953519" y="630849"/>
                    <a:pt x="953519" y="406400"/>
                  </a:cubicBezTo>
                  <a:cubicBezTo>
                    <a:pt x="953519" y="181951"/>
                    <a:pt x="740066" y="0"/>
                    <a:pt x="476759" y="0"/>
                  </a:cubicBezTo>
                  <a:close/>
                </a:path>
              </a:pathLst>
            </a:custGeom>
            <a:solidFill>
              <a:srgbClr val="2D892C"/>
            </a:solidFill>
            <a:ln cap="sq">
              <a:noFill/>
              <a:prstDash val="solid"/>
              <a:miter/>
            </a:ln>
          </p:spPr>
        </p:sp>
        <p:sp>
          <p:nvSpPr>
            <p:cNvPr name="TextBox 5" id="5"/>
            <p:cNvSpPr txBox="true"/>
            <p:nvPr/>
          </p:nvSpPr>
          <p:spPr>
            <a:xfrm>
              <a:off x="89392" y="28575"/>
              <a:ext cx="774734" cy="708025"/>
            </a:xfrm>
            <a:prstGeom prst="rect">
              <a:avLst/>
            </a:prstGeom>
          </p:spPr>
          <p:txBody>
            <a:bodyPr anchor="ctr" rtlCol="false" tIns="50800" lIns="50800" bIns="50800" rIns="50800"/>
            <a:lstStyle/>
            <a:p>
              <a:pPr algn="ctr">
                <a:lnSpc>
                  <a:spcPts val="2940"/>
                </a:lnSpc>
              </a:pPr>
            </a:p>
          </p:txBody>
        </p:sp>
      </p:grpSp>
      <p:grpSp>
        <p:nvGrpSpPr>
          <p:cNvPr name="Group 6" id="6"/>
          <p:cNvGrpSpPr/>
          <p:nvPr/>
        </p:nvGrpSpPr>
        <p:grpSpPr>
          <a:xfrm rot="1078810">
            <a:off x="14271305" y="1409841"/>
            <a:ext cx="1321493" cy="132149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F2EE"/>
            </a:solidFill>
          </p:spPr>
        </p:sp>
        <p:sp>
          <p:nvSpPr>
            <p:cNvPr name="TextBox 8" id="8"/>
            <p:cNvSpPr txBox="true"/>
            <p:nvPr/>
          </p:nvSpPr>
          <p:spPr>
            <a:xfrm>
              <a:off x="76200" y="28575"/>
              <a:ext cx="660400" cy="708025"/>
            </a:xfrm>
            <a:prstGeom prst="rect">
              <a:avLst/>
            </a:prstGeom>
          </p:spPr>
          <p:txBody>
            <a:bodyPr anchor="ctr" rtlCol="false" tIns="44534" lIns="44534" bIns="44534" rIns="44534"/>
            <a:lstStyle/>
            <a:p>
              <a:pPr algn="ctr">
                <a:lnSpc>
                  <a:spcPts val="2940"/>
                </a:lnSpc>
              </a:pPr>
            </a:p>
          </p:txBody>
        </p:sp>
      </p:grpSp>
      <p:sp>
        <p:nvSpPr>
          <p:cNvPr name="Freeform 9" id="9"/>
          <p:cNvSpPr/>
          <p:nvPr/>
        </p:nvSpPr>
        <p:spPr>
          <a:xfrm flipH="false" flipV="false" rot="-10800000">
            <a:off x="-891999" y="-783690"/>
            <a:ext cx="2782408" cy="2782408"/>
          </a:xfrm>
          <a:custGeom>
            <a:avLst/>
            <a:gdLst/>
            <a:ahLst/>
            <a:cxnLst/>
            <a:rect r="r" b="b" t="t" l="l"/>
            <a:pathLst>
              <a:path h="2782408" w="2782408">
                <a:moveTo>
                  <a:pt x="0" y="0"/>
                </a:moveTo>
                <a:lnTo>
                  <a:pt x="2782408" y="0"/>
                </a:lnTo>
                <a:lnTo>
                  <a:pt x="2782408" y="2782408"/>
                </a:lnTo>
                <a:lnTo>
                  <a:pt x="0" y="27824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15937396" y="-1688002"/>
            <a:ext cx="3237907" cy="4591031"/>
            <a:chOff x="0" y="0"/>
            <a:chExt cx="4317209" cy="6121375"/>
          </a:xfrm>
        </p:grpSpPr>
        <p:grpSp>
          <p:nvGrpSpPr>
            <p:cNvPr name="Group 11" id="11"/>
            <p:cNvGrpSpPr/>
            <p:nvPr/>
          </p:nvGrpSpPr>
          <p:grpSpPr>
            <a:xfrm rot="0">
              <a:off x="834410" y="1038800"/>
              <a:ext cx="2610701" cy="5082575"/>
              <a:chOff x="0" y="0"/>
              <a:chExt cx="585263" cy="1139404"/>
            </a:xfrm>
          </p:grpSpPr>
          <p:sp>
            <p:nvSpPr>
              <p:cNvPr name="Freeform 12" id="12"/>
              <p:cNvSpPr/>
              <p:nvPr/>
            </p:nvSpPr>
            <p:spPr>
              <a:xfrm flipH="false" flipV="false" rot="0">
                <a:off x="0" y="0"/>
                <a:ext cx="585263" cy="1139404"/>
              </a:xfrm>
              <a:custGeom>
                <a:avLst/>
                <a:gdLst/>
                <a:ahLst/>
                <a:cxnLst/>
                <a:rect r="r" b="b" t="t" l="l"/>
                <a:pathLst>
                  <a:path h="1139404" w="585263">
                    <a:moveTo>
                      <a:pt x="195193" y="1120335"/>
                    </a:moveTo>
                    <a:cubicBezTo>
                      <a:pt x="225198" y="1131849"/>
                      <a:pt x="259310" y="1139404"/>
                      <a:pt x="292789" y="1139404"/>
                    </a:cubicBezTo>
                    <a:cubicBezTo>
                      <a:pt x="326269" y="1139404"/>
                      <a:pt x="358486" y="1132927"/>
                      <a:pt x="388175" y="1121413"/>
                    </a:cubicBezTo>
                    <a:cubicBezTo>
                      <a:pt x="388807" y="1121054"/>
                      <a:pt x="389438" y="1121054"/>
                      <a:pt x="390070" y="1120694"/>
                    </a:cubicBezTo>
                    <a:cubicBezTo>
                      <a:pt x="501564" y="1074639"/>
                      <a:pt x="583684" y="953025"/>
                      <a:pt x="585263" y="803647"/>
                    </a:cubicBezTo>
                    <a:lnTo>
                      <a:pt x="585263" y="0"/>
                    </a:lnTo>
                    <a:lnTo>
                      <a:pt x="0" y="0"/>
                    </a:lnTo>
                    <a:lnTo>
                      <a:pt x="0" y="803051"/>
                    </a:lnTo>
                    <a:cubicBezTo>
                      <a:pt x="1579" y="953744"/>
                      <a:pt x="82436" y="1075359"/>
                      <a:pt x="195193" y="1120335"/>
                    </a:cubicBezTo>
                    <a:close/>
                  </a:path>
                </a:pathLst>
              </a:custGeom>
              <a:solidFill>
                <a:srgbClr val="153930"/>
              </a:solidFill>
            </p:spPr>
          </p:sp>
          <p:sp>
            <p:nvSpPr>
              <p:cNvPr name="TextBox 13" id="13"/>
              <p:cNvSpPr txBox="true"/>
              <p:nvPr/>
            </p:nvSpPr>
            <p:spPr>
              <a:xfrm>
                <a:off x="0" y="-47625"/>
                <a:ext cx="585263" cy="1060029"/>
              </a:xfrm>
              <a:prstGeom prst="rect">
                <a:avLst/>
              </a:prstGeom>
            </p:spPr>
            <p:txBody>
              <a:bodyPr anchor="ctr" rtlCol="false" tIns="50800" lIns="50800" bIns="50800" rIns="50800"/>
              <a:lstStyle/>
              <a:p>
                <a:pPr algn="ctr">
                  <a:lnSpc>
                    <a:spcPts val="2940"/>
                  </a:lnSpc>
                </a:pPr>
              </a:p>
            </p:txBody>
          </p:sp>
        </p:grpSp>
        <p:grpSp>
          <p:nvGrpSpPr>
            <p:cNvPr name="Group 14" id="14"/>
            <p:cNvGrpSpPr/>
            <p:nvPr/>
          </p:nvGrpSpPr>
          <p:grpSpPr>
            <a:xfrm rot="0">
              <a:off x="2251314" y="2774804"/>
              <a:ext cx="2065895" cy="2065895"/>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892C"/>
              </a:solidFill>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3360"/>
                  </a:lnSpc>
                </a:pPr>
              </a:p>
            </p:txBody>
          </p:sp>
        </p:grpSp>
        <p:grpSp>
          <p:nvGrpSpPr>
            <p:cNvPr name="Group 17" id="17"/>
            <p:cNvGrpSpPr/>
            <p:nvPr/>
          </p:nvGrpSpPr>
          <p:grpSpPr>
            <a:xfrm rot="0">
              <a:off x="0" y="0"/>
              <a:ext cx="1657891" cy="4141745"/>
              <a:chOff x="0" y="0"/>
              <a:chExt cx="456090" cy="1139404"/>
            </a:xfrm>
          </p:grpSpPr>
          <p:sp>
            <p:nvSpPr>
              <p:cNvPr name="Freeform 18" id="18"/>
              <p:cNvSpPr/>
              <p:nvPr/>
            </p:nvSpPr>
            <p:spPr>
              <a:xfrm flipH="false" flipV="false" rot="0">
                <a:off x="0" y="0"/>
                <a:ext cx="456090" cy="1139404"/>
              </a:xfrm>
              <a:custGeom>
                <a:avLst/>
                <a:gdLst/>
                <a:ahLst/>
                <a:cxnLst/>
                <a:rect r="r" b="b" t="t" l="l"/>
                <a:pathLst>
                  <a:path h="1139404" w="456090">
                    <a:moveTo>
                      <a:pt x="152112" y="1120335"/>
                    </a:moveTo>
                    <a:cubicBezTo>
                      <a:pt x="175495" y="1131849"/>
                      <a:pt x="202078" y="1139404"/>
                      <a:pt x="228168" y="1139404"/>
                    </a:cubicBezTo>
                    <a:cubicBezTo>
                      <a:pt x="254259" y="1139404"/>
                      <a:pt x="279365" y="1132927"/>
                      <a:pt x="302501" y="1121413"/>
                    </a:cubicBezTo>
                    <a:cubicBezTo>
                      <a:pt x="302994" y="1121054"/>
                      <a:pt x="303486" y="1121054"/>
                      <a:pt x="303978" y="1120694"/>
                    </a:cubicBezTo>
                    <a:cubicBezTo>
                      <a:pt x="390864" y="1074639"/>
                      <a:pt x="454859" y="953025"/>
                      <a:pt x="456090" y="803647"/>
                    </a:cubicBezTo>
                    <a:lnTo>
                      <a:pt x="456090" y="0"/>
                    </a:lnTo>
                    <a:lnTo>
                      <a:pt x="0" y="0"/>
                    </a:lnTo>
                    <a:lnTo>
                      <a:pt x="0" y="803051"/>
                    </a:lnTo>
                    <a:cubicBezTo>
                      <a:pt x="1231" y="953744"/>
                      <a:pt x="64241" y="1075359"/>
                      <a:pt x="152112" y="1120335"/>
                    </a:cubicBezTo>
                    <a:close/>
                  </a:path>
                </a:pathLst>
              </a:custGeom>
              <a:solidFill>
                <a:srgbClr val="2D892C">
                  <a:alpha val="83922"/>
                </a:srgbClr>
              </a:solidFill>
            </p:spPr>
          </p:sp>
          <p:sp>
            <p:nvSpPr>
              <p:cNvPr name="TextBox 19" id="19"/>
              <p:cNvSpPr txBox="true"/>
              <p:nvPr/>
            </p:nvSpPr>
            <p:spPr>
              <a:xfrm>
                <a:off x="0" y="-47625"/>
                <a:ext cx="456090" cy="1060029"/>
              </a:xfrm>
              <a:prstGeom prst="rect">
                <a:avLst/>
              </a:prstGeom>
            </p:spPr>
            <p:txBody>
              <a:bodyPr anchor="ctr" rtlCol="false" tIns="50800" lIns="50800" bIns="50800" rIns="50800"/>
              <a:lstStyle/>
              <a:p>
                <a:pPr algn="ctr">
                  <a:lnSpc>
                    <a:spcPts val="2940"/>
                  </a:lnSpc>
                </a:pPr>
              </a:p>
            </p:txBody>
          </p:sp>
        </p:grpSp>
      </p:grpSp>
      <p:sp>
        <p:nvSpPr>
          <p:cNvPr name="Freeform 20" id="20"/>
          <p:cNvSpPr/>
          <p:nvPr/>
        </p:nvSpPr>
        <p:spPr>
          <a:xfrm flipH="false" flipV="false" rot="2700000">
            <a:off x="-385230" y="9325747"/>
            <a:ext cx="1900826" cy="1026446"/>
          </a:xfrm>
          <a:custGeom>
            <a:avLst/>
            <a:gdLst/>
            <a:ahLst/>
            <a:cxnLst/>
            <a:rect r="r" b="b" t="t" l="l"/>
            <a:pathLst>
              <a:path h="1026446" w="1900826">
                <a:moveTo>
                  <a:pt x="0" y="0"/>
                </a:moveTo>
                <a:lnTo>
                  <a:pt x="1900826" y="0"/>
                </a:lnTo>
                <a:lnTo>
                  <a:pt x="1900826" y="1026447"/>
                </a:lnTo>
                <a:lnTo>
                  <a:pt x="0" y="102644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1" id="21"/>
          <p:cNvSpPr/>
          <p:nvPr/>
        </p:nvSpPr>
        <p:spPr>
          <a:xfrm flipH="false" flipV="false" rot="0">
            <a:off x="16598679" y="9505357"/>
            <a:ext cx="1321242" cy="667227"/>
          </a:xfrm>
          <a:custGeom>
            <a:avLst/>
            <a:gdLst/>
            <a:ahLst/>
            <a:cxnLst/>
            <a:rect r="r" b="b" t="t" l="l"/>
            <a:pathLst>
              <a:path h="667227" w="1321242">
                <a:moveTo>
                  <a:pt x="0" y="0"/>
                </a:moveTo>
                <a:lnTo>
                  <a:pt x="1321242" y="0"/>
                </a:lnTo>
                <a:lnTo>
                  <a:pt x="1321242" y="667227"/>
                </a:lnTo>
                <a:lnTo>
                  <a:pt x="0" y="667227"/>
                </a:lnTo>
                <a:lnTo>
                  <a:pt x="0" y="0"/>
                </a:lnTo>
                <a:close/>
              </a:path>
            </a:pathLst>
          </a:custGeom>
          <a:blipFill>
            <a:blip r:embed="rId7">
              <a:alphaModFix amt="40000"/>
              <a:extLst>
                <a:ext uri="{96DAC541-7B7A-43D3-8B79-37D633B846F1}">
                  <asvg:svgBlip xmlns:asvg="http://schemas.microsoft.com/office/drawing/2016/SVG/main" r:embed="rId8"/>
                </a:ext>
              </a:extLst>
            </a:blip>
            <a:stretch>
              <a:fillRect l="0" t="0" r="0" b="0"/>
            </a:stretch>
          </a:blipFill>
        </p:spPr>
      </p:sp>
      <p:sp>
        <p:nvSpPr>
          <p:cNvPr name="TextBox 22" id="22"/>
          <p:cNvSpPr txBox="true"/>
          <p:nvPr/>
        </p:nvSpPr>
        <p:spPr>
          <a:xfrm rot="0">
            <a:off x="4361293" y="531314"/>
            <a:ext cx="9565414" cy="2090420"/>
          </a:xfrm>
          <a:prstGeom prst="rect">
            <a:avLst/>
          </a:prstGeom>
        </p:spPr>
        <p:txBody>
          <a:bodyPr anchor="t" rtlCol="false" tIns="0" lIns="0" bIns="0" rIns="0">
            <a:spAutoFit/>
          </a:bodyPr>
          <a:lstStyle/>
          <a:p>
            <a:pPr algn="ctr">
              <a:lnSpc>
                <a:spcPts val="8319"/>
              </a:lnSpc>
            </a:pPr>
            <a:r>
              <a:rPr lang="en-US" b="true" sz="6399" spc="63">
                <a:solidFill>
                  <a:srgbClr val="2D892C"/>
                </a:solidFill>
                <a:latin typeface="Inclusive Sans Bold"/>
                <a:ea typeface="Inclusive Sans Bold"/>
                <a:cs typeface="Inclusive Sans Bold"/>
                <a:sym typeface="Inclusive Sans Bold"/>
              </a:rPr>
              <a:t>PENDAHULUAN</a:t>
            </a:r>
          </a:p>
          <a:p>
            <a:pPr algn="ctr">
              <a:lnSpc>
                <a:spcPts val="8319"/>
              </a:lnSpc>
            </a:pPr>
          </a:p>
        </p:txBody>
      </p:sp>
      <p:sp>
        <p:nvSpPr>
          <p:cNvPr name="TextBox 23" id="23"/>
          <p:cNvSpPr txBox="true"/>
          <p:nvPr/>
        </p:nvSpPr>
        <p:spPr>
          <a:xfrm rot="0">
            <a:off x="2115196" y="1492975"/>
            <a:ext cx="5385888" cy="505743"/>
          </a:xfrm>
          <a:prstGeom prst="rect">
            <a:avLst/>
          </a:prstGeom>
        </p:spPr>
        <p:txBody>
          <a:bodyPr anchor="t" rtlCol="false" tIns="0" lIns="0" bIns="0" rIns="0">
            <a:spAutoFit/>
          </a:bodyPr>
          <a:lstStyle/>
          <a:p>
            <a:pPr algn="l">
              <a:lnSpc>
                <a:spcPts val="4143"/>
              </a:lnSpc>
              <a:spcBef>
                <a:spcPct val="0"/>
              </a:spcBef>
            </a:pPr>
            <a:r>
              <a:rPr lang="en-US" b="true" sz="2959" spc="29">
                <a:solidFill>
                  <a:srgbClr val="000000"/>
                </a:solidFill>
                <a:latin typeface="Inclusive Sans Bold"/>
                <a:ea typeface="Inclusive Sans Bold"/>
                <a:cs typeface="Inclusive Sans Bold"/>
                <a:sym typeface="Inclusive Sans Bold"/>
              </a:rPr>
              <a:t>Rumusan Masalah:</a:t>
            </a:r>
          </a:p>
        </p:txBody>
      </p:sp>
      <p:sp>
        <p:nvSpPr>
          <p:cNvPr name="TextBox 24" id="24"/>
          <p:cNvSpPr txBox="true"/>
          <p:nvPr/>
        </p:nvSpPr>
        <p:spPr>
          <a:xfrm rot="0">
            <a:off x="2115196" y="1712403"/>
            <a:ext cx="13597413" cy="4187190"/>
          </a:xfrm>
          <a:prstGeom prst="rect">
            <a:avLst/>
          </a:prstGeom>
        </p:spPr>
        <p:txBody>
          <a:bodyPr anchor="t" rtlCol="false" tIns="0" lIns="0" bIns="0" rIns="0">
            <a:spAutoFit/>
          </a:bodyPr>
          <a:lstStyle/>
          <a:p>
            <a:pPr algn="just">
              <a:lnSpc>
                <a:spcPts val="3359"/>
              </a:lnSpc>
            </a:pPr>
          </a:p>
          <a:p>
            <a:pPr algn="just" marL="518158" indent="-259079" lvl="1">
              <a:lnSpc>
                <a:spcPts val="3359"/>
              </a:lnSpc>
              <a:buAutoNum type="arabicPeriod" startAt="1"/>
            </a:pPr>
            <a:r>
              <a:rPr lang="en-US" sz="2399">
                <a:solidFill>
                  <a:srgbClr val="737373"/>
                </a:solidFill>
                <a:latin typeface="Inclusive Sans"/>
                <a:ea typeface="Inclusive Sans"/>
                <a:cs typeface="Inclusive Sans"/>
                <a:sym typeface="Inclusive Sans"/>
              </a:rPr>
              <a:t>Bagaimana transparansi dan akuntabilitas dalam algorithmic management mempengaruhi kesejahteraan sosial dan ekonomi (People &amp; Profit) mitra pengemudi?</a:t>
            </a:r>
          </a:p>
          <a:p>
            <a:pPr algn="just" marL="518158" indent="-259079" lvl="1">
              <a:lnSpc>
                <a:spcPts val="3359"/>
              </a:lnSpc>
              <a:buAutoNum type="arabicPeriod" startAt="1"/>
            </a:pPr>
            <a:r>
              <a:rPr lang="en-US" sz="2399">
                <a:solidFill>
                  <a:srgbClr val="737373"/>
                </a:solidFill>
                <a:latin typeface="Inclusive Sans"/>
                <a:ea typeface="Inclusive Sans"/>
                <a:cs typeface="Inclusive Sans"/>
                <a:sym typeface="Inclusive Sans"/>
              </a:rPr>
              <a:t>Apakah praktik kontrol algoritma sepihak dan suspend otomatis telah memenuhi standar etika profesi TI, khususnya prinsip</a:t>
            </a:r>
            <a:r>
              <a:rPr lang="en-US" sz="2399">
                <a:solidFill>
                  <a:srgbClr val="737373"/>
                </a:solidFill>
                <a:latin typeface="Inclusive Sans"/>
                <a:ea typeface="Inclusive Sans"/>
                <a:cs typeface="Inclusive Sans"/>
                <a:sym typeface="Inclusive Sans"/>
              </a:rPr>
              <a:t> keselamat</a:t>
            </a:r>
            <a:r>
              <a:rPr lang="en-US" sz="2399">
                <a:solidFill>
                  <a:srgbClr val="737373"/>
                </a:solidFill>
                <a:latin typeface="Inclusive Sans"/>
                <a:ea typeface="Inclusive Sans"/>
                <a:cs typeface="Inclusive Sans"/>
                <a:sym typeface="Inclusive Sans"/>
              </a:rPr>
              <a:t>an, kesehatan, dan kesejahteraan publik menurut IEEE, serta regulasi hukum seperti UU ITE dan UU PDP?</a:t>
            </a:r>
          </a:p>
          <a:p>
            <a:pPr algn="just" marL="518158" indent="-259079" lvl="1">
              <a:lnSpc>
                <a:spcPts val="3359"/>
              </a:lnSpc>
              <a:buAutoNum type="arabicPeriod" startAt="1"/>
            </a:pPr>
            <a:r>
              <a:rPr lang="en-US" sz="2399">
                <a:solidFill>
                  <a:srgbClr val="737373"/>
                </a:solidFill>
                <a:latin typeface="Inclusive Sans"/>
                <a:ea typeface="Inclusive Sans"/>
                <a:cs typeface="Inclusive Sans"/>
                <a:sym typeface="Inclusive Sans"/>
              </a:rPr>
              <a:t>Bagaimana peran profesi</a:t>
            </a:r>
            <a:r>
              <a:rPr lang="en-US" sz="2399">
                <a:solidFill>
                  <a:srgbClr val="737373"/>
                </a:solidFill>
                <a:latin typeface="Inclusive Sans"/>
                <a:ea typeface="Inclusive Sans"/>
                <a:cs typeface="Inclusive Sans"/>
                <a:sym typeface="Inclusive Sans"/>
              </a:rPr>
              <a:t>onal TI sebagai moral agent dalam menyeimbangkan efisiensi sistem dengan perlindungan hak-hak mitra kerja?</a:t>
            </a:r>
          </a:p>
          <a:p>
            <a:pPr algn="just">
              <a:lnSpc>
                <a:spcPts val="3359"/>
              </a:lnSpc>
            </a:pPr>
          </a:p>
          <a:p>
            <a:pPr algn="just">
              <a:lnSpc>
                <a:spcPts val="3359"/>
              </a:lnSpc>
            </a:pPr>
          </a:p>
        </p:txBody>
      </p:sp>
      <p:sp>
        <p:nvSpPr>
          <p:cNvPr name="TextBox 25" id="25"/>
          <p:cNvSpPr txBox="true"/>
          <p:nvPr/>
        </p:nvSpPr>
        <p:spPr>
          <a:xfrm rot="0">
            <a:off x="2028745" y="6153496"/>
            <a:ext cx="13770315" cy="2854891"/>
          </a:xfrm>
          <a:prstGeom prst="rect">
            <a:avLst/>
          </a:prstGeom>
        </p:spPr>
        <p:txBody>
          <a:bodyPr anchor="t" rtlCol="false" tIns="0" lIns="0" bIns="0" rIns="0">
            <a:spAutoFit/>
          </a:bodyPr>
          <a:lstStyle/>
          <a:p>
            <a:pPr algn="just" marL="507952" indent="-253976" lvl="1">
              <a:lnSpc>
                <a:spcPts val="3293"/>
              </a:lnSpc>
              <a:buAutoNum type="arabicPeriod" startAt="1"/>
            </a:pPr>
            <a:r>
              <a:rPr lang="en-US" sz="2352">
                <a:solidFill>
                  <a:srgbClr val="737373"/>
                </a:solidFill>
                <a:latin typeface="Inclusive Sans"/>
                <a:ea typeface="Inclusive Sans"/>
                <a:cs typeface="Inclusive Sans"/>
                <a:sym typeface="Inclusive Sans"/>
              </a:rPr>
              <a:t>Menganalisis dampak etis dari algorithmic management terhadap mitra pengemudi menggunakan kerangka Triple Bottom Line (People, Profit, Planet)</a:t>
            </a:r>
          </a:p>
          <a:p>
            <a:pPr algn="just" marL="507952" indent="-253976" lvl="1">
              <a:lnSpc>
                <a:spcPts val="3293"/>
              </a:lnSpc>
              <a:buAutoNum type="arabicPeriod" startAt="1"/>
            </a:pPr>
            <a:r>
              <a:rPr lang="en-US" sz="2352">
                <a:solidFill>
                  <a:srgbClr val="737373"/>
                </a:solidFill>
                <a:latin typeface="Inclusive Sans"/>
                <a:ea typeface="Inclusive Sans"/>
                <a:cs typeface="Inclusive Sans"/>
                <a:sym typeface="Inclusive Sans"/>
              </a:rPr>
              <a:t>Mengevaluasi kesesuaian praktik manajemen platform dengan kode etik profesi TI IEEE serta hukum nasional di Indonesia</a:t>
            </a:r>
          </a:p>
          <a:p>
            <a:pPr algn="just" marL="507952" indent="-253976" lvl="1">
              <a:lnSpc>
                <a:spcPts val="3293"/>
              </a:lnSpc>
              <a:buAutoNum type="arabicPeriod" startAt="1"/>
            </a:pPr>
            <a:r>
              <a:rPr lang="en-US" sz="2352">
                <a:solidFill>
                  <a:srgbClr val="737373"/>
                </a:solidFill>
                <a:latin typeface="Inclusive Sans"/>
                <a:ea typeface="Inclusive Sans"/>
                <a:cs typeface="Inclusive Sans"/>
                <a:sym typeface="Inclusive Sans"/>
              </a:rPr>
              <a:t>Merumuskan rekomendasi solusi teknis dan etis, seperti penerapan konsep human-in-the-loop, untuk memastikan pengembangan teknologi tetap menjunjung tinggi martabat manusia</a:t>
            </a:r>
          </a:p>
        </p:txBody>
      </p:sp>
      <p:sp>
        <p:nvSpPr>
          <p:cNvPr name="TextBox 26" id="26"/>
          <p:cNvSpPr txBox="true"/>
          <p:nvPr/>
        </p:nvSpPr>
        <p:spPr>
          <a:xfrm rot="0">
            <a:off x="2115196" y="5393850"/>
            <a:ext cx="5385888" cy="505743"/>
          </a:xfrm>
          <a:prstGeom prst="rect">
            <a:avLst/>
          </a:prstGeom>
        </p:spPr>
        <p:txBody>
          <a:bodyPr anchor="t" rtlCol="false" tIns="0" lIns="0" bIns="0" rIns="0">
            <a:spAutoFit/>
          </a:bodyPr>
          <a:lstStyle/>
          <a:p>
            <a:pPr algn="l">
              <a:lnSpc>
                <a:spcPts val="4143"/>
              </a:lnSpc>
              <a:spcBef>
                <a:spcPct val="0"/>
              </a:spcBef>
            </a:pPr>
            <a:r>
              <a:rPr lang="en-US" b="true" sz="2959" spc="29">
                <a:solidFill>
                  <a:srgbClr val="000000"/>
                </a:solidFill>
                <a:latin typeface="Inclusive Sans Bold"/>
                <a:ea typeface="Inclusive Sans Bold"/>
                <a:cs typeface="Inclusive Sans Bold"/>
                <a:sym typeface="Inclusive Sans Bold"/>
              </a:rPr>
              <a:t>Tujuan: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12888" t="0" r="-12888" b="0"/>
            </a:stretch>
          </a:blipFill>
        </p:spPr>
      </p:sp>
      <p:sp>
        <p:nvSpPr>
          <p:cNvPr name="Freeform 3" id="3"/>
          <p:cNvSpPr/>
          <p:nvPr/>
        </p:nvSpPr>
        <p:spPr>
          <a:xfrm flipH="false" flipV="false" rot="0">
            <a:off x="17663307" y="9230486"/>
            <a:ext cx="1639912" cy="1639912"/>
          </a:xfrm>
          <a:custGeom>
            <a:avLst/>
            <a:gdLst/>
            <a:ahLst/>
            <a:cxnLst/>
            <a:rect r="r" b="b" t="t" l="l"/>
            <a:pathLst>
              <a:path h="1639912" w="1639912">
                <a:moveTo>
                  <a:pt x="0" y="0"/>
                </a:moveTo>
                <a:lnTo>
                  <a:pt x="1639912" y="0"/>
                </a:lnTo>
                <a:lnTo>
                  <a:pt x="1639912" y="1639911"/>
                </a:lnTo>
                <a:lnTo>
                  <a:pt x="0" y="1639911"/>
                </a:lnTo>
                <a:lnTo>
                  <a:pt x="0" y="0"/>
                </a:lnTo>
                <a:close/>
              </a:path>
            </a:pathLst>
          </a:custGeom>
          <a:blipFill>
            <a:blip r:embed="rId3">
              <a:alphaModFix amt="15000"/>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6791823" y="-858608"/>
            <a:ext cx="2012678" cy="2853778"/>
            <a:chOff x="0" y="0"/>
            <a:chExt cx="2683571" cy="3805038"/>
          </a:xfrm>
        </p:grpSpPr>
        <p:grpSp>
          <p:nvGrpSpPr>
            <p:cNvPr name="Group 5" id="5"/>
            <p:cNvGrpSpPr/>
            <p:nvPr/>
          </p:nvGrpSpPr>
          <p:grpSpPr>
            <a:xfrm rot="0">
              <a:off x="518668" y="645717"/>
              <a:ext cx="1622808" cy="3159321"/>
              <a:chOff x="0" y="0"/>
              <a:chExt cx="585263" cy="1139404"/>
            </a:xfrm>
          </p:grpSpPr>
          <p:sp>
            <p:nvSpPr>
              <p:cNvPr name="Freeform 6" id="6"/>
              <p:cNvSpPr/>
              <p:nvPr/>
            </p:nvSpPr>
            <p:spPr>
              <a:xfrm flipH="false" flipV="false" rot="0">
                <a:off x="0" y="0"/>
                <a:ext cx="585263" cy="1139404"/>
              </a:xfrm>
              <a:custGeom>
                <a:avLst/>
                <a:gdLst/>
                <a:ahLst/>
                <a:cxnLst/>
                <a:rect r="r" b="b" t="t" l="l"/>
                <a:pathLst>
                  <a:path h="1139404" w="585263">
                    <a:moveTo>
                      <a:pt x="195193" y="1120335"/>
                    </a:moveTo>
                    <a:cubicBezTo>
                      <a:pt x="225198" y="1131849"/>
                      <a:pt x="259310" y="1139404"/>
                      <a:pt x="292789" y="1139404"/>
                    </a:cubicBezTo>
                    <a:cubicBezTo>
                      <a:pt x="326269" y="1139404"/>
                      <a:pt x="358486" y="1132927"/>
                      <a:pt x="388175" y="1121413"/>
                    </a:cubicBezTo>
                    <a:cubicBezTo>
                      <a:pt x="388807" y="1121054"/>
                      <a:pt x="389438" y="1121054"/>
                      <a:pt x="390070" y="1120694"/>
                    </a:cubicBezTo>
                    <a:cubicBezTo>
                      <a:pt x="501564" y="1074639"/>
                      <a:pt x="583684" y="953025"/>
                      <a:pt x="585263" y="803647"/>
                    </a:cubicBezTo>
                    <a:lnTo>
                      <a:pt x="585263" y="0"/>
                    </a:lnTo>
                    <a:lnTo>
                      <a:pt x="0" y="0"/>
                    </a:lnTo>
                    <a:lnTo>
                      <a:pt x="0" y="803051"/>
                    </a:lnTo>
                    <a:cubicBezTo>
                      <a:pt x="1579" y="953744"/>
                      <a:pt x="82436" y="1075359"/>
                      <a:pt x="195193" y="1120335"/>
                    </a:cubicBezTo>
                    <a:close/>
                  </a:path>
                </a:pathLst>
              </a:custGeom>
              <a:solidFill>
                <a:srgbClr val="153930"/>
              </a:solidFill>
            </p:spPr>
          </p:sp>
          <p:sp>
            <p:nvSpPr>
              <p:cNvPr name="TextBox 7" id="7"/>
              <p:cNvSpPr txBox="true"/>
              <p:nvPr/>
            </p:nvSpPr>
            <p:spPr>
              <a:xfrm>
                <a:off x="0" y="-47625"/>
                <a:ext cx="585263" cy="1060029"/>
              </a:xfrm>
              <a:prstGeom prst="rect">
                <a:avLst/>
              </a:prstGeom>
            </p:spPr>
            <p:txBody>
              <a:bodyPr anchor="ctr" rtlCol="false" tIns="50800" lIns="50800" bIns="50800" rIns="50800"/>
              <a:lstStyle/>
              <a:p>
                <a:pPr algn="ctr">
                  <a:lnSpc>
                    <a:spcPts val="2940"/>
                  </a:lnSpc>
                </a:pPr>
              </a:p>
            </p:txBody>
          </p:sp>
        </p:grpSp>
        <p:grpSp>
          <p:nvGrpSpPr>
            <p:cNvPr name="Group 8" id="8"/>
            <p:cNvGrpSpPr/>
            <p:nvPr/>
          </p:nvGrpSpPr>
          <p:grpSpPr>
            <a:xfrm rot="0">
              <a:off x="1399414" y="1724814"/>
              <a:ext cx="1284157" cy="128415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892C"/>
              </a:soli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359"/>
                  </a:lnSpc>
                </a:pPr>
              </a:p>
            </p:txBody>
          </p:sp>
        </p:grpSp>
        <p:grpSp>
          <p:nvGrpSpPr>
            <p:cNvPr name="Group 11" id="11"/>
            <p:cNvGrpSpPr/>
            <p:nvPr/>
          </p:nvGrpSpPr>
          <p:grpSpPr>
            <a:xfrm rot="0">
              <a:off x="0" y="0"/>
              <a:ext cx="1030543" cy="2574503"/>
              <a:chOff x="0" y="0"/>
              <a:chExt cx="456090" cy="1139404"/>
            </a:xfrm>
          </p:grpSpPr>
          <p:sp>
            <p:nvSpPr>
              <p:cNvPr name="Freeform 12" id="12"/>
              <p:cNvSpPr/>
              <p:nvPr/>
            </p:nvSpPr>
            <p:spPr>
              <a:xfrm flipH="false" flipV="false" rot="0">
                <a:off x="0" y="0"/>
                <a:ext cx="456090" cy="1139404"/>
              </a:xfrm>
              <a:custGeom>
                <a:avLst/>
                <a:gdLst/>
                <a:ahLst/>
                <a:cxnLst/>
                <a:rect r="r" b="b" t="t" l="l"/>
                <a:pathLst>
                  <a:path h="1139404" w="456090">
                    <a:moveTo>
                      <a:pt x="152112" y="1120335"/>
                    </a:moveTo>
                    <a:cubicBezTo>
                      <a:pt x="175495" y="1131849"/>
                      <a:pt x="202078" y="1139404"/>
                      <a:pt x="228168" y="1139404"/>
                    </a:cubicBezTo>
                    <a:cubicBezTo>
                      <a:pt x="254259" y="1139404"/>
                      <a:pt x="279365" y="1132927"/>
                      <a:pt x="302501" y="1121413"/>
                    </a:cubicBezTo>
                    <a:cubicBezTo>
                      <a:pt x="302994" y="1121054"/>
                      <a:pt x="303486" y="1121054"/>
                      <a:pt x="303978" y="1120694"/>
                    </a:cubicBezTo>
                    <a:cubicBezTo>
                      <a:pt x="390864" y="1074639"/>
                      <a:pt x="454859" y="953025"/>
                      <a:pt x="456090" y="803647"/>
                    </a:cubicBezTo>
                    <a:lnTo>
                      <a:pt x="456090" y="0"/>
                    </a:lnTo>
                    <a:lnTo>
                      <a:pt x="0" y="0"/>
                    </a:lnTo>
                    <a:lnTo>
                      <a:pt x="0" y="803051"/>
                    </a:lnTo>
                    <a:cubicBezTo>
                      <a:pt x="1231" y="953744"/>
                      <a:pt x="64241" y="1075359"/>
                      <a:pt x="152112" y="1120335"/>
                    </a:cubicBezTo>
                    <a:close/>
                  </a:path>
                </a:pathLst>
              </a:custGeom>
              <a:solidFill>
                <a:srgbClr val="2D892C">
                  <a:alpha val="83922"/>
                </a:srgbClr>
              </a:solidFill>
            </p:spPr>
          </p:sp>
          <p:sp>
            <p:nvSpPr>
              <p:cNvPr name="TextBox 13" id="13"/>
              <p:cNvSpPr txBox="true"/>
              <p:nvPr/>
            </p:nvSpPr>
            <p:spPr>
              <a:xfrm>
                <a:off x="0" y="-47625"/>
                <a:ext cx="456090" cy="1060029"/>
              </a:xfrm>
              <a:prstGeom prst="rect">
                <a:avLst/>
              </a:prstGeom>
            </p:spPr>
            <p:txBody>
              <a:bodyPr anchor="ctr" rtlCol="false" tIns="50800" lIns="50800" bIns="50800" rIns="50800"/>
              <a:lstStyle/>
              <a:p>
                <a:pPr algn="ctr">
                  <a:lnSpc>
                    <a:spcPts val="2940"/>
                  </a:lnSpc>
                </a:pPr>
              </a:p>
            </p:txBody>
          </p:sp>
        </p:grpSp>
      </p:grpSp>
      <p:sp>
        <p:nvSpPr>
          <p:cNvPr name="Freeform 14" id="14"/>
          <p:cNvSpPr/>
          <p:nvPr/>
        </p:nvSpPr>
        <p:spPr>
          <a:xfrm flipH="false" flipV="false" rot="2266852">
            <a:off x="-941734" y="9098686"/>
            <a:ext cx="2782408" cy="2782408"/>
          </a:xfrm>
          <a:custGeom>
            <a:avLst/>
            <a:gdLst/>
            <a:ahLst/>
            <a:cxnLst/>
            <a:rect r="r" b="b" t="t" l="l"/>
            <a:pathLst>
              <a:path h="2782408" w="2782408">
                <a:moveTo>
                  <a:pt x="0" y="0"/>
                </a:moveTo>
                <a:lnTo>
                  <a:pt x="2782408" y="0"/>
                </a:lnTo>
                <a:lnTo>
                  <a:pt x="2782408" y="2782408"/>
                </a:lnTo>
                <a:lnTo>
                  <a:pt x="0" y="278240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5" id="15"/>
          <p:cNvGrpSpPr/>
          <p:nvPr/>
        </p:nvGrpSpPr>
        <p:grpSpPr>
          <a:xfrm rot="0">
            <a:off x="17045969" y="8306339"/>
            <a:ext cx="1509847" cy="2939405"/>
            <a:chOff x="0" y="0"/>
            <a:chExt cx="2013129" cy="3919207"/>
          </a:xfrm>
        </p:grpSpPr>
        <p:grpSp>
          <p:nvGrpSpPr>
            <p:cNvPr name="Group 16" id="16"/>
            <p:cNvGrpSpPr/>
            <p:nvPr/>
          </p:nvGrpSpPr>
          <p:grpSpPr>
            <a:xfrm rot="-10800000">
              <a:off x="0" y="0"/>
              <a:ext cx="2013129" cy="3919207"/>
              <a:chOff x="0" y="0"/>
              <a:chExt cx="585263" cy="1139404"/>
            </a:xfrm>
          </p:grpSpPr>
          <p:sp>
            <p:nvSpPr>
              <p:cNvPr name="Freeform 17" id="17"/>
              <p:cNvSpPr/>
              <p:nvPr/>
            </p:nvSpPr>
            <p:spPr>
              <a:xfrm flipH="false" flipV="false" rot="0">
                <a:off x="0" y="0"/>
                <a:ext cx="585263" cy="1139404"/>
              </a:xfrm>
              <a:custGeom>
                <a:avLst/>
                <a:gdLst/>
                <a:ahLst/>
                <a:cxnLst/>
                <a:rect r="r" b="b" t="t" l="l"/>
                <a:pathLst>
                  <a:path h="1139404" w="585263">
                    <a:moveTo>
                      <a:pt x="195193" y="1120335"/>
                    </a:moveTo>
                    <a:cubicBezTo>
                      <a:pt x="225198" y="1131849"/>
                      <a:pt x="259310" y="1139404"/>
                      <a:pt x="292789" y="1139404"/>
                    </a:cubicBezTo>
                    <a:cubicBezTo>
                      <a:pt x="326269" y="1139404"/>
                      <a:pt x="358486" y="1132927"/>
                      <a:pt x="388175" y="1121413"/>
                    </a:cubicBezTo>
                    <a:cubicBezTo>
                      <a:pt x="388807" y="1121054"/>
                      <a:pt x="389438" y="1121054"/>
                      <a:pt x="390070" y="1120694"/>
                    </a:cubicBezTo>
                    <a:cubicBezTo>
                      <a:pt x="501564" y="1074639"/>
                      <a:pt x="583684" y="953025"/>
                      <a:pt x="585263" y="803647"/>
                    </a:cubicBezTo>
                    <a:lnTo>
                      <a:pt x="585263" y="0"/>
                    </a:lnTo>
                    <a:lnTo>
                      <a:pt x="0" y="0"/>
                    </a:lnTo>
                    <a:lnTo>
                      <a:pt x="0" y="803051"/>
                    </a:lnTo>
                    <a:cubicBezTo>
                      <a:pt x="1579" y="953744"/>
                      <a:pt x="82436" y="1075359"/>
                      <a:pt x="195193" y="1120335"/>
                    </a:cubicBezTo>
                    <a:close/>
                  </a:path>
                </a:pathLst>
              </a:custGeom>
              <a:solidFill>
                <a:srgbClr val="2D892C"/>
              </a:solidFill>
            </p:spPr>
          </p:sp>
          <p:sp>
            <p:nvSpPr>
              <p:cNvPr name="TextBox 18" id="18"/>
              <p:cNvSpPr txBox="true"/>
              <p:nvPr/>
            </p:nvSpPr>
            <p:spPr>
              <a:xfrm>
                <a:off x="0" y="-47625"/>
                <a:ext cx="585263" cy="1060029"/>
              </a:xfrm>
              <a:prstGeom prst="rect">
                <a:avLst/>
              </a:prstGeom>
            </p:spPr>
            <p:txBody>
              <a:bodyPr anchor="ctr" rtlCol="false" tIns="34362" lIns="34362" bIns="34362" rIns="34362"/>
              <a:lstStyle/>
              <a:p>
                <a:pPr algn="ctr">
                  <a:lnSpc>
                    <a:spcPts val="2940"/>
                  </a:lnSpc>
                </a:pPr>
              </a:p>
            </p:txBody>
          </p:sp>
        </p:grpSp>
        <p:grpSp>
          <p:nvGrpSpPr>
            <p:cNvPr name="Group 19" id="19"/>
            <p:cNvGrpSpPr/>
            <p:nvPr/>
          </p:nvGrpSpPr>
          <p:grpSpPr>
            <a:xfrm rot="5400000">
              <a:off x="917001" y="1331584"/>
              <a:ext cx="982736" cy="1209521"/>
              <a:chOff x="0" y="0"/>
              <a:chExt cx="660400" cy="812800"/>
            </a:xfrm>
          </p:grpSpPr>
          <p:sp>
            <p:nvSpPr>
              <p:cNvPr name="Freeform 20" id="20"/>
              <p:cNvSpPr/>
              <p:nvPr/>
            </p:nvSpPr>
            <p:spPr>
              <a:xfrm flipH="false" flipV="false" rot="0">
                <a:off x="0" y="0"/>
                <a:ext cx="660400" cy="812800"/>
              </a:xfrm>
              <a:custGeom>
                <a:avLst/>
                <a:gdLst/>
                <a:ahLst/>
                <a:cxnLst/>
                <a:rect r="r" b="b" t="t" l="l"/>
                <a:pathLst>
                  <a:path h="812800" w="660400">
                    <a:moveTo>
                      <a:pt x="220252" y="793731"/>
                    </a:moveTo>
                    <a:cubicBezTo>
                      <a:pt x="254109" y="805245"/>
                      <a:pt x="292600" y="812800"/>
                      <a:pt x="330378" y="812800"/>
                    </a:cubicBezTo>
                    <a:cubicBezTo>
                      <a:pt x="368157" y="812800"/>
                      <a:pt x="404509" y="806323"/>
                      <a:pt x="438009" y="794809"/>
                    </a:cubicBezTo>
                    <a:cubicBezTo>
                      <a:pt x="438723" y="794450"/>
                      <a:pt x="439435" y="794450"/>
                      <a:pt x="440148" y="794090"/>
                    </a:cubicBezTo>
                    <a:cubicBezTo>
                      <a:pt x="565955" y="748035"/>
                      <a:pt x="658618" y="626421"/>
                      <a:pt x="660400" y="484298"/>
                    </a:cubicBezTo>
                    <a:lnTo>
                      <a:pt x="660400" y="0"/>
                    </a:lnTo>
                    <a:lnTo>
                      <a:pt x="0" y="0"/>
                    </a:lnTo>
                    <a:lnTo>
                      <a:pt x="0" y="483939"/>
                    </a:lnTo>
                    <a:cubicBezTo>
                      <a:pt x="1782" y="627140"/>
                      <a:pt x="93019" y="748755"/>
                      <a:pt x="220252" y="793731"/>
                    </a:cubicBezTo>
                    <a:close/>
                  </a:path>
                </a:pathLst>
              </a:custGeom>
              <a:solidFill>
                <a:srgbClr val="153930"/>
              </a:solidFill>
            </p:spPr>
          </p:sp>
          <p:sp>
            <p:nvSpPr>
              <p:cNvPr name="TextBox 21" id="21"/>
              <p:cNvSpPr txBox="true"/>
              <p:nvPr/>
            </p:nvSpPr>
            <p:spPr>
              <a:xfrm>
                <a:off x="0" y="-47625"/>
                <a:ext cx="660400" cy="733425"/>
              </a:xfrm>
              <a:prstGeom prst="rect">
                <a:avLst/>
              </a:prstGeom>
            </p:spPr>
            <p:txBody>
              <a:bodyPr anchor="ctr" rtlCol="false" tIns="61554" lIns="61554" bIns="61554" rIns="61554"/>
              <a:lstStyle/>
              <a:p>
                <a:pPr algn="ctr">
                  <a:lnSpc>
                    <a:spcPts val="2940"/>
                  </a:lnSpc>
                </a:pPr>
              </a:p>
            </p:txBody>
          </p:sp>
        </p:grpSp>
      </p:grpSp>
      <p:grpSp>
        <p:nvGrpSpPr>
          <p:cNvPr name="Group 22" id="22"/>
          <p:cNvGrpSpPr/>
          <p:nvPr/>
        </p:nvGrpSpPr>
        <p:grpSpPr>
          <a:xfrm rot="0">
            <a:off x="5910322" y="3853804"/>
            <a:ext cx="2323478" cy="1330151"/>
            <a:chOff x="0" y="0"/>
            <a:chExt cx="512493" cy="293393"/>
          </a:xfrm>
        </p:grpSpPr>
        <p:sp>
          <p:nvSpPr>
            <p:cNvPr name="Freeform 23" id="23"/>
            <p:cNvSpPr/>
            <p:nvPr/>
          </p:nvSpPr>
          <p:spPr>
            <a:xfrm flipH="false" flipV="false" rot="0">
              <a:off x="0" y="0"/>
              <a:ext cx="512493" cy="293393"/>
            </a:xfrm>
            <a:custGeom>
              <a:avLst/>
              <a:gdLst/>
              <a:ahLst/>
              <a:cxnLst/>
              <a:rect r="r" b="b" t="t" l="l"/>
              <a:pathLst>
                <a:path h="293393" w="512493">
                  <a:moveTo>
                    <a:pt x="46649" y="0"/>
                  </a:moveTo>
                  <a:lnTo>
                    <a:pt x="465844" y="0"/>
                  </a:lnTo>
                  <a:cubicBezTo>
                    <a:pt x="491607" y="0"/>
                    <a:pt x="512493" y="20885"/>
                    <a:pt x="512493" y="46649"/>
                  </a:cubicBezTo>
                  <a:lnTo>
                    <a:pt x="512493" y="246744"/>
                  </a:lnTo>
                  <a:cubicBezTo>
                    <a:pt x="512493" y="272508"/>
                    <a:pt x="491607" y="293393"/>
                    <a:pt x="465844" y="293393"/>
                  </a:cubicBezTo>
                  <a:lnTo>
                    <a:pt x="46649" y="293393"/>
                  </a:lnTo>
                  <a:cubicBezTo>
                    <a:pt x="20885" y="293393"/>
                    <a:pt x="0" y="272508"/>
                    <a:pt x="0" y="246744"/>
                  </a:cubicBezTo>
                  <a:lnTo>
                    <a:pt x="0" y="46649"/>
                  </a:lnTo>
                  <a:cubicBezTo>
                    <a:pt x="0" y="20885"/>
                    <a:pt x="20885" y="0"/>
                    <a:pt x="46649" y="0"/>
                  </a:cubicBezTo>
                  <a:close/>
                </a:path>
              </a:pathLst>
            </a:custGeom>
            <a:solidFill>
              <a:srgbClr val="FFFFFF"/>
            </a:solidFill>
            <a:ln cap="sq">
              <a:noFill/>
              <a:prstDash val="solid"/>
              <a:miter/>
            </a:ln>
          </p:spPr>
        </p:sp>
        <p:sp>
          <p:nvSpPr>
            <p:cNvPr name="TextBox 24" id="24"/>
            <p:cNvSpPr txBox="true"/>
            <p:nvPr/>
          </p:nvSpPr>
          <p:spPr>
            <a:xfrm>
              <a:off x="0" y="-38100"/>
              <a:ext cx="512493" cy="331493"/>
            </a:xfrm>
            <a:prstGeom prst="rect">
              <a:avLst/>
            </a:prstGeom>
          </p:spPr>
          <p:txBody>
            <a:bodyPr anchor="ctr" rtlCol="false" tIns="50800" lIns="50800" bIns="50800" rIns="50800"/>
            <a:lstStyle/>
            <a:p>
              <a:pPr algn="ctr">
                <a:lnSpc>
                  <a:spcPts val="2239"/>
                </a:lnSpc>
              </a:pPr>
              <a:r>
                <a:rPr lang="en-US" sz="1599">
                  <a:solidFill>
                    <a:srgbClr val="000000"/>
                  </a:solidFill>
                  <a:latin typeface="Inclusive Sans"/>
                  <a:ea typeface="Inclusive Sans"/>
                  <a:cs typeface="Inclusive Sans"/>
                  <a:sym typeface="Inclusive Sans"/>
                </a:rPr>
                <a:t>Filsafat / teori</a:t>
              </a:r>
            </a:p>
          </p:txBody>
        </p:sp>
      </p:grpSp>
      <p:grpSp>
        <p:nvGrpSpPr>
          <p:cNvPr name="Group 25" id="25"/>
          <p:cNvGrpSpPr/>
          <p:nvPr/>
        </p:nvGrpSpPr>
        <p:grpSpPr>
          <a:xfrm rot="0">
            <a:off x="3628067" y="3853804"/>
            <a:ext cx="2096871" cy="1330151"/>
            <a:chOff x="0" y="0"/>
            <a:chExt cx="462510" cy="293393"/>
          </a:xfrm>
        </p:grpSpPr>
        <p:sp>
          <p:nvSpPr>
            <p:cNvPr name="Freeform 26" id="26"/>
            <p:cNvSpPr/>
            <p:nvPr/>
          </p:nvSpPr>
          <p:spPr>
            <a:xfrm flipH="false" flipV="false" rot="0">
              <a:off x="0" y="0"/>
              <a:ext cx="462510" cy="293393"/>
            </a:xfrm>
            <a:custGeom>
              <a:avLst/>
              <a:gdLst/>
              <a:ahLst/>
              <a:cxnLst/>
              <a:rect r="r" b="b" t="t" l="l"/>
              <a:pathLst>
                <a:path h="293393" w="462510">
                  <a:moveTo>
                    <a:pt x="51690" y="0"/>
                  </a:moveTo>
                  <a:lnTo>
                    <a:pt x="410820" y="0"/>
                  </a:lnTo>
                  <a:cubicBezTo>
                    <a:pt x="439367" y="0"/>
                    <a:pt x="462510" y="23142"/>
                    <a:pt x="462510" y="51690"/>
                  </a:cubicBezTo>
                  <a:lnTo>
                    <a:pt x="462510" y="241703"/>
                  </a:lnTo>
                  <a:cubicBezTo>
                    <a:pt x="462510" y="270251"/>
                    <a:pt x="439367" y="293393"/>
                    <a:pt x="410820" y="293393"/>
                  </a:cubicBezTo>
                  <a:lnTo>
                    <a:pt x="51690" y="293393"/>
                  </a:lnTo>
                  <a:cubicBezTo>
                    <a:pt x="23142" y="293393"/>
                    <a:pt x="0" y="270251"/>
                    <a:pt x="0" y="241703"/>
                  </a:cubicBezTo>
                  <a:lnTo>
                    <a:pt x="0" y="51690"/>
                  </a:lnTo>
                  <a:cubicBezTo>
                    <a:pt x="0" y="23142"/>
                    <a:pt x="23142" y="0"/>
                    <a:pt x="51690" y="0"/>
                  </a:cubicBezTo>
                  <a:close/>
                </a:path>
              </a:pathLst>
            </a:custGeom>
            <a:solidFill>
              <a:srgbClr val="57E11C"/>
            </a:solidFill>
          </p:spPr>
        </p:sp>
        <p:sp>
          <p:nvSpPr>
            <p:cNvPr name="TextBox 27" id="27"/>
            <p:cNvSpPr txBox="true"/>
            <p:nvPr/>
          </p:nvSpPr>
          <p:spPr>
            <a:xfrm>
              <a:off x="0" y="-38100"/>
              <a:ext cx="462510" cy="331493"/>
            </a:xfrm>
            <a:prstGeom prst="rect">
              <a:avLst/>
            </a:prstGeom>
          </p:spPr>
          <p:txBody>
            <a:bodyPr anchor="ctr" rtlCol="false" tIns="50800" lIns="50800" bIns="50800" rIns="50800"/>
            <a:lstStyle/>
            <a:p>
              <a:pPr algn="ctr">
                <a:lnSpc>
                  <a:spcPts val="2239"/>
                </a:lnSpc>
              </a:pPr>
              <a:r>
                <a:rPr lang="en-US" sz="1599" b="true">
                  <a:solidFill>
                    <a:srgbClr val="FFFFFF"/>
                  </a:solidFill>
                  <a:latin typeface="Inclusive Sans Bold"/>
                  <a:ea typeface="Inclusive Sans Bold"/>
                  <a:cs typeface="Inclusive Sans Bold"/>
                  <a:sym typeface="Inclusive Sans Bold"/>
                </a:rPr>
                <a:t>Sumber</a:t>
              </a:r>
            </a:p>
            <a:p>
              <a:pPr algn="ctr">
                <a:lnSpc>
                  <a:spcPts val="2239"/>
                </a:lnSpc>
              </a:pPr>
              <a:r>
                <a:rPr lang="en-US" b="true" sz="1599">
                  <a:solidFill>
                    <a:srgbClr val="FFFFFF"/>
                  </a:solidFill>
                  <a:latin typeface="Inclusive Sans Bold"/>
                  <a:ea typeface="Inclusive Sans Bold"/>
                  <a:cs typeface="Inclusive Sans Bold"/>
                  <a:sym typeface="Inclusive Sans Bold"/>
                </a:rPr>
                <a:t>Otoritas</a:t>
              </a:r>
            </a:p>
          </p:txBody>
        </p:sp>
      </p:grpSp>
      <p:grpSp>
        <p:nvGrpSpPr>
          <p:cNvPr name="Group 28" id="28"/>
          <p:cNvGrpSpPr/>
          <p:nvPr/>
        </p:nvGrpSpPr>
        <p:grpSpPr>
          <a:xfrm rot="0">
            <a:off x="5910322" y="5261573"/>
            <a:ext cx="2323478" cy="1330151"/>
            <a:chOff x="0" y="0"/>
            <a:chExt cx="512493" cy="293393"/>
          </a:xfrm>
        </p:grpSpPr>
        <p:sp>
          <p:nvSpPr>
            <p:cNvPr name="Freeform 29" id="29"/>
            <p:cNvSpPr/>
            <p:nvPr/>
          </p:nvSpPr>
          <p:spPr>
            <a:xfrm flipH="false" flipV="false" rot="0">
              <a:off x="0" y="0"/>
              <a:ext cx="512493" cy="293393"/>
            </a:xfrm>
            <a:custGeom>
              <a:avLst/>
              <a:gdLst/>
              <a:ahLst/>
              <a:cxnLst/>
              <a:rect r="r" b="b" t="t" l="l"/>
              <a:pathLst>
                <a:path h="293393" w="512493">
                  <a:moveTo>
                    <a:pt x="46649" y="0"/>
                  </a:moveTo>
                  <a:lnTo>
                    <a:pt x="465844" y="0"/>
                  </a:lnTo>
                  <a:cubicBezTo>
                    <a:pt x="491607" y="0"/>
                    <a:pt x="512493" y="20885"/>
                    <a:pt x="512493" y="46649"/>
                  </a:cubicBezTo>
                  <a:lnTo>
                    <a:pt x="512493" y="246744"/>
                  </a:lnTo>
                  <a:cubicBezTo>
                    <a:pt x="512493" y="272508"/>
                    <a:pt x="491607" y="293393"/>
                    <a:pt x="465844" y="293393"/>
                  </a:cubicBezTo>
                  <a:lnTo>
                    <a:pt x="46649" y="293393"/>
                  </a:lnTo>
                  <a:cubicBezTo>
                    <a:pt x="20885" y="293393"/>
                    <a:pt x="0" y="272508"/>
                    <a:pt x="0" y="246744"/>
                  </a:cubicBezTo>
                  <a:lnTo>
                    <a:pt x="0" y="46649"/>
                  </a:lnTo>
                  <a:cubicBezTo>
                    <a:pt x="0" y="20885"/>
                    <a:pt x="20885" y="0"/>
                    <a:pt x="46649" y="0"/>
                  </a:cubicBezTo>
                  <a:close/>
                </a:path>
              </a:pathLst>
            </a:custGeom>
            <a:solidFill>
              <a:srgbClr val="FFFFFF"/>
            </a:solidFill>
            <a:ln cap="sq">
              <a:noFill/>
              <a:prstDash val="solid"/>
              <a:miter/>
            </a:ln>
          </p:spPr>
        </p:sp>
        <p:sp>
          <p:nvSpPr>
            <p:cNvPr name="TextBox 30" id="30"/>
            <p:cNvSpPr txBox="true"/>
            <p:nvPr/>
          </p:nvSpPr>
          <p:spPr>
            <a:xfrm>
              <a:off x="0" y="-38100"/>
              <a:ext cx="512493" cy="331493"/>
            </a:xfrm>
            <a:prstGeom prst="rect">
              <a:avLst/>
            </a:prstGeom>
          </p:spPr>
          <p:txBody>
            <a:bodyPr anchor="ctr" rtlCol="false" tIns="50800" lIns="50800" bIns="50800" rIns="50800"/>
            <a:lstStyle/>
            <a:p>
              <a:pPr algn="ctr">
                <a:lnSpc>
                  <a:spcPts val="2239"/>
                </a:lnSpc>
              </a:pPr>
              <a:r>
                <a:rPr lang="en-US" sz="1599">
                  <a:solidFill>
                    <a:srgbClr val="000000"/>
                  </a:solidFill>
                  <a:latin typeface="Inclusive Sans"/>
                  <a:ea typeface="Inclusive Sans"/>
                  <a:cs typeface="Inclusive Sans"/>
                  <a:sym typeface="Inclusive Sans"/>
                </a:rPr>
                <a:t>Sistematis</a:t>
              </a:r>
            </a:p>
            <a:p>
              <a:pPr algn="ctr">
                <a:lnSpc>
                  <a:spcPts val="2239"/>
                </a:lnSpc>
              </a:pPr>
              <a:r>
                <a:rPr lang="en-US" sz="1599">
                  <a:solidFill>
                    <a:srgbClr val="000000"/>
                  </a:solidFill>
                  <a:latin typeface="Inclusive Sans"/>
                  <a:ea typeface="Inclusive Sans"/>
                  <a:cs typeface="Inclusive Sans"/>
                  <a:sym typeface="Inclusive Sans"/>
                </a:rPr>
                <a:t>dam universal</a:t>
              </a:r>
            </a:p>
          </p:txBody>
        </p:sp>
      </p:grpSp>
      <p:grpSp>
        <p:nvGrpSpPr>
          <p:cNvPr name="Group 31" id="31"/>
          <p:cNvGrpSpPr/>
          <p:nvPr/>
        </p:nvGrpSpPr>
        <p:grpSpPr>
          <a:xfrm rot="0">
            <a:off x="3628067" y="5261573"/>
            <a:ext cx="2096871" cy="1330151"/>
            <a:chOff x="0" y="0"/>
            <a:chExt cx="462510" cy="293393"/>
          </a:xfrm>
        </p:grpSpPr>
        <p:sp>
          <p:nvSpPr>
            <p:cNvPr name="Freeform 32" id="32"/>
            <p:cNvSpPr/>
            <p:nvPr/>
          </p:nvSpPr>
          <p:spPr>
            <a:xfrm flipH="false" flipV="false" rot="0">
              <a:off x="0" y="0"/>
              <a:ext cx="462510" cy="293393"/>
            </a:xfrm>
            <a:custGeom>
              <a:avLst/>
              <a:gdLst/>
              <a:ahLst/>
              <a:cxnLst/>
              <a:rect r="r" b="b" t="t" l="l"/>
              <a:pathLst>
                <a:path h="293393" w="462510">
                  <a:moveTo>
                    <a:pt x="51690" y="0"/>
                  </a:moveTo>
                  <a:lnTo>
                    <a:pt x="410820" y="0"/>
                  </a:lnTo>
                  <a:cubicBezTo>
                    <a:pt x="439367" y="0"/>
                    <a:pt x="462510" y="23142"/>
                    <a:pt x="462510" y="51690"/>
                  </a:cubicBezTo>
                  <a:lnTo>
                    <a:pt x="462510" y="241703"/>
                  </a:lnTo>
                  <a:cubicBezTo>
                    <a:pt x="462510" y="270251"/>
                    <a:pt x="439367" y="293393"/>
                    <a:pt x="410820" y="293393"/>
                  </a:cubicBezTo>
                  <a:lnTo>
                    <a:pt x="51690" y="293393"/>
                  </a:lnTo>
                  <a:cubicBezTo>
                    <a:pt x="23142" y="293393"/>
                    <a:pt x="0" y="270251"/>
                    <a:pt x="0" y="241703"/>
                  </a:cubicBezTo>
                  <a:lnTo>
                    <a:pt x="0" y="51690"/>
                  </a:lnTo>
                  <a:cubicBezTo>
                    <a:pt x="0" y="23142"/>
                    <a:pt x="23142" y="0"/>
                    <a:pt x="51690" y="0"/>
                  </a:cubicBezTo>
                  <a:close/>
                </a:path>
              </a:pathLst>
            </a:custGeom>
            <a:solidFill>
              <a:srgbClr val="2D892C"/>
            </a:solidFill>
          </p:spPr>
        </p:sp>
        <p:sp>
          <p:nvSpPr>
            <p:cNvPr name="TextBox 33" id="33"/>
            <p:cNvSpPr txBox="true"/>
            <p:nvPr/>
          </p:nvSpPr>
          <p:spPr>
            <a:xfrm>
              <a:off x="0" y="-38100"/>
              <a:ext cx="462510" cy="331493"/>
            </a:xfrm>
            <a:prstGeom prst="rect">
              <a:avLst/>
            </a:prstGeom>
          </p:spPr>
          <p:txBody>
            <a:bodyPr anchor="ctr" rtlCol="false" tIns="50800" lIns="50800" bIns="50800" rIns="50800"/>
            <a:lstStyle/>
            <a:p>
              <a:pPr algn="ctr">
                <a:lnSpc>
                  <a:spcPts val="2239"/>
                </a:lnSpc>
              </a:pPr>
              <a:r>
                <a:rPr lang="en-US" b="true" sz="1599">
                  <a:solidFill>
                    <a:srgbClr val="FFFFFF"/>
                  </a:solidFill>
                  <a:latin typeface="Inclusive Sans Bold"/>
                  <a:ea typeface="Inclusive Sans Bold"/>
                  <a:cs typeface="Inclusive Sans Bold"/>
                  <a:sym typeface="Inclusive Sans Bold"/>
                </a:rPr>
                <a:t>Sifat</a:t>
              </a:r>
            </a:p>
          </p:txBody>
        </p:sp>
      </p:grpSp>
      <p:grpSp>
        <p:nvGrpSpPr>
          <p:cNvPr name="Group 34" id="34"/>
          <p:cNvGrpSpPr/>
          <p:nvPr/>
        </p:nvGrpSpPr>
        <p:grpSpPr>
          <a:xfrm rot="0">
            <a:off x="8341922" y="3853804"/>
            <a:ext cx="2323478" cy="1330151"/>
            <a:chOff x="0" y="0"/>
            <a:chExt cx="512493" cy="293393"/>
          </a:xfrm>
        </p:grpSpPr>
        <p:sp>
          <p:nvSpPr>
            <p:cNvPr name="Freeform 35" id="35"/>
            <p:cNvSpPr/>
            <p:nvPr/>
          </p:nvSpPr>
          <p:spPr>
            <a:xfrm flipH="false" flipV="false" rot="0">
              <a:off x="0" y="0"/>
              <a:ext cx="512493" cy="293393"/>
            </a:xfrm>
            <a:custGeom>
              <a:avLst/>
              <a:gdLst/>
              <a:ahLst/>
              <a:cxnLst/>
              <a:rect r="r" b="b" t="t" l="l"/>
              <a:pathLst>
                <a:path h="293393" w="512493">
                  <a:moveTo>
                    <a:pt x="46649" y="0"/>
                  </a:moveTo>
                  <a:lnTo>
                    <a:pt x="465844" y="0"/>
                  </a:lnTo>
                  <a:cubicBezTo>
                    <a:pt x="491607" y="0"/>
                    <a:pt x="512493" y="20885"/>
                    <a:pt x="512493" y="46649"/>
                  </a:cubicBezTo>
                  <a:lnTo>
                    <a:pt x="512493" y="246744"/>
                  </a:lnTo>
                  <a:cubicBezTo>
                    <a:pt x="512493" y="272508"/>
                    <a:pt x="491607" y="293393"/>
                    <a:pt x="465844" y="293393"/>
                  </a:cubicBezTo>
                  <a:lnTo>
                    <a:pt x="46649" y="293393"/>
                  </a:lnTo>
                  <a:cubicBezTo>
                    <a:pt x="20885" y="293393"/>
                    <a:pt x="0" y="272508"/>
                    <a:pt x="0" y="246744"/>
                  </a:cubicBezTo>
                  <a:lnTo>
                    <a:pt x="0" y="46649"/>
                  </a:lnTo>
                  <a:cubicBezTo>
                    <a:pt x="0" y="20885"/>
                    <a:pt x="20885" y="0"/>
                    <a:pt x="46649" y="0"/>
                  </a:cubicBezTo>
                  <a:close/>
                </a:path>
              </a:pathLst>
            </a:custGeom>
            <a:solidFill>
              <a:srgbClr val="FFFFFF"/>
            </a:solidFill>
            <a:ln cap="sq">
              <a:noFill/>
              <a:prstDash val="solid"/>
              <a:miter/>
            </a:ln>
          </p:spPr>
        </p:sp>
        <p:sp>
          <p:nvSpPr>
            <p:cNvPr name="TextBox 36" id="36"/>
            <p:cNvSpPr txBox="true"/>
            <p:nvPr/>
          </p:nvSpPr>
          <p:spPr>
            <a:xfrm>
              <a:off x="0" y="-38100"/>
              <a:ext cx="512493" cy="331493"/>
            </a:xfrm>
            <a:prstGeom prst="rect">
              <a:avLst/>
            </a:prstGeom>
          </p:spPr>
          <p:txBody>
            <a:bodyPr anchor="ctr" rtlCol="false" tIns="50800" lIns="50800" bIns="50800" rIns="50800"/>
            <a:lstStyle/>
            <a:p>
              <a:pPr algn="ctr">
                <a:lnSpc>
                  <a:spcPts val="2239"/>
                </a:lnSpc>
              </a:pPr>
              <a:r>
                <a:rPr lang="en-US" sz="1599">
                  <a:solidFill>
                    <a:srgbClr val="000000"/>
                  </a:solidFill>
                  <a:latin typeface="Inclusive Sans"/>
                  <a:ea typeface="Inclusive Sans"/>
                  <a:cs typeface="Inclusive Sans"/>
                  <a:sym typeface="Inclusive Sans"/>
                </a:rPr>
                <a:t>Budaya, agama,</a:t>
              </a:r>
            </a:p>
            <a:p>
              <a:pPr algn="ctr">
                <a:lnSpc>
                  <a:spcPts val="2239"/>
                </a:lnSpc>
              </a:pPr>
              <a:r>
                <a:rPr lang="en-US" sz="1599">
                  <a:solidFill>
                    <a:srgbClr val="000000"/>
                  </a:solidFill>
                  <a:latin typeface="Inclusive Sans"/>
                  <a:ea typeface="Inclusive Sans"/>
                  <a:cs typeface="Inclusive Sans"/>
                  <a:sym typeface="Inclusive Sans"/>
                </a:rPr>
                <a:t>dan individu</a:t>
              </a:r>
            </a:p>
          </p:txBody>
        </p:sp>
      </p:grpSp>
      <p:grpSp>
        <p:nvGrpSpPr>
          <p:cNvPr name="Group 37" id="37"/>
          <p:cNvGrpSpPr/>
          <p:nvPr/>
        </p:nvGrpSpPr>
        <p:grpSpPr>
          <a:xfrm rot="0">
            <a:off x="8341922" y="5261573"/>
            <a:ext cx="2323478" cy="1330151"/>
            <a:chOff x="0" y="0"/>
            <a:chExt cx="512493" cy="293393"/>
          </a:xfrm>
        </p:grpSpPr>
        <p:sp>
          <p:nvSpPr>
            <p:cNvPr name="Freeform 38" id="38"/>
            <p:cNvSpPr/>
            <p:nvPr/>
          </p:nvSpPr>
          <p:spPr>
            <a:xfrm flipH="false" flipV="false" rot="0">
              <a:off x="0" y="0"/>
              <a:ext cx="512493" cy="293393"/>
            </a:xfrm>
            <a:custGeom>
              <a:avLst/>
              <a:gdLst/>
              <a:ahLst/>
              <a:cxnLst/>
              <a:rect r="r" b="b" t="t" l="l"/>
              <a:pathLst>
                <a:path h="293393" w="512493">
                  <a:moveTo>
                    <a:pt x="46649" y="0"/>
                  </a:moveTo>
                  <a:lnTo>
                    <a:pt x="465844" y="0"/>
                  </a:lnTo>
                  <a:cubicBezTo>
                    <a:pt x="491607" y="0"/>
                    <a:pt x="512493" y="20885"/>
                    <a:pt x="512493" y="46649"/>
                  </a:cubicBezTo>
                  <a:lnTo>
                    <a:pt x="512493" y="246744"/>
                  </a:lnTo>
                  <a:cubicBezTo>
                    <a:pt x="512493" y="272508"/>
                    <a:pt x="491607" y="293393"/>
                    <a:pt x="465844" y="293393"/>
                  </a:cubicBezTo>
                  <a:lnTo>
                    <a:pt x="46649" y="293393"/>
                  </a:lnTo>
                  <a:cubicBezTo>
                    <a:pt x="20885" y="293393"/>
                    <a:pt x="0" y="272508"/>
                    <a:pt x="0" y="246744"/>
                  </a:cubicBezTo>
                  <a:lnTo>
                    <a:pt x="0" y="46649"/>
                  </a:lnTo>
                  <a:cubicBezTo>
                    <a:pt x="0" y="20885"/>
                    <a:pt x="20885" y="0"/>
                    <a:pt x="46649" y="0"/>
                  </a:cubicBezTo>
                  <a:close/>
                </a:path>
              </a:pathLst>
            </a:custGeom>
            <a:solidFill>
              <a:srgbClr val="FFFFFF"/>
            </a:solidFill>
            <a:ln cap="sq">
              <a:noFill/>
              <a:prstDash val="solid"/>
              <a:miter/>
            </a:ln>
          </p:spPr>
        </p:sp>
        <p:sp>
          <p:nvSpPr>
            <p:cNvPr name="TextBox 39" id="39"/>
            <p:cNvSpPr txBox="true"/>
            <p:nvPr/>
          </p:nvSpPr>
          <p:spPr>
            <a:xfrm>
              <a:off x="0" y="-38100"/>
              <a:ext cx="512493" cy="331493"/>
            </a:xfrm>
            <a:prstGeom prst="rect">
              <a:avLst/>
            </a:prstGeom>
          </p:spPr>
          <p:txBody>
            <a:bodyPr anchor="ctr" rtlCol="false" tIns="50800" lIns="50800" bIns="50800" rIns="50800"/>
            <a:lstStyle/>
            <a:p>
              <a:pPr algn="ctr">
                <a:lnSpc>
                  <a:spcPts val="2239"/>
                </a:lnSpc>
              </a:pPr>
              <a:r>
                <a:rPr lang="en-US" sz="1599">
                  <a:solidFill>
                    <a:srgbClr val="000000"/>
                  </a:solidFill>
                  <a:latin typeface="Inclusive Sans"/>
                  <a:ea typeface="Inclusive Sans"/>
                  <a:cs typeface="Inclusive Sans"/>
                  <a:sym typeface="Inclusive Sans"/>
                </a:rPr>
                <a:t>Personal dan praktis</a:t>
              </a:r>
            </a:p>
          </p:txBody>
        </p:sp>
      </p:grpSp>
      <p:grpSp>
        <p:nvGrpSpPr>
          <p:cNvPr name="Group 40" id="40"/>
          <p:cNvGrpSpPr/>
          <p:nvPr/>
        </p:nvGrpSpPr>
        <p:grpSpPr>
          <a:xfrm rot="0">
            <a:off x="10773521" y="3853804"/>
            <a:ext cx="2323478" cy="1330151"/>
            <a:chOff x="0" y="0"/>
            <a:chExt cx="512493" cy="293393"/>
          </a:xfrm>
        </p:grpSpPr>
        <p:sp>
          <p:nvSpPr>
            <p:cNvPr name="Freeform 41" id="41"/>
            <p:cNvSpPr/>
            <p:nvPr/>
          </p:nvSpPr>
          <p:spPr>
            <a:xfrm flipH="false" flipV="false" rot="0">
              <a:off x="0" y="0"/>
              <a:ext cx="512493" cy="293393"/>
            </a:xfrm>
            <a:custGeom>
              <a:avLst/>
              <a:gdLst/>
              <a:ahLst/>
              <a:cxnLst/>
              <a:rect r="r" b="b" t="t" l="l"/>
              <a:pathLst>
                <a:path h="293393" w="512493">
                  <a:moveTo>
                    <a:pt x="46649" y="0"/>
                  </a:moveTo>
                  <a:lnTo>
                    <a:pt x="465844" y="0"/>
                  </a:lnTo>
                  <a:cubicBezTo>
                    <a:pt x="491607" y="0"/>
                    <a:pt x="512493" y="20885"/>
                    <a:pt x="512493" y="46649"/>
                  </a:cubicBezTo>
                  <a:lnTo>
                    <a:pt x="512493" y="246744"/>
                  </a:lnTo>
                  <a:cubicBezTo>
                    <a:pt x="512493" y="272508"/>
                    <a:pt x="491607" y="293393"/>
                    <a:pt x="465844" y="293393"/>
                  </a:cubicBezTo>
                  <a:lnTo>
                    <a:pt x="46649" y="293393"/>
                  </a:lnTo>
                  <a:cubicBezTo>
                    <a:pt x="20885" y="293393"/>
                    <a:pt x="0" y="272508"/>
                    <a:pt x="0" y="246744"/>
                  </a:cubicBezTo>
                  <a:lnTo>
                    <a:pt x="0" y="46649"/>
                  </a:lnTo>
                  <a:cubicBezTo>
                    <a:pt x="0" y="20885"/>
                    <a:pt x="20885" y="0"/>
                    <a:pt x="46649" y="0"/>
                  </a:cubicBezTo>
                  <a:close/>
                </a:path>
              </a:pathLst>
            </a:custGeom>
            <a:solidFill>
              <a:srgbClr val="FFFFFF"/>
            </a:solidFill>
            <a:ln cap="sq">
              <a:noFill/>
              <a:prstDash val="solid"/>
              <a:miter/>
            </a:ln>
          </p:spPr>
        </p:sp>
        <p:sp>
          <p:nvSpPr>
            <p:cNvPr name="TextBox 42" id="42"/>
            <p:cNvSpPr txBox="true"/>
            <p:nvPr/>
          </p:nvSpPr>
          <p:spPr>
            <a:xfrm>
              <a:off x="0" y="-38100"/>
              <a:ext cx="512493" cy="331493"/>
            </a:xfrm>
            <a:prstGeom prst="rect">
              <a:avLst/>
            </a:prstGeom>
          </p:spPr>
          <p:txBody>
            <a:bodyPr anchor="ctr" rtlCol="false" tIns="50800" lIns="50800" bIns="50800" rIns="50800"/>
            <a:lstStyle/>
            <a:p>
              <a:pPr algn="ctr">
                <a:lnSpc>
                  <a:spcPts val="2239"/>
                </a:lnSpc>
              </a:pPr>
              <a:r>
                <a:rPr lang="en-US" sz="1599">
                  <a:solidFill>
                    <a:srgbClr val="000000"/>
                  </a:solidFill>
                  <a:latin typeface="Inclusive Sans"/>
                  <a:ea typeface="Inclusive Sans"/>
                  <a:cs typeface="Inclusive Sans"/>
                  <a:sym typeface="Inclusive Sans"/>
                </a:rPr>
                <a:t>Norma sosial</a:t>
              </a:r>
            </a:p>
          </p:txBody>
        </p:sp>
      </p:grpSp>
      <p:grpSp>
        <p:nvGrpSpPr>
          <p:cNvPr name="Group 43" id="43"/>
          <p:cNvGrpSpPr/>
          <p:nvPr/>
        </p:nvGrpSpPr>
        <p:grpSpPr>
          <a:xfrm rot="0">
            <a:off x="10773521" y="5261573"/>
            <a:ext cx="2323478" cy="1330151"/>
            <a:chOff x="0" y="0"/>
            <a:chExt cx="512493" cy="293393"/>
          </a:xfrm>
        </p:grpSpPr>
        <p:sp>
          <p:nvSpPr>
            <p:cNvPr name="Freeform 44" id="44"/>
            <p:cNvSpPr/>
            <p:nvPr/>
          </p:nvSpPr>
          <p:spPr>
            <a:xfrm flipH="false" flipV="false" rot="0">
              <a:off x="0" y="0"/>
              <a:ext cx="512493" cy="293393"/>
            </a:xfrm>
            <a:custGeom>
              <a:avLst/>
              <a:gdLst/>
              <a:ahLst/>
              <a:cxnLst/>
              <a:rect r="r" b="b" t="t" l="l"/>
              <a:pathLst>
                <a:path h="293393" w="512493">
                  <a:moveTo>
                    <a:pt x="46649" y="0"/>
                  </a:moveTo>
                  <a:lnTo>
                    <a:pt x="465844" y="0"/>
                  </a:lnTo>
                  <a:cubicBezTo>
                    <a:pt x="491607" y="0"/>
                    <a:pt x="512493" y="20885"/>
                    <a:pt x="512493" y="46649"/>
                  </a:cubicBezTo>
                  <a:lnTo>
                    <a:pt x="512493" y="246744"/>
                  </a:lnTo>
                  <a:cubicBezTo>
                    <a:pt x="512493" y="272508"/>
                    <a:pt x="491607" y="293393"/>
                    <a:pt x="465844" y="293393"/>
                  </a:cubicBezTo>
                  <a:lnTo>
                    <a:pt x="46649" y="293393"/>
                  </a:lnTo>
                  <a:cubicBezTo>
                    <a:pt x="20885" y="293393"/>
                    <a:pt x="0" y="272508"/>
                    <a:pt x="0" y="246744"/>
                  </a:cubicBezTo>
                  <a:lnTo>
                    <a:pt x="0" y="46649"/>
                  </a:lnTo>
                  <a:cubicBezTo>
                    <a:pt x="0" y="20885"/>
                    <a:pt x="20885" y="0"/>
                    <a:pt x="46649" y="0"/>
                  </a:cubicBezTo>
                  <a:close/>
                </a:path>
              </a:pathLst>
            </a:custGeom>
            <a:solidFill>
              <a:srgbClr val="FFFFFF"/>
            </a:solidFill>
            <a:ln cap="sq">
              <a:noFill/>
              <a:prstDash val="solid"/>
              <a:miter/>
            </a:ln>
          </p:spPr>
        </p:sp>
        <p:sp>
          <p:nvSpPr>
            <p:cNvPr name="TextBox 45" id="45"/>
            <p:cNvSpPr txBox="true"/>
            <p:nvPr/>
          </p:nvSpPr>
          <p:spPr>
            <a:xfrm>
              <a:off x="0" y="-38100"/>
              <a:ext cx="512493" cy="331493"/>
            </a:xfrm>
            <a:prstGeom prst="rect">
              <a:avLst/>
            </a:prstGeom>
          </p:spPr>
          <p:txBody>
            <a:bodyPr anchor="ctr" rtlCol="false" tIns="50800" lIns="50800" bIns="50800" rIns="50800"/>
            <a:lstStyle/>
            <a:p>
              <a:pPr algn="ctr">
                <a:lnSpc>
                  <a:spcPts val="2239"/>
                </a:lnSpc>
              </a:pPr>
              <a:r>
                <a:rPr lang="en-US" sz="1599">
                  <a:solidFill>
                    <a:srgbClr val="000000"/>
                  </a:solidFill>
                  <a:latin typeface="Inclusive Sans"/>
                  <a:ea typeface="Inclusive Sans"/>
                  <a:cs typeface="Inclusive Sans"/>
                  <a:sym typeface="Inclusive Sans"/>
                </a:rPr>
                <a:t>Konvensional dan situasional</a:t>
              </a:r>
            </a:p>
          </p:txBody>
        </p:sp>
      </p:grpSp>
      <p:grpSp>
        <p:nvGrpSpPr>
          <p:cNvPr name="Group 46" id="46"/>
          <p:cNvGrpSpPr/>
          <p:nvPr/>
        </p:nvGrpSpPr>
        <p:grpSpPr>
          <a:xfrm rot="0">
            <a:off x="13205120" y="3853804"/>
            <a:ext cx="2323478" cy="1330151"/>
            <a:chOff x="0" y="0"/>
            <a:chExt cx="512493" cy="293393"/>
          </a:xfrm>
        </p:grpSpPr>
        <p:sp>
          <p:nvSpPr>
            <p:cNvPr name="Freeform 47" id="47"/>
            <p:cNvSpPr/>
            <p:nvPr/>
          </p:nvSpPr>
          <p:spPr>
            <a:xfrm flipH="false" flipV="false" rot="0">
              <a:off x="0" y="0"/>
              <a:ext cx="512493" cy="293393"/>
            </a:xfrm>
            <a:custGeom>
              <a:avLst/>
              <a:gdLst/>
              <a:ahLst/>
              <a:cxnLst/>
              <a:rect r="r" b="b" t="t" l="l"/>
              <a:pathLst>
                <a:path h="293393" w="512493">
                  <a:moveTo>
                    <a:pt x="46649" y="0"/>
                  </a:moveTo>
                  <a:lnTo>
                    <a:pt x="465844" y="0"/>
                  </a:lnTo>
                  <a:cubicBezTo>
                    <a:pt x="491607" y="0"/>
                    <a:pt x="512493" y="20885"/>
                    <a:pt x="512493" y="46649"/>
                  </a:cubicBezTo>
                  <a:lnTo>
                    <a:pt x="512493" y="246744"/>
                  </a:lnTo>
                  <a:cubicBezTo>
                    <a:pt x="512493" y="272508"/>
                    <a:pt x="491607" y="293393"/>
                    <a:pt x="465844" y="293393"/>
                  </a:cubicBezTo>
                  <a:lnTo>
                    <a:pt x="46649" y="293393"/>
                  </a:lnTo>
                  <a:cubicBezTo>
                    <a:pt x="20885" y="293393"/>
                    <a:pt x="0" y="272508"/>
                    <a:pt x="0" y="246744"/>
                  </a:cubicBezTo>
                  <a:lnTo>
                    <a:pt x="0" y="46649"/>
                  </a:lnTo>
                  <a:cubicBezTo>
                    <a:pt x="0" y="20885"/>
                    <a:pt x="20885" y="0"/>
                    <a:pt x="46649" y="0"/>
                  </a:cubicBezTo>
                  <a:close/>
                </a:path>
              </a:pathLst>
            </a:custGeom>
            <a:solidFill>
              <a:srgbClr val="FFFFFF"/>
            </a:solidFill>
            <a:ln cap="sq">
              <a:noFill/>
              <a:prstDash val="solid"/>
              <a:miter/>
            </a:ln>
          </p:spPr>
        </p:sp>
        <p:sp>
          <p:nvSpPr>
            <p:cNvPr name="TextBox 48" id="48"/>
            <p:cNvSpPr txBox="true"/>
            <p:nvPr/>
          </p:nvSpPr>
          <p:spPr>
            <a:xfrm>
              <a:off x="0" y="-38100"/>
              <a:ext cx="512493" cy="331493"/>
            </a:xfrm>
            <a:prstGeom prst="rect">
              <a:avLst/>
            </a:prstGeom>
          </p:spPr>
          <p:txBody>
            <a:bodyPr anchor="ctr" rtlCol="false" tIns="50800" lIns="50800" bIns="50800" rIns="50800"/>
            <a:lstStyle/>
            <a:p>
              <a:pPr algn="ctr">
                <a:lnSpc>
                  <a:spcPts val="2239"/>
                </a:lnSpc>
              </a:pPr>
              <a:r>
                <a:rPr lang="en-US" sz="1599">
                  <a:solidFill>
                    <a:srgbClr val="000000"/>
                  </a:solidFill>
                  <a:latin typeface="Inclusive Sans"/>
                  <a:ea typeface="Inclusive Sans"/>
                  <a:cs typeface="Inclusive Sans"/>
                  <a:sym typeface="Inclusive Sans"/>
                </a:rPr>
                <a:t>Kode profesi</a:t>
              </a:r>
            </a:p>
            <a:p>
              <a:pPr algn="ctr">
                <a:lnSpc>
                  <a:spcPts val="2239"/>
                </a:lnSpc>
              </a:pPr>
              <a:r>
                <a:rPr lang="en-US" sz="1599">
                  <a:solidFill>
                    <a:srgbClr val="000000"/>
                  </a:solidFill>
                  <a:latin typeface="Inclusive Sans"/>
                  <a:ea typeface="Inclusive Sans"/>
                  <a:cs typeface="Inclusive Sans"/>
                  <a:sym typeface="Inclusive Sans"/>
                </a:rPr>
                <a:t>(ACM, IEEE)</a:t>
              </a:r>
            </a:p>
          </p:txBody>
        </p:sp>
      </p:grpSp>
      <p:grpSp>
        <p:nvGrpSpPr>
          <p:cNvPr name="Group 49" id="49"/>
          <p:cNvGrpSpPr/>
          <p:nvPr/>
        </p:nvGrpSpPr>
        <p:grpSpPr>
          <a:xfrm rot="0">
            <a:off x="13205120" y="5261573"/>
            <a:ext cx="2323478" cy="1330151"/>
            <a:chOff x="0" y="0"/>
            <a:chExt cx="512493" cy="293393"/>
          </a:xfrm>
        </p:grpSpPr>
        <p:sp>
          <p:nvSpPr>
            <p:cNvPr name="Freeform 50" id="50"/>
            <p:cNvSpPr/>
            <p:nvPr/>
          </p:nvSpPr>
          <p:spPr>
            <a:xfrm flipH="false" flipV="false" rot="0">
              <a:off x="0" y="0"/>
              <a:ext cx="512493" cy="293393"/>
            </a:xfrm>
            <a:custGeom>
              <a:avLst/>
              <a:gdLst/>
              <a:ahLst/>
              <a:cxnLst/>
              <a:rect r="r" b="b" t="t" l="l"/>
              <a:pathLst>
                <a:path h="293393" w="512493">
                  <a:moveTo>
                    <a:pt x="46649" y="0"/>
                  </a:moveTo>
                  <a:lnTo>
                    <a:pt x="465844" y="0"/>
                  </a:lnTo>
                  <a:cubicBezTo>
                    <a:pt x="491607" y="0"/>
                    <a:pt x="512493" y="20885"/>
                    <a:pt x="512493" y="46649"/>
                  </a:cubicBezTo>
                  <a:lnTo>
                    <a:pt x="512493" y="246744"/>
                  </a:lnTo>
                  <a:cubicBezTo>
                    <a:pt x="512493" y="272508"/>
                    <a:pt x="491607" y="293393"/>
                    <a:pt x="465844" y="293393"/>
                  </a:cubicBezTo>
                  <a:lnTo>
                    <a:pt x="46649" y="293393"/>
                  </a:lnTo>
                  <a:cubicBezTo>
                    <a:pt x="20885" y="293393"/>
                    <a:pt x="0" y="272508"/>
                    <a:pt x="0" y="246744"/>
                  </a:cubicBezTo>
                  <a:lnTo>
                    <a:pt x="0" y="46649"/>
                  </a:lnTo>
                  <a:cubicBezTo>
                    <a:pt x="0" y="20885"/>
                    <a:pt x="20885" y="0"/>
                    <a:pt x="46649" y="0"/>
                  </a:cubicBezTo>
                  <a:close/>
                </a:path>
              </a:pathLst>
            </a:custGeom>
            <a:solidFill>
              <a:srgbClr val="FFFFFF"/>
            </a:solidFill>
            <a:ln cap="sq">
              <a:noFill/>
              <a:prstDash val="solid"/>
              <a:miter/>
            </a:ln>
          </p:spPr>
        </p:sp>
        <p:sp>
          <p:nvSpPr>
            <p:cNvPr name="TextBox 51" id="51"/>
            <p:cNvSpPr txBox="true"/>
            <p:nvPr/>
          </p:nvSpPr>
          <p:spPr>
            <a:xfrm>
              <a:off x="0" y="-38100"/>
              <a:ext cx="512493" cy="331493"/>
            </a:xfrm>
            <a:prstGeom prst="rect">
              <a:avLst/>
            </a:prstGeom>
          </p:spPr>
          <p:txBody>
            <a:bodyPr anchor="ctr" rtlCol="false" tIns="50800" lIns="50800" bIns="50800" rIns="50800"/>
            <a:lstStyle/>
            <a:p>
              <a:pPr algn="ctr">
                <a:lnSpc>
                  <a:spcPts val="2239"/>
                </a:lnSpc>
              </a:pPr>
              <a:r>
                <a:rPr lang="en-US" sz="1599">
                  <a:solidFill>
                    <a:srgbClr val="000000"/>
                  </a:solidFill>
                  <a:latin typeface="Inclusive Sans"/>
                  <a:ea typeface="Inclusive Sans"/>
                  <a:cs typeface="Inclusive Sans"/>
                  <a:sym typeface="Inclusive Sans"/>
                </a:rPr>
                <a:t>Formal dan </a:t>
              </a:r>
            </a:p>
            <a:p>
              <a:pPr algn="ctr">
                <a:lnSpc>
                  <a:spcPts val="2239"/>
                </a:lnSpc>
              </a:pPr>
              <a:r>
                <a:rPr lang="en-US" sz="1599">
                  <a:solidFill>
                    <a:srgbClr val="000000"/>
                  </a:solidFill>
                  <a:latin typeface="Inclusive Sans"/>
                  <a:ea typeface="Inclusive Sans"/>
                  <a:cs typeface="Inclusive Sans"/>
                  <a:sym typeface="Inclusive Sans"/>
                </a:rPr>
                <a:t>mengikat anggota</a:t>
              </a:r>
            </a:p>
          </p:txBody>
        </p:sp>
      </p:grpSp>
      <p:grpSp>
        <p:nvGrpSpPr>
          <p:cNvPr name="Group 52" id="52"/>
          <p:cNvGrpSpPr/>
          <p:nvPr/>
        </p:nvGrpSpPr>
        <p:grpSpPr>
          <a:xfrm rot="0">
            <a:off x="5910322" y="6669343"/>
            <a:ext cx="2323478" cy="1330151"/>
            <a:chOff x="0" y="0"/>
            <a:chExt cx="512493" cy="293393"/>
          </a:xfrm>
        </p:grpSpPr>
        <p:sp>
          <p:nvSpPr>
            <p:cNvPr name="Freeform 53" id="53"/>
            <p:cNvSpPr/>
            <p:nvPr/>
          </p:nvSpPr>
          <p:spPr>
            <a:xfrm flipH="false" flipV="false" rot="0">
              <a:off x="0" y="0"/>
              <a:ext cx="512493" cy="293393"/>
            </a:xfrm>
            <a:custGeom>
              <a:avLst/>
              <a:gdLst/>
              <a:ahLst/>
              <a:cxnLst/>
              <a:rect r="r" b="b" t="t" l="l"/>
              <a:pathLst>
                <a:path h="293393" w="512493">
                  <a:moveTo>
                    <a:pt x="46649" y="0"/>
                  </a:moveTo>
                  <a:lnTo>
                    <a:pt x="465844" y="0"/>
                  </a:lnTo>
                  <a:cubicBezTo>
                    <a:pt x="491607" y="0"/>
                    <a:pt x="512493" y="20885"/>
                    <a:pt x="512493" y="46649"/>
                  </a:cubicBezTo>
                  <a:lnTo>
                    <a:pt x="512493" y="246744"/>
                  </a:lnTo>
                  <a:cubicBezTo>
                    <a:pt x="512493" y="272508"/>
                    <a:pt x="491607" y="293393"/>
                    <a:pt x="465844" y="293393"/>
                  </a:cubicBezTo>
                  <a:lnTo>
                    <a:pt x="46649" y="293393"/>
                  </a:lnTo>
                  <a:cubicBezTo>
                    <a:pt x="20885" y="293393"/>
                    <a:pt x="0" y="272508"/>
                    <a:pt x="0" y="246744"/>
                  </a:cubicBezTo>
                  <a:lnTo>
                    <a:pt x="0" y="46649"/>
                  </a:lnTo>
                  <a:cubicBezTo>
                    <a:pt x="0" y="20885"/>
                    <a:pt x="20885" y="0"/>
                    <a:pt x="46649" y="0"/>
                  </a:cubicBezTo>
                  <a:close/>
                </a:path>
              </a:pathLst>
            </a:custGeom>
            <a:solidFill>
              <a:srgbClr val="FFFFFF"/>
            </a:solidFill>
            <a:ln cap="sq">
              <a:noFill/>
              <a:prstDash val="solid"/>
              <a:miter/>
            </a:ln>
          </p:spPr>
        </p:sp>
        <p:sp>
          <p:nvSpPr>
            <p:cNvPr name="TextBox 54" id="54"/>
            <p:cNvSpPr txBox="true"/>
            <p:nvPr/>
          </p:nvSpPr>
          <p:spPr>
            <a:xfrm>
              <a:off x="0" y="-38100"/>
              <a:ext cx="512493" cy="331493"/>
            </a:xfrm>
            <a:prstGeom prst="rect">
              <a:avLst/>
            </a:prstGeom>
          </p:spPr>
          <p:txBody>
            <a:bodyPr anchor="ctr" rtlCol="false" tIns="50800" lIns="50800" bIns="50800" rIns="50800"/>
            <a:lstStyle/>
            <a:p>
              <a:pPr algn="ctr">
                <a:lnSpc>
                  <a:spcPts val="2239"/>
                </a:lnSpc>
              </a:pPr>
              <a:r>
                <a:rPr lang="en-US" sz="1599">
                  <a:solidFill>
                    <a:srgbClr val="000000"/>
                  </a:solidFill>
                  <a:latin typeface="Inclusive Sans"/>
                  <a:ea typeface="Inclusive Sans"/>
                  <a:cs typeface="Inclusive Sans"/>
                  <a:sym typeface="Inclusive Sans"/>
                </a:rPr>
                <a:t>Prinsip universal</a:t>
              </a:r>
            </a:p>
          </p:txBody>
        </p:sp>
      </p:grpSp>
      <p:grpSp>
        <p:nvGrpSpPr>
          <p:cNvPr name="Group 55" id="55"/>
          <p:cNvGrpSpPr/>
          <p:nvPr/>
        </p:nvGrpSpPr>
        <p:grpSpPr>
          <a:xfrm rot="0">
            <a:off x="3628067" y="6669343"/>
            <a:ext cx="2096871" cy="1330151"/>
            <a:chOff x="0" y="0"/>
            <a:chExt cx="462510" cy="293393"/>
          </a:xfrm>
        </p:grpSpPr>
        <p:sp>
          <p:nvSpPr>
            <p:cNvPr name="Freeform 56" id="56"/>
            <p:cNvSpPr/>
            <p:nvPr/>
          </p:nvSpPr>
          <p:spPr>
            <a:xfrm flipH="false" flipV="false" rot="0">
              <a:off x="0" y="0"/>
              <a:ext cx="462510" cy="293393"/>
            </a:xfrm>
            <a:custGeom>
              <a:avLst/>
              <a:gdLst/>
              <a:ahLst/>
              <a:cxnLst/>
              <a:rect r="r" b="b" t="t" l="l"/>
              <a:pathLst>
                <a:path h="293393" w="462510">
                  <a:moveTo>
                    <a:pt x="51690" y="0"/>
                  </a:moveTo>
                  <a:lnTo>
                    <a:pt x="410820" y="0"/>
                  </a:lnTo>
                  <a:cubicBezTo>
                    <a:pt x="439367" y="0"/>
                    <a:pt x="462510" y="23142"/>
                    <a:pt x="462510" y="51690"/>
                  </a:cubicBezTo>
                  <a:lnTo>
                    <a:pt x="462510" y="241703"/>
                  </a:lnTo>
                  <a:cubicBezTo>
                    <a:pt x="462510" y="270251"/>
                    <a:pt x="439367" y="293393"/>
                    <a:pt x="410820" y="293393"/>
                  </a:cubicBezTo>
                  <a:lnTo>
                    <a:pt x="51690" y="293393"/>
                  </a:lnTo>
                  <a:cubicBezTo>
                    <a:pt x="23142" y="293393"/>
                    <a:pt x="0" y="270251"/>
                    <a:pt x="0" y="241703"/>
                  </a:cubicBezTo>
                  <a:lnTo>
                    <a:pt x="0" y="51690"/>
                  </a:lnTo>
                  <a:cubicBezTo>
                    <a:pt x="0" y="23142"/>
                    <a:pt x="23142" y="0"/>
                    <a:pt x="51690" y="0"/>
                  </a:cubicBezTo>
                  <a:close/>
                </a:path>
              </a:pathLst>
            </a:custGeom>
            <a:solidFill>
              <a:srgbClr val="24652C"/>
            </a:solidFill>
          </p:spPr>
        </p:sp>
        <p:sp>
          <p:nvSpPr>
            <p:cNvPr name="TextBox 57" id="57"/>
            <p:cNvSpPr txBox="true"/>
            <p:nvPr/>
          </p:nvSpPr>
          <p:spPr>
            <a:xfrm>
              <a:off x="0" y="-38100"/>
              <a:ext cx="462510" cy="331493"/>
            </a:xfrm>
            <a:prstGeom prst="rect">
              <a:avLst/>
            </a:prstGeom>
          </p:spPr>
          <p:txBody>
            <a:bodyPr anchor="ctr" rtlCol="false" tIns="50800" lIns="50800" bIns="50800" rIns="50800"/>
            <a:lstStyle/>
            <a:p>
              <a:pPr algn="ctr">
                <a:lnSpc>
                  <a:spcPts val="2239"/>
                </a:lnSpc>
              </a:pPr>
              <a:r>
                <a:rPr lang="en-US" b="true" sz="1599">
                  <a:solidFill>
                    <a:srgbClr val="FFFFFF"/>
                  </a:solidFill>
                  <a:latin typeface="Inclusive Sans Bold"/>
                  <a:ea typeface="Inclusive Sans Bold"/>
                  <a:cs typeface="Inclusive Sans Bold"/>
                  <a:sym typeface="Inclusive Sans Bold"/>
                </a:rPr>
                <a:t>Fokus</a:t>
              </a:r>
            </a:p>
          </p:txBody>
        </p:sp>
      </p:grpSp>
      <p:grpSp>
        <p:nvGrpSpPr>
          <p:cNvPr name="Group 58" id="58"/>
          <p:cNvGrpSpPr/>
          <p:nvPr/>
        </p:nvGrpSpPr>
        <p:grpSpPr>
          <a:xfrm rot="0">
            <a:off x="8341922" y="6669343"/>
            <a:ext cx="2323478" cy="1330151"/>
            <a:chOff x="0" y="0"/>
            <a:chExt cx="512493" cy="293393"/>
          </a:xfrm>
        </p:grpSpPr>
        <p:sp>
          <p:nvSpPr>
            <p:cNvPr name="Freeform 59" id="59"/>
            <p:cNvSpPr/>
            <p:nvPr/>
          </p:nvSpPr>
          <p:spPr>
            <a:xfrm flipH="false" flipV="false" rot="0">
              <a:off x="0" y="0"/>
              <a:ext cx="512493" cy="293393"/>
            </a:xfrm>
            <a:custGeom>
              <a:avLst/>
              <a:gdLst/>
              <a:ahLst/>
              <a:cxnLst/>
              <a:rect r="r" b="b" t="t" l="l"/>
              <a:pathLst>
                <a:path h="293393" w="512493">
                  <a:moveTo>
                    <a:pt x="46649" y="0"/>
                  </a:moveTo>
                  <a:lnTo>
                    <a:pt x="465844" y="0"/>
                  </a:lnTo>
                  <a:cubicBezTo>
                    <a:pt x="491607" y="0"/>
                    <a:pt x="512493" y="20885"/>
                    <a:pt x="512493" y="46649"/>
                  </a:cubicBezTo>
                  <a:lnTo>
                    <a:pt x="512493" y="246744"/>
                  </a:lnTo>
                  <a:cubicBezTo>
                    <a:pt x="512493" y="272508"/>
                    <a:pt x="491607" y="293393"/>
                    <a:pt x="465844" y="293393"/>
                  </a:cubicBezTo>
                  <a:lnTo>
                    <a:pt x="46649" y="293393"/>
                  </a:lnTo>
                  <a:cubicBezTo>
                    <a:pt x="20885" y="293393"/>
                    <a:pt x="0" y="272508"/>
                    <a:pt x="0" y="246744"/>
                  </a:cubicBezTo>
                  <a:lnTo>
                    <a:pt x="0" y="46649"/>
                  </a:lnTo>
                  <a:cubicBezTo>
                    <a:pt x="0" y="20885"/>
                    <a:pt x="20885" y="0"/>
                    <a:pt x="46649" y="0"/>
                  </a:cubicBezTo>
                  <a:close/>
                </a:path>
              </a:pathLst>
            </a:custGeom>
            <a:solidFill>
              <a:srgbClr val="FFFFFF"/>
            </a:solidFill>
            <a:ln cap="sq">
              <a:noFill/>
              <a:prstDash val="solid"/>
              <a:miter/>
            </a:ln>
          </p:spPr>
        </p:sp>
        <p:sp>
          <p:nvSpPr>
            <p:cNvPr name="TextBox 60" id="60"/>
            <p:cNvSpPr txBox="true"/>
            <p:nvPr/>
          </p:nvSpPr>
          <p:spPr>
            <a:xfrm>
              <a:off x="0" y="-38100"/>
              <a:ext cx="512493" cy="331493"/>
            </a:xfrm>
            <a:prstGeom prst="rect">
              <a:avLst/>
            </a:prstGeom>
          </p:spPr>
          <p:txBody>
            <a:bodyPr anchor="ctr" rtlCol="false" tIns="50800" lIns="50800" bIns="50800" rIns="50800"/>
            <a:lstStyle/>
            <a:p>
              <a:pPr algn="ctr">
                <a:lnSpc>
                  <a:spcPts val="2239"/>
                </a:lnSpc>
              </a:pPr>
              <a:r>
                <a:rPr lang="en-US" sz="1599">
                  <a:solidFill>
                    <a:srgbClr val="000000"/>
                  </a:solidFill>
                  <a:latin typeface="Inclusive Sans"/>
                  <a:ea typeface="Inclusive Sans"/>
                  <a:cs typeface="Inclusive Sans"/>
                  <a:sym typeface="Inclusive Sans"/>
                </a:rPr>
                <a:t>Keyakinan pribadi/kelompok</a:t>
              </a:r>
            </a:p>
          </p:txBody>
        </p:sp>
      </p:grpSp>
      <p:grpSp>
        <p:nvGrpSpPr>
          <p:cNvPr name="Group 61" id="61"/>
          <p:cNvGrpSpPr/>
          <p:nvPr/>
        </p:nvGrpSpPr>
        <p:grpSpPr>
          <a:xfrm rot="0">
            <a:off x="10773521" y="6669343"/>
            <a:ext cx="2323478" cy="1330151"/>
            <a:chOff x="0" y="0"/>
            <a:chExt cx="512493" cy="293393"/>
          </a:xfrm>
        </p:grpSpPr>
        <p:sp>
          <p:nvSpPr>
            <p:cNvPr name="Freeform 62" id="62"/>
            <p:cNvSpPr/>
            <p:nvPr/>
          </p:nvSpPr>
          <p:spPr>
            <a:xfrm flipH="false" flipV="false" rot="0">
              <a:off x="0" y="0"/>
              <a:ext cx="512493" cy="293393"/>
            </a:xfrm>
            <a:custGeom>
              <a:avLst/>
              <a:gdLst/>
              <a:ahLst/>
              <a:cxnLst/>
              <a:rect r="r" b="b" t="t" l="l"/>
              <a:pathLst>
                <a:path h="293393" w="512493">
                  <a:moveTo>
                    <a:pt x="46649" y="0"/>
                  </a:moveTo>
                  <a:lnTo>
                    <a:pt x="465844" y="0"/>
                  </a:lnTo>
                  <a:cubicBezTo>
                    <a:pt x="491607" y="0"/>
                    <a:pt x="512493" y="20885"/>
                    <a:pt x="512493" y="46649"/>
                  </a:cubicBezTo>
                  <a:lnTo>
                    <a:pt x="512493" y="246744"/>
                  </a:lnTo>
                  <a:cubicBezTo>
                    <a:pt x="512493" y="272508"/>
                    <a:pt x="491607" y="293393"/>
                    <a:pt x="465844" y="293393"/>
                  </a:cubicBezTo>
                  <a:lnTo>
                    <a:pt x="46649" y="293393"/>
                  </a:lnTo>
                  <a:cubicBezTo>
                    <a:pt x="20885" y="293393"/>
                    <a:pt x="0" y="272508"/>
                    <a:pt x="0" y="246744"/>
                  </a:cubicBezTo>
                  <a:lnTo>
                    <a:pt x="0" y="46649"/>
                  </a:lnTo>
                  <a:cubicBezTo>
                    <a:pt x="0" y="20885"/>
                    <a:pt x="20885" y="0"/>
                    <a:pt x="46649" y="0"/>
                  </a:cubicBezTo>
                  <a:close/>
                </a:path>
              </a:pathLst>
            </a:custGeom>
            <a:solidFill>
              <a:srgbClr val="FFFFFF"/>
            </a:solidFill>
            <a:ln cap="sq">
              <a:noFill/>
              <a:prstDash val="solid"/>
              <a:miter/>
            </a:ln>
          </p:spPr>
        </p:sp>
        <p:sp>
          <p:nvSpPr>
            <p:cNvPr name="TextBox 63" id="63"/>
            <p:cNvSpPr txBox="true"/>
            <p:nvPr/>
          </p:nvSpPr>
          <p:spPr>
            <a:xfrm>
              <a:off x="0" y="-38100"/>
              <a:ext cx="512493" cy="331493"/>
            </a:xfrm>
            <a:prstGeom prst="rect">
              <a:avLst/>
            </a:prstGeom>
          </p:spPr>
          <p:txBody>
            <a:bodyPr anchor="ctr" rtlCol="false" tIns="50800" lIns="50800" bIns="50800" rIns="50800"/>
            <a:lstStyle/>
            <a:p>
              <a:pPr algn="ctr">
                <a:lnSpc>
                  <a:spcPts val="2239"/>
                </a:lnSpc>
              </a:pPr>
              <a:r>
                <a:rPr lang="en-US" sz="1599">
                  <a:solidFill>
                    <a:srgbClr val="000000"/>
                  </a:solidFill>
                  <a:latin typeface="Inclusive Sans"/>
                  <a:ea typeface="Inclusive Sans"/>
                  <a:cs typeface="Inclusive Sans"/>
                  <a:sym typeface="Inclusive Sans"/>
                </a:rPr>
                <a:t>Kesopanan</a:t>
              </a:r>
            </a:p>
          </p:txBody>
        </p:sp>
      </p:grpSp>
      <p:grpSp>
        <p:nvGrpSpPr>
          <p:cNvPr name="Group 64" id="64"/>
          <p:cNvGrpSpPr/>
          <p:nvPr/>
        </p:nvGrpSpPr>
        <p:grpSpPr>
          <a:xfrm rot="0">
            <a:off x="13205120" y="6669343"/>
            <a:ext cx="2323478" cy="1330151"/>
            <a:chOff x="0" y="0"/>
            <a:chExt cx="512493" cy="293393"/>
          </a:xfrm>
        </p:grpSpPr>
        <p:sp>
          <p:nvSpPr>
            <p:cNvPr name="Freeform 65" id="65"/>
            <p:cNvSpPr/>
            <p:nvPr/>
          </p:nvSpPr>
          <p:spPr>
            <a:xfrm flipH="false" flipV="false" rot="0">
              <a:off x="0" y="0"/>
              <a:ext cx="512493" cy="293393"/>
            </a:xfrm>
            <a:custGeom>
              <a:avLst/>
              <a:gdLst/>
              <a:ahLst/>
              <a:cxnLst/>
              <a:rect r="r" b="b" t="t" l="l"/>
              <a:pathLst>
                <a:path h="293393" w="512493">
                  <a:moveTo>
                    <a:pt x="46649" y="0"/>
                  </a:moveTo>
                  <a:lnTo>
                    <a:pt x="465844" y="0"/>
                  </a:lnTo>
                  <a:cubicBezTo>
                    <a:pt x="491607" y="0"/>
                    <a:pt x="512493" y="20885"/>
                    <a:pt x="512493" y="46649"/>
                  </a:cubicBezTo>
                  <a:lnTo>
                    <a:pt x="512493" y="246744"/>
                  </a:lnTo>
                  <a:cubicBezTo>
                    <a:pt x="512493" y="272508"/>
                    <a:pt x="491607" y="293393"/>
                    <a:pt x="465844" y="293393"/>
                  </a:cubicBezTo>
                  <a:lnTo>
                    <a:pt x="46649" y="293393"/>
                  </a:lnTo>
                  <a:cubicBezTo>
                    <a:pt x="20885" y="293393"/>
                    <a:pt x="0" y="272508"/>
                    <a:pt x="0" y="246744"/>
                  </a:cubicBezTo>
                  <a:lnTo>
                    <a:pt x="0" y="46649"/>
                  </a:lnTo>
                  <a:cubicBezTo>
                    <a:pt x="0" y="20885"/>
                    <a:pt x="20885" y="0"/>
                    <a:pt x="46649" y="0"/>
                  </a:cubicBezTo>
                  <a:close/>
                </a:path>
              </a:pathLst>
            </a:custGeom>
            <a:solidFill>
              <a:srgbClr val="FFFFFF"/>
            </a:solidFill>
            <a:ln cap="sq">
              <a:noFill/>
              <a:prstDash val="solid"/>
              <a:miter/>
            </a:ln>
          </p:spPr>
        </p:sp>
        <p:sp>
          <p:nvSpPr>
            <p:cNvPr name="TextBox 66" id="66"/>
            <p:cNvSpPr txBox="true"/>
            <p:nvPr/>
          </p:nvSpPr>
          <p:spPr>
            <a:xfrm>
              <a:off x="0" y="-38100"/>
              <a:ext cx="512493" cy="331493"/>
            </a:xfrm>
            <a:prstGeom prst="rect">
              <a:avLst/>
            </a:prstGeom>
          </p:spPr>
          <p:txBody>
            <a:bodyPr anchor="ctr" rtlCol="false" tIns="50800" lIns="50800" bIns="50800" rIns="50800"/>
            <a:lstStyle/>
            <a:p>
              <a:pPr algn="ctr">
                <a:lnSpc>
                  <a:spcPts val="2239"/>
                </a:lnSpc>
              </a:pPr>
              <a:r>
                <a:rPr lang="en-US" sz="1599">
                  <a:solidFill>
                    <a:srgbClr val="000000"/>
                  </a:solidFill>
                  <a:latin typeface="Inclusive Sans"/>
                  <a:ea typeface="Inclusive Sans"/>
                  <a:cs typeface="Inclusive Sans"/>
                  <a:sym typeface="Inclusive Sans"/>
                </a:rPr>
                <a:t>Tanggung jawab pekerjaan</a:t>
              </a:r>
            </a:p>
          </p:txBody>
        </p:sp>
      </p:grpSp>
      <p:grpSp>
        <p:nvGrpSpPr>
          <p:cNvPr name="Group 67" id="67"/>
          <p:cNvGrpSpPr/>
          <p:nvPr/>
        </p:nvGrpSpPr>
        <p:grpSpPr>
          <a:xfrm rot="0">
            <a:off x="5910322" y="8077112"/>
            <a:ext cx="2323478" cy="1330151"/>
            <a:chOff x="0" y="0"/>
            <a:chExt cx="512493" cy="293393"/>
          </a:xfrm>
        </p:grpSpPr>
        <p:sp>
          <p:nvSpPr>
            <p:cNvPr name="Freeform 68" id="68"/>
            <p:cNvSpPr/>
            <p:nvPr/>
          </p:nvSpPr>
          <p:spPr>
            <a:xfrm flipH="false" flipV="false" rot="0">
              <a:off x="0" y="0"/>
              <a:ext cx="512493" cy="293393"/>
            </a:xfrm>
            <a:custGeom>
              <a:avLst/>
              <a:gdLst/>
              <a:ahLst/>
              <a:cxnLst/>
              <a:rect r="r" b="b" t="t" l="l"/>
              <a:pathLst>
                <a:path h="293393" w="512493">
                  <a:moveTo>
                    <a:pt x="46649" y="0"/>
                  </a:moveTo>
                  <a:lnTo>
                    <a:pt x="465844" y="0"/>
                  </a:lnTo>
                  <a:cubicBezTo>
                    <a:pt x="491607" y="0"/>
                    <a:pt x="512493" y="20885"/>
                    <a:pt x="512493" y="46649"/>
                  </a:cubicBezTo>
                  <a:lnTo>
                    <a:pt x="512493" y="246744"/>
                  </a:lnTo>
                  <a:cubicBezTo>
                    <a:pt x="512493" y="272508"/>
                    <a:pt x="491607" y="293393"/>
                    <a:pt x="465844" y="293393"/>
                  </a:cubicBezTo>
                  <a:lnTo>
                    <a:pt x="46649" y="293393"/>
                  </a:lnTo>
                  <a:cubicBezTo>
                    <a:pt x="20885" y="293393"/>
                    <a:pt x="0" y="272508"/>
                    <a:pt x="0" y="246744"/>
                  </a:cubicBezTo>
                  <a:lnTo>
                    <a:pt x="0" y="46649"/>
                  </a:lnTo>
                  <a:cubicBezTo>
                    <a:pt x="0" y="20885"/>
                    <a:pt x="20885" y="0"/>
                    <a:pt x="46649" y="0"/>
                  </a:cubicBezTo>
                  <a:close/>
                </a:path>
              </a:pathLst>
            </a:custGeom>
            <a:solidFill>
              <a:srgbClr val="FFFFFF"/>
            </a:solidFill>
            <a:ln cap="sq">
              <a:noFill/>
              <a:prstDash val="solid"/>
              <a:miter/>
            </a:ln>
          </p:spPr>
        </p:sp>
        <p:sp>
          <p:nvSpPr>
            <p:cNvPr name="TextBox 69" id="69"/>
            <p:cNvSpPr txBox="true"/>
            <p:nvPr/>
          </p:nvSpPr>
          <p:spPr>
            <a:xfrm>
              <a:off x="0" y="-38100"/>
              <a:ext cx="512493" cy="331493"/>
            </a:xfrm>
            <a:prstGeom prst="rect">
              <a:avLst/>
            </a:prstGeom>
          </p:spPr>
          <p:txBody>
            <a:bodyPr anchor="ctr" rtlCol="false" tIns="50800" lIns="50800" bIns="50800" rIns="50800"/>
            <a:lstStyle/>
            <a:p>
              <a:pPr algn="ctr">
                <a:lnSpc>
                  <a:spcPts val="2239"/>
                </a:lnSpc>
              </a:pPr>
              <a:r>
                <a:rPr lang="en-US" sz="1599">
                  <a:solidFill>
                    <a:srgbClr val="000000"/>
                  </a:solidFill>
                  <a:latin typeface="Inclusive Sans"/>
                  <a:ea typeface="Inclusive Sans"/>
                  <a:cs typeface="Inclusive Sans"/>
                  <a:sym typeface="Inclusive Sans"/>
                </a:rPr>
                <a:t>Mencuri melanggar prinsip keadilan</a:t>
              </a:r>
            </a:p>
          </p:txBody>
        </p:sp>
      </p:grpSp>
      <p:grpSp>
        <p:nvGrpSpPr>
          <p:cNvPr name="Group 70" id="70"/>
          <p:cNvGrpSpPr/>
          <p:nvPr/>
        </p:nvGrpSpPr>
        <p:grpSpPr>
          <a:xfrm rot="0">
            <a:off x="3628067" y="8077112"/>
            <a:ext cx="2096871" cy="1330151"/>
            <a:chOff x="0" y="0"/>
            <a:chExt cx="462510" cy="293393"/>
          </a:xfrm>
        </p:grpSpPr>
        <p:sp>
          <p:nvSpPr>
            <p:cNvPr name="Freeform 71" id="71"/>
            <p:cNvSpPr/>
            <p:nvPr/>
          </p:nvSpPr>
          <p:spPr>
            <a:xfrm flipH="false" flipV="false" rot="0">
              <a:off x="0" y="0"/>
              <a:ext cx="462510" cy="293393"/>
            </a:xfrm>
            <a:custGeom>
              <a:avLst/>
              <a:gdLst/>
              <a:ahLst/>
              <a:cxnLst/>
              <a:rect r="r" b="b" t="t" l="l"/>
              <a:pathLst>
                <a:path h="293393" w="462510">
                  <a:moveTo>
                    <a:pt x="51690" y="0"/>
                  </a:moveTo>
                  <a:lnTo>
                    <a:pt x="410820" y="0"/>
                  </a:lnTo>
                  <a:cubicBezTo>
                    <a:pt x="439367" y="0"/>
                    <a:pt x="462510" y="23142"/>
                    <a:pt x="462510" y="51690"/>
                  </a:cubicBezTo>
                  <a:lnTo>
                    <a:pt x="462510" y="241703"/>
                  </a:lnTo>
                  <a:cubicBezTo>
                    <a:pt x="462510" y="270251"/>
                    <a:pt x="439367" y="293393"/>
                    <a:pt x="410820" y="293393"/>
                  </a:cubicBezTo>
                  <a:lnTo>
                    <a:pt x="51690" y="293393"/>
                  </a:lnTo>
                  <a:cubicBezTo>
                    <a:pt x="23142" y="293393"/>
                    <a:pt x="0" y="270251"/>
                    <a:pt x="0" y="241703"/>
                  </a:cubicBezTo>
                  <a:lnTo>
                    <a:pt x="0" y="51690"/>
                  </a:lnTo>
                  <a:cubicBezTo>
                    <a:pt x="0" y="23142"/>
                    <a:pt x="23142" y="0"/>
                    <a:pt x="51690" y="0"/>
                  </a:cubicBezTo>
                  <a:close/>
                </a:path>
              </a:pathLst>
            </a:custGeom>
            <a:solidFill>
              <a:srgbClr val="153930"/>
            </a:solidFill>
          </p:spPr>
        </p:sp>
        <p:sp>
          <p:nvSpPr>
            <p:cNvPr name="TextBox 72" id="72"/>
            <p:cNvSpPr txBox="true"/>
            <p:nvPr/>
          </p:nvSpPr>
          <p:spPr>
            <a:xfrm>
              <a:off x="0" y="-38100"/>
              <a:ext cx="462510" cy="331493"/>
            </a:xfrm>
            <a:prstGeom prst="rect">
              <a:avLst/>
            </a:prstGeom>
          </p:spPr>
          <p:txBody>
            <a:bodyPr anchor="ctr" rtlCol="false" tIns="50800" lIns="50800" bIns="50800" rIns="50800"/>
            <a:lstStyle/>
            <a:p>
              <a:pPr algn="ctr">
                <a:lnSpc>
                  <a:spcPts val="2239"/>
                </a:lnSpc>
              </a:pPr>
              <a:r>
                <a:rPr lang="en-US" b="true" sz="1599">
                  <a:solidFill>
                    <a:srgbClr val="FFFFFF"/>
                  </a:solidFill>
                  <a:latin typeface="Inclusive Sans Bold"/>
                  <a:ea typeface="Inclusive Sans Bold"/>
                  <a:cs typeface="Inclusive Sans Bold"/>
                  <a:sym typeface="Inclusive Sans Bold"/>
                </a:rPr>
                <a:t>Contoh Pelanggaran</a:t>
              </a:r>
            </a:p>
          </p:txBody>
        </p:sp>
      </p:grpSp>
      <p:grpSp>
        <p:nvGrpSpPr>
          <p:cNvPr name="Group 73" id="73"/>
          <p:cNvGrpSpPr/>
          <p:nvPr/>
        </p:nvGrpSpPr>
        <p:grpSpPr>
          <a:xfrm rot="0">
            <a:off x="8341922" y="8077112"/>
            <a:ext cx="2323478" cy="1330151"/>
            <a:chOff x="0" y="0"/>
            <a:chExt cx="512493" cy="293393"/>
          </a:xfrm>
        </p:grpSpPr>
        <p:sp>
          <p:nvSpPr>
            <p:cNvPr name="Freeform 74" id="74"/>
            <p:cNvSpPr/>
            <p:nvPr/>
          </p:nvSpPr>
          <p:spPr>
            <a:xfrm flipH="false" flipV="false" rot="0">
              <a:off x="0" y="0"/>
              <a:ext cx="512493" cy="293393"/>
            </a:xfrm>
            <a:custGeom>
              <a:avLst/>
              <a:gdLst/>
              <a:ahLst/>
              <a:cxnLst/>
              <a:rect r="r" b="b" t="t" l="l"/>
              <a:pathLst>
                <a:path h="293393" w="512493">
                  <a:moveTo>
                    <a:pt x="46649" y="0"/>
                  </a:moveTo>
                  <a:lnTo>
                    <a:pt x="465844" y="0"/>
                  </a:lnTo>
                  <a:cubicBezTo>
                    <a:pt x="491607" y="0"/>
                    <a:pt x="512493" y="20885"/>
                    <a:pt x="512493" y="46649"/>
                  </a:cubicBezTo>
                  <a:lnTo>
                    <a:pt x="512493" y="246744"/>
                  </a:lnTo>
                  <a:cubicBezTo>
                    <a:pt x="512493" y="272508"/>
                    <a:pt x="491607" y="293393"/>
                    <a:pt x="465844" y="293393"/>
                  </a:cubicBezTo>
                  <a:lnTo>
                    <a:pt x="46649" y="293393"/>
                  </a:lnTo>
                  <a:cubicBezTo>
                    <a:pt x="20885" y="293393"/>
                    <a:pt x="0" y="272508"/>
                    <a:pt x="0" y="246744"/>
                  </a:cubicBezTo>
                  <a:lnTo>
                    <a:pt x="0" y="46649"/>
                  </a:lnTo>
                  <a:cubicBezTo>
                    <a:pt x="0" y="20885"/>
                    <a:pt x="20885" y="0"/>
                    <a:pt x="46649" y="0"/>
                  </a:cubicBezTo>
                  <a:close/>
                </a:path>
              </a:pathLst>
            </a:custGeom>
            <a:solidFill>
              <a:srgbClr val="FFFFFF"/>
            </a:solidFill>
            <a:ln cap="sq">
              <a:noFill/>
              <a:prstDash val="solid"/>
              <a:miter/>
            </a:ln>
          </p:spPr>
        </p:sp>
        <p:sp>
          <p:nvSpPr>
            <p:cNvPr name="TextBox 75" id="75"/>
            <p:cNvSpPr txBox="true"/>
            <p:nvPr/>
          </p:nvSpPr>
          <p:spPr>
            <a:xfrm>
              <a:off x="0" y="-38100"/>
              <a:ext cx="512493" cy="331493"/>
            </a:xfrm>
            <a:prstGeom prst="rect">
              <a:avLst/>
            </a:prstGeom>
          </p:spPr>
          <p:txBody>
            <a:bodyPr anchor="ctr" rtlCol="false" tIns="50800" lIns="50800" bIns="50800" rIns="50800"/>
            <a:lstStyle/>
            <a:p>
              <a:pPr algn="ctr">
                <a:lnSpc>
                  <a:spcPts val="2239"/>
                </a:lnSpc>
              </a:pPr>
              <a:r>
                <a:rPr lang="en-US" sz="1599">
                  <a:solidFill>
                    <a:srgbClr val="000000"/>
                  </a:solidFill>
                  <a:latin typeface="Inclusive Sans"/>
                  <a:ea typeface="Inclusive Sans"/>
                  <a:cs typeface="Inclusive Sans"/>
                  <a:sym typeface="Inclusive Sans"/>
                </a:rPr>
                <a:t>Menolak membantu orang karena egois</a:t>
              </a:r>
            </a:p>
          </p:txBody>
        </p:sp>
      </p:grpSp>
      <p:grpSp>
        <p:nvGrpSpPr>
          <p:cNvPr name="Group 76" id="76"/>
          <p:cNvGrpSpPr/>
          <p:nvPr/>
        </p:nvGrpSpPr>
        <p:grpSpPr>
          <a:xfrm rot="0">
            <a:off x="10773521" y="8077112"/>
            <a:ext cx="2323478" cy="1330151"/>
            <a:chOff x="0" y="0"/>
            <a:chExt cx="512493" cy="293393"/>
          </a:xfrm>
        </p:grpSpPr>
        <p:sp>
          <p:nvSpPr>
            <p:cNvPr name="Freeform 77" id="77"/>
            <p:cNvSpPr/>
            <p:nvPr/>
          </p:nvSpPr>
          <p:spPr>
            <a:xfrm flipH="false" flipV="false" rot="0">
              <a:off x="0" y="0"/>
              <a:ext cx="512493" cy="293393"/>
            </a:xfrm>
            <a:custGeom>
              <a:avLst/>
              <a:gdLst/>
              <a:ahLst/>
              <a:cxnLst/>
              <a:rect r="r" b="b" t="t" l="l"/>
              <a:pathLst>
                <a:path h="293393" w="512493">
                  <a:moveTo>
                    <a:pt x="46649" y="0"/>
                  </a:moveTo>
                  <a:lnTo>
                    <a:pt x="465844" y="0"/>
                  </a:lnTo>
                  <a:cubicBezTo>
                    <a:pt x="491607" y="0"/>
                    <a:pt x="512493" y="20885"/>
                    <a:pt x="512493" y="46649"/>
                  </a:cubicBezTo>
                  <a:lnTo>
                    <a:pt x="512493" y="246744"/>
                  </a:lnTo>
                  <a:cubicBezTo>
                    <a:pt x="512493" y="272508"/>
                    <a:pt x="491607" y="293393"/>
                    <a:pt x="465844" y="293393"/>
                  </a:cubicBezTo>
                  <a:lnTo>
                    <a:pt x="46649" y="293393"/>
                  </a:lnTo>
                  <a:cubicBezTo>
                    <a:pt x="20885" y="293393"/>
                    <a:pt x="0" y="272508"/>
                    <a:pt x="0" y="246744"/>
                  </a:cubicBezTo>
                  <a:lnTo>
                    <a:pt x="0" y="46649"/>
                  </a:lnTo>
                  <a:cubicBezTo>
                    <a:pt x="0" y="20885"/>
                    <a:pt x="20885" y="0"/>
                    <a:pt x="46649" y="0"/>
                  </a:cubicBezTo>
                  <a:close/>
                </a:path>
              </a:pathLst>
            </a:custGeom>
            <a:solidFill>
              <a:srgbClr val="FFFFFF"/>
            </a:solidFill>
            <a:ln cap="sq">
              <a:noFill/>
              <a:prstDash val="solid"/>
              <a:miter/>
            </a:ln>
          </p:spPr>
        </p:sp>
        <p:sp>
          <p:nvSpPr>
            <p:cNvPr name="TextBox 78" id="78"/>
            <p:cNvSpPr txBox="true"/>
            <p:nvPr/>
          </p:nvSpPr>
          <p:spPr>
            <a:xfrm>
              <a:off x="0" y="-38100"/>
              <a:ext cx="512493" cy="331493"/>
            </a:xfrm>
            <a:prstGeom prst="rect">
              <a:avLst/>
            </a:prstGeom>
          </p:spPr>
          <p:txBody>
            <a:bodyPr anchor="ctr" rtlCol="false" tIns="50800" lIns="50800" bIns="50800" rIns="50800"/>
            <a:lstStyle/>
            <a:p>
              <a:pPr algn="ctr">
                <a:lnSpc>
                  <a:spcPts val="2239"/>
                </a:lnSpc>
              </a:pPr>
              <a:r>
                <a:rPr lang="en-US" sz="1599">
                  <a:solidFill>
                    <a:srgbClr val="000000"/>
                  </a:solidFill>
                  <a:latin typeface="Inclusive Sans"/>
                  <a:ea typeface="Inclusive Sans"/>
                  <a:cs typeface="Inclusive Sans"/>
                  <a:sym typeface="Inclusive Sans"/>
                </a:rPr>
                <a:t>Tidak memberi salam saat bertamu</a:t>
              </a:r>
            </a:p>
          </p:txBody>
        </p:sp>
      </p:grpSp>
      <p:grpSp>
        <p:nvGrpSpPr>
          <p:cNvPr name="Group 79" id="79"/>
          <p:cNvGrpSpPr/>
          <p:nvPr/>
        </p:nvGrpSpPr>
        <p:grpSpPr>
          <a:xfrm rot="0">
            <a:off x="13205120" y="8077112"/>
            <a:ext cx="2323478" cy="1330151"/>
            <a:chOff x="0" y="0"/>
            <a:chExt cx="512493" cy="293393"/>
          </a:xfrm>
        </p:grpSpPr>
        <p:sp>
          <p:nvSpPr>
            <p:cNvPr name="Freeform 80" id="80"/>
            <p:cNvSpPr/>
            <p:nvPr/>
          </p:nvSpPr>
          <p:spPr>
            <a:xfrm flipH="false" flipV="false" rot="0">
              <a:off x="0" y="0"/>
              <a:ext cx="512493" cy="293393"/>
            </a:xfrm>
            <a:custGeom>
              <a:avLst/>
              <a:gdLst/>
              <a:ahLst/>
              <a:cxnLst/>
              <a:rect r="r" b="b" t="t" l="l"/>
              <a:pathLst>
                <a:path h="293393" w="512493">
                  <a:moveTo>
                    <a:pt x="46649" y="0"/>
                  </a:moveTo>
                  <a:lnTo>
                    <a:pt x="465844" y="0"/>
                  </a:lnTo>
                  <a:cubicBezTo>
                    <a:pt x="491607" y="0"/>
                    <a:pt x="512493" y="20885"/>
                    <a:pt x="512493" y="46649"/>
                  </a:cubicBezTo>
                  <a:lnTo>
                    <a:pt x="512493" y="246744"/>
                  </a:lnTo>
                  <a:cubicBezTo>
                    <a:pt x="512493" y="272508"/>
                    <a:pt x="491607" y="293393"/>
                    <a:pt x="465844" y="293393"/>
                  </a:cubicBezTo>
                  <a:lnTo>
                    <a:pt x="46649" y="293393"/>
                  </a:lnTo>
                  <a:cubicBezTo>
                    <a:pt x="20885" y="293393"/>
                    <a:pt x="0" y="272508"/>
                    <a:pt x="0" y="246744"/>
                  </a:cubicBezTo>
                  <a:lnTo>
                    <a:pt x="0" y="46649"/>
                  </a:lnTo>
                  <a:cubicBezTo>
                    <a:pt x="0" y="20885"/>
                    <a:pt x="20885" y="0"/>
                    <a:pt x="46649" y="0"/>
                  </a:cubicBezTo>
                  <a:close/>
                </a:path>
              </a:pathLst>
            </a:custGeom>
            <a:solidFill>
              <a:srgbClr val="FFFFFF"/>
            </a:solidFill>
            <a:ln cap="sq">
              <a:noFill/>
              <a:prstDash val="solid"/>
              <a:miter/>
            </a:ln>
          </p:spPr>
        </p:sp>
        <p:sp>
          <p:nvSpPr>
            <p:cNvPr name="TextBox 81" id="81"/>
            <p:cNvSpPr txBox="true"/>
            <p:nvPr/>
          </p:nvSpPr>
          <p:spPr>
            <a:xfrm>
              <a:off x="0" y="-38100"/>
              <a:ext cx="512493" cy="331493"/>
            </a:xfrm>
            <a:prstGeom prst="rect">
              <a:avLst/>
            </a:prstGeom>
          </p:spPr>
          <p:txBody>
            <a:bodyPr anchor="ctr" rtlCol="false" tIns="50800" lIns="50800" bIns="50800" rIns="50800"/>
            <a:lstStyle/>
            <a:p>
              <a:pPr algn="ctr">
                <a:lnSpc>
                  <a:spcPts val="2239"/>
                </a:lnSpc>
              </a:pPr>
              <a:r>
                <a:rPr lang="en-US" sz="1599">
                  <a:solidFill>
                    <a:srgbClr val="000000"/>
                  </a:solidFill>
                  <a:latin typeface="Inclusive Sans"/>
                  <a:ea typeface="Inclusive Sans"/>
                  <a:cs typeface="Inclusive Sans"/>
                  <a:sym typeface="Inclusive Sans"/>
                </a:rPr>
                <a:t>Engineer menyembunyikan cacat sistem fatal</a:t>
              </a:r>
            </a:p>
          </p:txBody>
        </p:sp>
      </p:grpSp>
      <p:grpSp>
        <p:nvGrpSpPr>
          <p:cNvPr name="Group 82" id="82"/>
          <p:cNvGrpSpPr/>
          <p:nvPr/>
        </p:nvGrpSpPr>
        <p:grpSpPr>
          <a:xfrm rot="0">
            <a:off x="5910322" y="2916080"/>
            <a:ext cx="2323478" cy="858110"/>
            <a:chOff x="0" y="0"/>
            <a:chExt cx="1100396" cy="406400"/>
          </a:xfrm>
        </p:grpSpPr>
        <p:sp>
          <p:nvSpPr>
            <p:cNvPr name="Freeform 83" id="83"/>
            <p:cNvSpPr/>
            <p:nvPr/>
          </p:nvSpPr>
          <p:spPr>
            <a:xfrm flipH="false" flipV="false" rot="0">
              <a:off x="0" y="0"/>
              <a:ext cx="1100396" cy="406400"/>
            </a:xfrm>
            <a:custGeom>
              <a:avLst/>
              <a:gdLst/>
              <a:ahLst/>
              <a:cxnLst/>
              <a:rect r="r" b="b" t="t" l="l"/>
              <a:pathLst>
                <a:path h="406400" w="1100396">
                  <a:moveTo>
                    <a:pt x="897196" y="0"/>
                  </a:moveTo>
                  <a:cubicBezTo>
                    <a:pt x="1009421" y="0"/>
                    <a:pt x="1100396" y="90976"/>
                    <a:pt x="1100396" y="203200"/>
                  </a:cubicBezTo>
                  <a:cubicBezTo>
                    <a:pt x="1100396" y="315424"/>
                    <a:pt x="1009421" y="406400"/>
                    <a:pt x="897196" y="406400"/>
                  </a:cubicBezTo>
                  <a:lnTo>
                    <a:pt x="203200" y="406400"/>
                  </a:lnTo>
                  <a:cubicBezTo>
                    <a:pt x="90976" y="406400"/>
                    <a:pt x="0" y="315424"/>
                    <a:pt x="0" y="203200"/>
                  </a:cubicBezTo>
                  <a:cubicBezTo>
                    <a:pt x="0" y="90976"/>
                    <a:pt x="90976" y="0"/>
                    <a:pt x="203200" y="0"/>
                  </a:cubicBezTo>
                  <a:close/>
                </a:path>
              </a:pathLst>
            </a:custGeom>
            <a:solidFill>
              <a:srgbClr val="57E11C"/>
            </a:solidFill>
          </p:spPr>
        </p:sp>
        <p:sp>
          <p:nvSpPr>
            <p:cNvPr name="TextBox 84" id="84"/>
            <p:cNvSpPr txBox="true"/>
            <p:nvPr/>
          </p:nvSpPr>
          <p:spPr>
            <a:xfrm>
              <a:off x="0" y="-38100"/>
              <a:ext cx="1100396" cy="444500"/>
            </a:xfrm>
            <a:prstGeom prst="rect">
              <a:avLst/>
            </a:prstGeom>
          </p:spPr>
          <p:txBody>
            <a:bodyPr anchor="ctr" rtlCol="false" tIns="50800" lIns="50800" bIns="50800" rIns="50800"/>
            <a:lstStyle/>
            <a:p>
              <a:pPr algn="ctr">
                <a:lnSpc>
                  <a:spcPts val="2520"/>
                </a:lnSpc>
              </a:pPr>
              <a:r>
                <a:rPr lang="en-US" b="true" sz="1800">
                  <a:solidFill>
                    <a:srgbClr val="FFFFFF"/>
                  </a:solidFill>
                  <a:latin typeface="Inclusive Sans Bold"/>
                  <a:ea typeface="Inclusive Sans Bold"/>
                  <a:cs typeface="Inclusive Sans Bold"/>
                  <a:sym typeface="Inclusive Sans Bold"/>
                </a:rPr>
                <a:t>Etika</a:t>
              </a:r>
            </a:p>
          </p:txBody>
        </p:sp>
      </p:grpSp>
      <p:grpSp>
        <p:nvGrpSpPr>
          <p:cNvPr name="Group 85" id="85"/>
          <p:cNvGrpSpPr/>
          <p:nvPr/>
        </p:nvGrpSpPr>
        <p:grpSpPr>
          <a:xfrm rot="0">
            <a:off x="8341922" y="2916080"/>
            <a:ext cx="2323478" cy="858110"/>
            <a:chOff x="0" y="0"/>
            <a:chExt cx="1100396" cy="406400"/>
          </a:xfrm>
        </p:grpSpPr>
        <p:sp>
          <p:nvSpPr>
            <p:cNvPr name="Freeform 86" id="86"/>
            <p:cNvSpPr/>
            <p:nvPr/>
          </p:nvSpPr>
          <p:spPr>
            <a:xfrm flipH="false" flipV="false" rot="0">
              <a:off x="0" y="0"/>
              <a:ext cx="1100396" cy="406400"/>
            </a:xfrm>
            <a:custGeom>
              <a:avLst/>
              <a:gdLst/>
              <a:ahLst/>
              <a:cxnLst/>
              <a:rect r="r" b="b" t="t" l="l"/>
              <a:pathLst>
                <a:path h="406400" w="1100396">
                  <a:moveTo>
                    <a:pt x="897196" y="0"/>
                  </a:moveTo>
                  <a:cubicBezTo>
                    <a:pt x="1009421" y="0"/>
                    <a:pt x="1100396" y="90976"/>
                    <a:pt x="1100396" y="203200"/>
                  </a:cubicBezTo>
                  <a:cubicBezTo>
                    <a:pt x="1100396" y="315424"/>
                    <a:pt x="1009421" y="406400"/>
                    <a:pt x="897196" y="406400"/>
                  </a:cubicBezTo>
                  <a:lnTo>
                    <a:pt x="203200" y="406400"/>
                  </a:lnTo>
                  <a:cubicBezTo>
                    <a:pt x="90976" y="406400"/>
                    <a:pt x="0" y="315424"/>
                    <a:pt x="0" y="203200"/>
                  </a:cubicBezTo>
                  <a:cubicBezTo>
                    <a:pt x="0" y="90976"/>
                    <a:pt x="90976" y="0"/>
                    <a:pt x="203200" y="0"/>
                  </a:cubicBezTo>
                  <a:close/>
                </a:path>
              </a:pathLst>
            </a:custGeom>
            <a:solidFill>
              <a:srgbClr val="2D892C"/>
            </a:solidFill>
          </p:spPr>
        </p:sp>
        <p:sp>
          <p:nvSpPr>
            <p:cNvPr name="TextBox 87" id="87"/>
            <p:cNvSpPr txBox="true"/>
            <p:nvPr/>
          </p:nvSpPr>
          <p:spPr>
            <a:xfrm>
              <a:off x="0" y="-38100"/>
              <a:ext cx="1100396" cy="444500"/>
            </a:xfrm>
            <a:prstGeom prst="rect">
              <a:avLst/>
            </a:prstGeom>
          </p:spPr>
          <p:txBody>
            <a:bodyPr anchor="ctr" rtlCol="false" tIns="50800" lIns="50800" bIns="50800" rIns="50800"/>
            <a:lstStyle/>
            <a:p>
              <a:pPr algn="ctr">
                <a:lnSpc>
                  <a:spcPts val="2520"/>
                </a:lnSpc>
              </a:pPr>
              <a:r>
                <a:rPr lang="en-US" b="true" sz="1800">
                  <a:solidFill>
                    <a:srgbClr val="FFFFFF"/>
                  </a:solidFill>
                  <a:latin typeface="Inclusive Sans Bold"/>
                  <a:ea typeface="Inclusive Sans Bold"/>
                  <a:cs typeface="Inclusive Sans Bold"/>
                  <a:sym typeface="Inclusive Sans Bold"/>
                </a:rPr>
                <a:t>Moral</a:t>
              </a:r>
            </a:p>
          </p:txBody>
        </p:sp>
      </p:grpSp>
      <p:grpSp>
        <p:nvGrpSpPr>
          <p:cNvPr name="Group 88" id="88"/>
          <p:cNvGrpSpPr/>
          <p:nvPr/>
        </p:nvGrpSpPr>
        <p:grpSpPr>
          <a:xfrm rot="0">
            <a:off x="10773521" y="2916080"/>
            <a:ext cx="2323478" cy="858110"/>
            <a:chOff x="0" y="0"/>
            <a:chExt cx="1100396" cy="406400"/>
          </a:xfrm>
        </p:grpSpPr>
        <p:sp>
          <p:nvSpPr>
            <p:cNvPr name="Freeform 89" id="89"/>
            <p:cNvSpPr/>
            <p:nvPr/>
          </p:nvSpPr>
          <p:spPr>
            <a:xfrm flipH="false" flipV="false" rot="0">
              <a:off x="0" y="0"/>
              <a:ext cx="1100396" cy="406400"/>
            </a:xfrm>
            <a:custGeom>
              <a:avLst/>
              <a:gdLst/>
              <a:ahLst/>
              <a:cxnLst/>
              <a:rect r="r" b="b" t="t" l="l"/>
              <a:pathLst>
                <a:path h="406400" w="1100396">
                  <a:moveTo>
                    <a:pt x="897196" y="0"/>
                  </a:moveTo>
                  <a:cubicBezTo>
                    <a:pt x="1009421" y="0"/>
                    <a:pt x="1100396" y="90976"/>
                    <a:pt x="1100396" y="203200"/>
                  </a:cubicBezTo>
                  <a:cubicBezTo>
                    <a:pt x="1100396" y="315424"/>
                    <a:pt x="1009421" y="406400"/>
                    <a:pt x="897196" y="406400"/>
                  </a:cubicBezTo>
                  <a:lnTo>
                    <a:pt x="203200" y="406400"/>
                  </a:lnTo>
                  <a:cubicBezTo>
                    <a:pt x="90976" y="406400"/>
                    <a:pt x="0" y="315424"/>
                    <a:pt x="0" y="203200"/>
                  </a:cubicBezTo>
                  <a:cubicBezTo>
                    <a:pt x="0" y="90976"/>
                    <a:pt x="90976" y="0"/>
                    <a:pt x="203200" y="0"/>
                  </a:cubicBezTo>
                  <a:close/>
                </a:path>
              </a:pathLst>
            </a:custGeom>
            <a:solidFill>
              <a:srgbClr val="24652C"/>
            </a:solidFill>
          </p:spPr>
        </p:sp>
        <p:sp>
          <p:nvSpPr>
            <p:cNvPr name="TextBox 90" id="90"/>
            <p:cNvSpPr txBox="true"/>
            <p:nvPr/>
          </p:nvSpPr>
          <p:spPr>
            <a:xfrm>
              <a:off x="0" y="-38100"/>
              <a:ext cx="1100396" cy="444500"/>
            </a:xfrm>
            <a:prstGeom prst="rect">
              <a:avLst/>
            </a:prstGeom>
          </p:spPr>
          <p:txBody>
            <a:bodyPr anchor="ctr" rtlCol="false" tIns="50800" lIns="50800" bIns="50800" rIns="50800"/>
            <a:lstStyle/>
            <a:p>
              <a:pPr algn="ctr">
                <a:lnSpc>
                  <a:spcPts val="2520"/>
                </a:lnSpc>
              </a:pPr>
              <a:r>
                <a:rPr lang="en-US" b="true" sz="1800">
                  <a:solidFill>
                    <a:srgbClr val="FFFFFF"/>
                  </a:solidFill>
                  <a:latin typeface="Inclusive Sans Bold"/>
                  <a:ea typeface="Inclusive Sans Bold"/>
                  <a:cs typeface="Inclusive Sans Bold"/>
                  <a:sym typeface="Inclusive Sans Bold"/>
                </a:rPr>
                <a:t>Etiket</a:t>
              </a:r>
            </a:p>
          </p:txBody>
        </p:sp>
      </p:grpSp>
      <p:grpSp>
        <p:nvGrpSpPr>
          <p:cNvPr name="Group 91" id="91"/>
          <p:cNvGrpSpPr/>
          <p:nvPr/>
        </p:nvGrpSpPr>
        <p:grpSpPr>
          <a:xfrm rot="0">
            <a:off x="13205120" y="2916080"/>
            <a:ext cx="2323478" cy="858110"/>
            <a:chOff x="0" y="0"/>
            <a:chExt cx="1100396" cy="406400"/>
          </a:xfrm>
        </p:grpSpPr>
        <p:sp>
          <p:nvSpPr>
            <p:cNvPr name="Freeform 92" id="92"/>
            <p:cNvSpPr/>
            <p:nvPr/>
          </p:nvSpPr>
          <p:spPr>
            <a:xfrm flipH="false" flipV="false" rot="0">
              <a:off x="0" y="0"/>
              <a:ext cx="1100396" cy="406400"/>
            </a:xfrm>
            <a:custGeom>
              <a:avLst/>
              <a:gdLst/>
              <a:ahLst/>
              <a:cxnLst/>
              <a:rect r="r" b="b" t="t" l="l"/>
              <a:pathLst>
                <a:path h="406400" w="1100396">
                  <a:moveTo>
                    <a:pt x="897196" y="0"/>
                  </a:moveTo>
                  <a:cubicBezTo>
                    <a:pt x="1009421" y="0"/>
                    <a:pt x="1100396" y="90976"/>
                    <a:pt x="1100396" y="203200"/>
                  </a:cubicBezTo>
                  <a:cubicBezTo>
                    <a:pt x="1100396" y="315424"/>
                    <a:pt x="1009421" y="406400"/>
                    <a:pt x="897196" y="406400"/>
                  </a:cubicBezTo>
                  <a:lnTo>
                    <a:pt x="203200" y="406400"/>
                  </a:lnTo>
                  <a:cubicBezTo>
                    <a:pt x="90976" y="406400"/>
                    <a:pt x="0" y="315424"/>
                    <a:pt x="0" y="203200"/>
                  </a:cubicBezTo>
                  <a:cubicBezTo>
                    <a:pt x="0" y="90976"/>
                    <a:pt x="90976" y="0"/>
                    <a:pt x="203200" y="0"/>
                  </a:cubicBezTo>
                  <a:close/>
                </a:path>
              </a:pathLst>
            </a:custGeom>
            <a:solidFill>
              <a:srgbClr val="153930"/>
            </a:solidFill>
          </p:spPr>
        </p:sp>
        <p:sp>
          <p:nvSpPr>
            <p:cNvPr name="TextBox 93" id="93"/>
            <p:cNvSpPr txBox="true"/>
            <p:nvPr/>
          </p:nvSpPr>
          <p:spPr>
            <a:xfrm>
              <a:off x="0" y="-38100"/>
              <a:ext cx="1100396" cy="444500"/>
            </a:xfrm>
            <a:prstGeom prst="rect">
              <a:avLst/>
            </a:prstGeom>
          </p:spPr>
          <p:txBody>
            <a:bodyPr anchor="ctr" rtlCol="false" tIns="50800" lIns="50800" bIns="50800" rIns="50800"/>
            <a:lstStyle/>
            <a:p>
              <a:pPr algn="ctr">
                <a:lnSpc>
                  <a:spcPts val="2520"/>
                </a:lnSpc>
              </a:pPr>
              <a:r>
                <a:rPr lang="en-US" b="true" sz="1800">
                  <a:solidFill>
                    <a:srgbClr val="FFFFFF"/>
                  </a:solidFill>
                  <a:latin typeface="Inclusive Sans Bold"/>
                  <a:ea typeface="Inclusive Sans Bold"/>
                  <a:cs typeface="Inclusive Sans Bold"/>
                  <a:sym typeface="Inclusive Sans Bold"/>
                </a:rPr>
                <a:t>Etika Profesi</a:t>
              </a:r>
            </a:p>
          </p:txBody>
        </p:sp>
      </p:grpSp>
      <p:grpSp>
        <p:nvGrpSpPr>
          <p:cNvPr name="Group 94" id="94"/>
          <p:cNvGrpSpPr/>
          <p:nvPr/>
        </p:nvGrpSpPr>
        <p:grpSpPr>
          <a:xfrm rot="0">
            <a:off x="2850299" y="3999443"/>
            <a:ext cx="1038872" cy="1038872"/>
            <a:chOff x="0" y="0"/>
            <a:chExt cx="812800" cy="812800"/>
          </a:xfrm>
        </p:grpSpPr>
        <p:sp>
          <p:nvSpPr>
            <p:cNvPr name="Freeform 95" id="9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E11C"/>
            </a:solidFill>
            <a:ln w="114300" cap="sq">
              <a:solidFill>
                <a:srgbClr val="FCFCFA"/>
              </a:solidFill>
              <a:prstDash val="solid"/>
              <a:miter/>
            </a:ln>
          </p:spPr>
        </p:sp>
        <p:sp>
          <p:nvSpPr>
            <p:cNvPr name="TextBox 96" id="96"/>
            <p:cNvSpPr txBox="true"/>
            <p:nvPr/>
          </p:nvSpPr>
          <p:spPr>
            <a:xfrm>
              <a:off x="76200" y="19050"/>
              <a:ext cx="660400" cy="717550"/>
            </a:xfrm>
            <a:prstGeom prst="rect">
              <a:avLst/>
            </a:prstGeom>
          </p:spPr>
          <p:txBody>
            <a:bodyPr anchor="ctr" rtlCol="false" tIns="50800" lIns="50800" bIns="50800" rIns="50800"/>
            <a:lstStyle/>
            <a:p>
              <a:pPr algn="ctr" marL="0" indent="0" lvl="0">
                <a:lnSpc>
                  <a:spcPts val="4059"/>
                </a:lnSpc>
                <a:spcBef>
                  <a:spcPct val="0"/>
                </a:spcBef>
              </a:pPr>
            </a:p>
          </p:txBody>
        </p:sp>
      </p:grpSp>
      <p:grpSp>
        <p:nvGrpSpPr>
          <p:cNvPr name="Group 97" id="97"/>
          <p:cNvGrpSpPr/>
          <p:nvPr/>
        </p:nvGrpSpPr>
        <p:grpSpPr>
          <a:xfrm rot="0">
            <a:off x="2850299" y="5407212"/>
            <a:ext cx="1038872" cy="1038872"/>
            <a:chOff x="0" y="0"/>
            <a:chExt cx="812800" cy="812800"/>
          </a:xfrm>
        </p:grpSpPr>
        <p:sp>
          <p:nvSpPr>
            <p:cNvPr name="Freeform 98" id="9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892C"/>
            </a:solidFill>
            <a:ln w="114300" cap="sq">
              <a:solidFill>
                <a:srgbClr val="FAFAF8"/>
              </a:solidFill>
              <a:prstDash val="solid"/>
              <a:miter/>
            </a:ln>
          </p:spPr>
        </p:sp>
        <p:sp>
          <p:nvSpPr>
            <p:cNvPr name="TextBox 99" id="99"/>
            <p:cNvSpPr txBox="true"/>
            <p:nvPr/>
          </p:nvSpPr>
          <p:spPr>
            <a:xfrm>
              <a:off x="76200" y="19050"/>
              <a:ext cx="660400" cy="717550"/>
            </a:xfrm>
            <a:prstGeom prst="rect">
              <a:avLst/>
            </a:prstGeom>
          </p:spPr>
          <p:txBody>
            <a:bodyPr anchor="ctr" rtlCol="false" tIns="50800" lIns="50800" bIns="50800" rIns="50800"/>
            <a:lstStyle/>
            <a:p>
              <a:pPr algn="ctr" marL="0" indent="0" lvl="0">
                <a:lnSpc>
                  <a:spcPts val="4059"/>
                </a:lnSpc>
                <a:spcBef>
                  <a:spcPct val="0"/>
                </a:spcBef>
              </a:pPr>
            </a:p>
          </p:txBody>
        </p:sp>
      </p:grpSp>
      <p:grpSp>
        <p:nvGrpSpPr>
          <p:cNvPr name="Group 100" id="100"/>
          <p:cNvGrpSpPr/>
          <p:nvPr/>
        </p:nvGrpSpPr>
        <p:grpSpPr>
          <a:xfrm rot="0">
            <a:off x="2850299" y="6814982"/>
            <a:ext cx="1038872" cy="1038872"/>
            <a:chOff x="0" y="0"/>
            <a:chExt cx="812800" cy="812800"/>
          </a:xfrm>
        </p:grpSpPr>
        <p:sp>
          <p:nvSpPr>
            <p:cNvPr name="Freeform 101" id="10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652C"/>
            </a:solidFill>
            <a:ln w="114300" cap="sq">
              <a:solidFill>
                <a:srgbClr val="FAFAF8"/>
              </a:solidFill>
              <a:prstDash val="solid"/>
              <a:miter/>
            </a:ln>
          </p:spPr>
        </p:sp>
        <p:sp>
          <p:nvSpPr>
            <p:cNvPr name="TextBox 102" id="102"/>
            <p:cNvSpPr txBox="true"/>
            <p:nvPr/>
          </p:nvSpPr>
          <p:spPr>
            <a:xfrm>
              <a:off x="76200" y="19050"/>
              <a:ext cx="660400" cy="717550"/>
            </a:xfrm>
            <a:prstGeom prst="rect">
              <a:avLst/>
            </a:prstGeom>
          </p:spPr>
          <p:txBody>
            <a:bodyPr anchor="ctr" rtlCol="false" tIns="50800" lIns="50800" bIns="50800" rIns="50800"/>
            <a:lstStyle/>
            <a:p>
              <a:pPr algn="ctr" marL="0" indent="0" lvl="0">
                <a:lnSpc>
                  <a:spcPts val="4059"/>
                </a:lnSpc>
                <a:spcBef>
                  <a:spcPct val="0"/>
                </a:spcBef>
              </a:pPr>
            </a:p>
          </p:txBody>
        </p:sp>
      </p:grpSp>
      <p:grpSp>
        <p:nvGrpSpPr>
          <p:cNvPr name="Group 103" id="103"/>
          <p:cNvGrpSpPr/>
          <p:nvPr/>
        </p:nvGrpSpPr>
        <p:grpSpPr>
          <a:xfrm rot="0">
            <a:off x="2850299" y="8222751"/>
            <a:ext cx="1038872" cy="1038872"/>
            <a:chOff x="0" y="0"/>
            <a:chExt cx="812800" cy="812800"/>
          </a:xfrm>
        </p:grpSpPr>
        <p:sp>
          <p:nvSpPr>
            <p:cNvPr name="Freeform 104" id="10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3930"/>
            </a:solidFill>
            <a:ln w="114300" cap="sq">
              <a:solidFill>
                <a:srgbClr val="FAFAF8"/>
              </a:solidFill>
              <a:prstDash val="solid"/>
              <a:miter/>
            </a:ln>
          </p:spPr>
        </p:sp>
        <p:sp>
          <p:nvSpPr>
            <p:cNvPr name="TextBox 105" id="105"/>
            <p:cNvSpPr txBox="true"/>
            <p:nvPr/>
          </p:nvSpPr>
          <p:spPr>
            <a:xfrm>
              <a:off x="76200" y="19050"/>
              <a:ext cx="660400" cy="717550"/>
            </a:xfrm>
            <a:prstGeom prst="rect">
              <a:avLst/>
            </a:prstGeom>
          </p:spPr>
          <p:txBody>
            <a:bodyPr anchor="ctr" rtlCol="false" tIns="50800" lIns="50800" bIns="50800" rIns="50800"/>
            <a:lstStyle/>
            <a:p>
              <a:pPr algn="ctr" marL="0" indent="0" lvl="0">
                <a:lnSpc>
                  <a:spcPts val="4059"/>
                </a:lnSpc>
                <a:spcBef>
                  <a:spcPct val="0"/>
                </a:spcBef>
              </a:pPr>
            </a:p>
          </p:txBody>
        </p:sp>
      </p:grpSp>
      <p:sp>
        <p:nvSpPr>
          <p:cNvPr name="Freeform 106" id="106"/>
          <p:cNvSpPr/>
          <p:nvPr/>
        </p:nvSpPr>
        <p:spPr>
          <a:xfrm flipH="false" flipV="false" rot="0">
            <a:off x="3147122" y="7098095"/>
            <a:ext cx="472645" cy="472645"/>
          </a:xfrm>
          <a:custGeom>
            <a:avLst/>
            <a:gdLst/>
            <a:ahLst/>
            <a:cxnLst/>
            <a:rect r="r" b="b" t="t" l="l"/>
            <a:pathLst>
              <a:path h="472645" w="472645">
                <a:moveTo>
                  <a:pt x="0" y="0"/>
                </a:moveTo>
                <a:lnTo>
                  <a:pt x="472645" y="0"/>
                </a:lnTo>
                <a:lnTo>
                  <a:pt x="472645" y="472646"/>
                </a:lnTo>
                <a:lnTo>
                  <a:pt x="0" y="47264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7" id="107"/>
          <p:cNvSpPr/>
          <p:nvPr/>
        </p:nvSpPr>
        <p:spPr>
          <a:xfrm flipH="false" flipV="false" rot="0">
            <a:off x="3173061" y="8518834"/>
            <a:ext cx="446706" cy="446706"/>
          </a:xfrm>
          <a:custGeom>
            <a:avLst/>
            <a:gdLst/>
            <a:ahLst/>
            <a:cxnLst/>
            <a:rect r="r" b="b" t="t" l="l"/>
            <a:pathLst>
              <a:path h="446706" w="446706">
                <a:moveTo>
                  <a:pt x="0" y="0"/>
                </a:moveTo>
                <a:lnTo>
                  <a:pt x="446706" y="0"/>
                </a:lnTo>
                <a:lnTo>
                  <a:pt x="446706" y="446706"/>
                </a:lnTo>
                <a:lnTo>
                  <a:pt x="0" y="44670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8" id="108"/>
          <p:cNvSpPr/>
          <p:nvPr/>
        </p:nvSpPr>
        <p:spPr>
          <a:xfrm flipH="false" flipV="false" rot="0">
            <a:off x="3109057" y="5731792"/>
            <a:ext cx="521356" cy="389713"/>
          </a:xfrm>
          <a:custGeom>
            <a:avLst/>
            <a:gdLst/>
            <a:ahLst/>
            <a:cxnLst/>
            <a:rect r="r" b="b" t="t" l="l"/>
            <a:pathLst>
              <a:path h="389713" w="521356">
                <a:moveTo>
                  <a:pt x="0" y="0"/>
                </a:moveTo>
                <a:lnTo>
                  <a:pt x="521355" y="0"/>
                </a:lnTo>
                <a:lnTo>
                  <a:pt x="521355" y="389713"/>
                </a:lnTo>
                <a:lnTo>
                  <a:pt x="0" y="38971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9" id="109"/>
          <p:cNvSpPr/>
          <p:nvPr/>
        </p:nvSpPr>
        <p:spPr>
          <a:xfrm flipH="false" flipV="false" rot="0">
            <a:off x="3109057" y="4311888"/>
            <a:ext cx="497666" cy="399999"/>
          </a:xfrm>
          <a:custGeom>
            <a:avLst/>
            <a:gdLst/>
            <a:ahLst/>
            <a:cxnLst/>
            <a:rect r="r" b="b" t="t" l="l"/>
            <a:pathLst>
              <a:path h="399999" w="497666">
                <a:moveTo>
                  <a:pt x="0" y="0"/>
                </a:moveTo>
                <a:lnTo>
                  <a:pt x="497666" y="0"/>
                </a:lnTo>
                <a:lnTo>
                  <a:pt x="497666" y="399999"/>
                </a:lnTo>
                <a:lnTo>
                  <a:pt x="0" y="39999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10" id="110"/>
          <p:cNvSpPr txBox="true"/>
          <p:nvPr/>
        </p:nvSpPr>
        <p:spPr>
          <a:xfrm rot="0">
            <a:off x="1867825" y="1640099"/>
            <a:ext cx="14552349" cy="1042670"/>
          </a:xfrm>
          <a:prstGeom prst="rect">
            <a:avLst/>
          </a:prstGeom>
        </p:spPr>
        <p:txBody>
          <a:bodyPr anchor="t" rtlCol="false" tIns="0" lIns="0" bIns="0" rIns="0">
            <a:spAutoFit/>
          </a:bodyPr>
          <a:lstStyle/>
          <a:p>
            <a:pPr algn="ctr">
              <a:lnSpc>
                <a:spcPts val="8319"/>
              </a:lnSpc>
            </a:pPr>
            <a:r>
              <a:rPr lang="en-US" b="true" sz="6399" spc="63">
                <a:solidFill>
                  <a:srgbClr val="2D892C"/>
                </a:solidFill>
                <a:latin typeface="Inclusive Sans Bold"/>
                <a:ea typeface="Inclusive Sans Bold"/>
                <a:cs typeface="Inclusive Sans Bold"/>
                <a:sym typeface="Inclusive Sans Bold"/>
              </a:rPr>
              <a:t>Perbedaan Etika, Moral, dan Etiket</a:t>
            </a:r>
          </a:p>
        </p:txBody>
      </p:sp>
      <p:sp>
        <p:nvSpPr>
          <p:cNvPr name="TextBox 111" id="111"/>
          <p:cNvSpPr txBox="true"/>
          <p:nvPr/>
        </p:nvSpPr>
        <p:spPr>
          <a:xfrm rot="0">
            <a:off x="7244477" y="794012"/>
            <a:ext cx="3799046" cy="688975"/>
          </a:xfrm>
          <a:prstGeom prst="rect">
            <a:avLst/>
          </a:prstGeom>
        </p:spPr>
        <p:txBody>
          <a:bodyPr anchor="t" rtlCol="false" tIns="0" lIns="0" bIns="0" rIns="0">
            <a:spAutoFit/>
          </a:bodyPr>
          <a:lstStyle/>
          <a:p>
            <a:pPr algn="ctr">
              <a:lnSpc>
                <a:spcPts val="5599"/>
              </a:lnSpc>
              <a:spcBef>
                <a:spcPct val="0"/>
              </a:spcBef>
            </a:pPr>
            <a:r>
              <a:rPr lang="en-US" b="true" sz="3999" u="sng">
                <a:solidFill>
                  <a:srgbClr val="000000"/>
                </a:solidFill>
                <a:latin typeface="Inclusive Sans Bold"/>
                <a:ea typeface="Inclusive Sans Bold"/>
                <a:cs typeface="Inclusive Sans Bold"/>
                <a:sym typeface="Inclusive Sans Bold"/>
              </a:rPr>
              <a:t>Landasan Teori</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12888" t="0" r="-12888" b="0"/>
            </a:stretch>
          </a:blipFill>
        </p:spPr>
      </p:sp>
      <p:sp>
        <p:nvSpPr>
          <p:cNvPr name="Freeform 3" id="3"/>
          <p:cNvSpPr/>
          <p:nvPr/>
        </p:nvSpPr>
        <p:spPr>
          <a:xfrm flipH="false" flipV="false" rot="-10800000">
            <a:off x="-891999" y="-783690"/>
            <a:ext cx="2782408" cy="2782408"/>
          </a:xfrm>
          <a:custGeom>
            <a:avLst/>
            <a:gdLst/>
            <a:ahLst/>
            <a:cxnLst/>
            <a:rect r="r" b="b" t="t" l="l"/>
            <a:pathLst>
              <a:path h="2782408" w="2782408">
                <a:moveTo>
                  <a:pt x="0" y="0"/>
                </a:moveTo>
                <a:lnTo>
                  <a:pt x="2782408" y="0"/>
                </a:lnTo>
                <a:lnTo>
                  <a:pt x="2782408" y="2782408"/>
                </a:lnTo>
                <a:lnTo>
                  <a:pt x="0" y="27824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5937396" y="-1688002"/>
            <a:ext cx="3237907" cy="4591031"/>
            <a:chOff x="0" y="0"/>
            <a:chExt cx="4317209" cy="6121375"/>
          </a:xfrm>
        </p:grpSpPr>
        <p:grpSp>
          <p:nvGrpSpPr>
            <p:cNvPr name="Group 5" id="5"/>
            <p:cNvGrpSpPr/>
            <p:nvPr/>
          </p:nvGrpSpPr>
          <p:grpSpPr>
            <a:xfrm rot="0">
              <a:off x="834410" y="1038800"/>
              <a:ext cx="2610701" cy="5082575"/>
              <a:chOff x="0" y="0"/>
              <a:chExt cx="585263" cy="1139404"/>
            </a:xfrm>
          </p:grpSpPr>
          <p:sp>
            <p:nvSpPr>
              <p:cNvPr name="Freeform 6" id="6"/>
              <p:cNvSpPr/>
              <p:nvPr/>
            </p:nvSpPr>
            <p:spPr>
              <a:xfrm flipH="false" flipV="false" rot="0">
                <a:off x="0" y="0"/>
                <a:ext cx="585263" cy="1139404"/>
              </a:xfrm>
              <a:custGeom>
                <a:avLst/>
                <a:gdLst/>
                <a:ahLst/>
                <a:cxnLst/>
                <a:rect r="r" b="b" t="t" l="l"/>
                <a:pathLst>
                  <a:path h="1139404" w="585263">
                    <a:moveTo>
                      <a:pt x="195193" y="1120335"/>
                    </a:moveTo>
                    <a:cubicBezTo>
                      <a:pt x="225198" y="1131849"/>
                      <a:pt x="259310" y="1139404"/>
                      <a:pt x="292789" y="1139404"/>
                    </a:cubicBezTo>
                    <a:cubicBezTo>
                      <a:pt x="326269" y="1139404"/>
                      <a:pt x="358486" y="1132927"/>
                      <a:pt x="388175" y="1121413"/>
                    </a:cubicBezTo>
                    <a:cubicBezTo>
                      <a:pt x="388807" y="1121054"/>
                      <a:pt x="389438" y="1121054"/>
                      <a:pt x="390070" y="1120694"/>
                    </a:cubicBezTo>
                    <a:cubicBezTo>
                      <a:pt x="501564" y="1074639"/>
                      <a:pt x="583684" y="953025"/>
                      <a:pt x="585263" y="803647"/>
                    </a:cubicBezTo>
                    <a:lnTo>
                      <a:pt x="585263" y="0"/>
                    </a:lnTo>
                    <a:lnTo>
                      <a:pt x="0" y="0"/>
                    </a:lnTo>
                    <a:lnTo>
                      <a:pt x="0" y="803051"/>
                    </a:lnTo>
                    <a:cubicBezTo>
                      <a:pt x="1579" y="953744"/>
                      <a:pt x="82436" y="1075359"/>
                      <a:pt x="195193" y="1120335"/>
                    </a:cubicBezTo>
                    <a:close/>
                  </a:path>
                </a:pathLst>
              </a:custGeom>
              <a:solidFill>
                <a:srgbClr val="153930"/>
              </a:solidFill>
            </p:spPr>
          </p:sp>
          <p:sp>
            <p:nvSpPr>
              <p:cNvPr name="TextBox 7" id="7"/>
              <p:cNvSpPr txBox="true"/>
              <p:nvPr/>
            </p:nvSpPr>
            <p:spPr>
              <a:xfrm>
                <a:off x="0" y="-47625"/>
                <a:ext cx="585263" cy="1060029"/>
              </a:xfrm>
              <a:prstGeom prst="rect">
                <a:avLst/>
              </a:prstGeom>
            </p:spPr>
            <p:txBody>
              <a:bodyPr anchor="ctr" rtlCol="false" tIns="50800" lIns="50800" bIns="50800" rIns="50800"/>
              <a:lstStyle/>
              <a:p>
                <a:pPr algn="ctr">
                  <a:lnSpc>
                    <a:spcPts val="2940"/>
                  </a:lnSpc>
                </a:pPr>
              </a:p>
            </p:txBody>
          </p:sp>
        </p:grpSp>
        <p:grpSp>
          <p:nvGrpSpPr>
            <p:cNvPr name="Group 8" id="8"/>
            <p:cNvGrpSpPr/>
            <p:nvPr/>
          </p:nvGrpSpPr>
          <p:grpSpPr>
            <a:xfrm rot="0">
              <a:off x="2251314" y="2774804"/>
              <a:ext cx="2065895" cy="206589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892C"/>
              </a:soli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360"/>
                  </a:lnSpc>
                </a:pPr>
              </a:p>
            </p:txBody>
          </p:sp>
        </p:grpSp>
        <p:grpSp>
          <p:nvGrpSpPr>
            <p:cNvPr name="Group 11" id="11"/>
            <p:cNvGrpSpPr/>
            <p:nvPr/>
          </p:nvGrpSpPr>
          <p:grpSpPr>
            <a:xfrm rot="0">
              <a:off x="0" y="0"/>
              <a:ext cx="1657891" cy="4141745"/>
              <a:chOff x="0" y="0"/>
              <a:chExt cx="456090" cy="1139404"/>
            </a:xfrm>
          </p:grpSpPr>
          <p:sp>
            <p:nvSpPr>
              <p:cNvPr name="Freeform 12" id="12"/>
              <p:cNvSpPr/>
              <p:nvPr/>
            </p:nvSpPr>
            <p:spPr>
              <a:xfrm flipH="false" flipV="false" rot="0">
                <a:off x="0" y="0"/>
                <a:ext cx="456090" cy="1139404"/>
              </a:xfrm>
              <a:custGeom>
                <a:avLst/>
                <a:gdLst/>
                <a:ahLst/>
                <a:cxnLst/>
                <a:rect r="r" b="b" t="t" l="l"/>
                <a:pathLst>
                  <a:path h="1139404" w="456090">
                    <a:moveTo>
                      <a:pt x="152112" y="1120335"/>
                    </a:moveTo>
                    <a:cubicBezTo>
                      <a:pt x="175495" y="1131849"/>
                      <a:pt x="202078" y="1139404"/>
                      <a:pt x="228168" y="1139404"/>
                    </a:cubicBezTo>
                    <a:cubicBezTo>
                      <a:pt x="254259" y="1139404"/>
                      <a:pt x="279365" y="1132927"/>
                      <a:pt x="302501" y="1121413"/>
                    </a:cubicBezTo>
                    <a:cubicBezTo>
                      <a:pt x="302994" y="1121054"/>
                      <a:pt x="303486" y="1121054"/>
                      <a:pt x="303978" y="1120694"/>
                    </a:cubicBezTo>
                    <a:cubicBezTo>
                      <a:pt x="390864" y="1074639"/>
                      <a:pt x="454859" y="953025"/>
                      <a:pt x="456090" y="803647"/>
                    </a:cubicBezTo>
                    <a:lnTo>
                      <a:pt x="456090" y="0"/>
                    </a:lnTo>
                    <a:lnTo>
                      <a:pt x="0" y="0"/>
                    </a:lnTo>
                    <a:lnTo>
                      <a:pt x="0" y="803051"/>
                    </a:lnTo>
                    <a:cubicBezTo>
                      <a:pt x="1231" y="953744"/>
                      <a:pt x="64241" y="1075359"/>
                      <a:pt x="152112" y="1120335"/>
                    </a:cubicBezTo>
                    <a:close/>
                  </a:path>
                </a:pathLst>
              </a:custGeom>
              <a:solidFill>
                <a:srgbClr val="2D892C">
                  <a:alpha val="83922"/>
                </a:srgbClr>
              </a:solidFill>
            </p:spPr>
          </p:sp>
          <p:sp>
            <p:nvSpPr>
              <p:cNvPr name="TextBox 13" id="13"/>
              <p:cNvSpPr txBox="true"/>
              <p:nvPr/>
            </p:nvSpPr>
            <p:spPr>
              <a:xfrm>
                <a:off x="0" y="-47625"/>
                <a:ext cx="456090" cy="1060029"/>
              </a:xfrm>
              <a:prstGeom prst="rect">
                <a:avLst/>
              </a:prstGeom>
            </p:spPr>
            <p:txBody>
              <a:bodyPr anchor="ctr" rtlCol="false" tIns="50800" lIns="50800" bIns="50800" rIns="50800"/>
              <a:lstStyle/>
              <a:p>
                <a:pPr algn="ctr">
                  <a:lnSpc>
                    <a:spcPts val="2940"/>
                  </a:lnSpc>
                </a:pPr>
              </a:p>
            </p:txBody>
          </p:sp>
        </p:grpSp>
      </p:grpSp>
      <p:sp>
        <p:nvSpPr>
          <p:cNvPr name="Freeform 14" id="14"/>
          <p:cNvSpPr/>
          <p:nvPr/>
        </p:nvSpPr>
        <p:spPr>
          <a:xfrm flipH="false" flipV="false" rot="2700000">
            <a:off x="-385230" y="9325747"/>
            <a:ext cx="1900826" cy="1026446"/>
          </a:xfrm>
          <a:custGeom>
            <a:avLst/>
            <a:gdLst/>
            <a:ahLst/>
            <a:cxnLst/>
            <a:rect r="r" b="b" t="t" l="l"/>
            <a:pathLst>
              <a:path h="1026446" w="1900826">
                <a:moveTo>
                  <a:pt x="0" y="0"/>
                </a:moveTo>
                <a:lnTo>
                  <a:pt x="1900826" y="0"/>
                </a:lnTo>
                <a:lnTo>
                  <a:pt x="1900826" y="1026447"/>
                </a:lnTo>
                <a:lnTo>
                  <a:pt x="0" y="102644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5" id="15"/>
          <p:cNvSpPr txBox="true"/>
          <p:nvPr/>
        </p:nvSpPr>
        <p:spPr>
          <a:xfrm rot="0">
            <a:off x="1867825" y="2611373"/>
            <a:ext cx="14552349" cy="1042670"/>
          </a:xfrm>
          <a:prstGeom prst="rect">
            <a:avLst/>
          </a:prstGeom>
        </p:spPr>
        <p:txBody>
          <a:bodyPr anchor="t" rtlCol="false" tIns="0" lIns="0" bIns="0" rIns="0">
            <a:spAutoFit/>
          </a:bodyPr>
          <a:lstStyle/>
          <a:p>
            <a:pPr algn="ctr">
              <a:lnSpc>
                <a:spcPts val="8319"/>
              </a:lnSpc>
            </a:pPr>
            <a:r>
              <a:rPr lang="en-US" b="true" sz="6399" spc="63">
                <a:solidFill>
                  <a:srgbClr val="2D892C"/>
                </a:solidFill>
                <a:latin typeface="Inclusive Sans Bold"/>
                <a:ea typeface="Inclusive Sans Bold"/>
                <a:cs typeface="Inclusive Sans Bold"/>
                <a:sym typeface="Inclusive Sans Bold"/>
              </a:rPr>
              <a:t>Teori Etika yang Relevan</a:t>
            </a:r>
          </a:p>
        </p:txBody>
      </p:sp>
      <p:sp>
        <p:nvSpPr>
          <p:cNvPr name="TextBox 16" id="16"/>
          <p:cNvSpPr txBox="true"/>
          <p:nvPr/>
        </p:nvSpPr>
        <p:spPr>
          <a:xfrm rot="0">
            <a:off x="7244477" y="1765287"/>
            <a:ext cx="3799046" cy="688975"/>
          </a:xfrm>
          <a:prstGeom prst="rect">
            <a:avLst/>
          </a:prstGeom>
        </p:spPr>
        <p:txBody>
          <a:bodyPr anchor="t" rtlCol="false" tIns="0" lIns="0" bIns="0" rIns="0">
            <a:spAutoFit/>
          </a:bodyPr>
          <a:lstStyle/>
          <a:p>
            <a:pPr algn="ctr">
              <a:lnSpc>
                <a:spcPts val="5599"/>
              </a:lnSpc>
              <a:spcBef>
                <a:spcPct val="0"/>
              </a:spcBef>
            </a:pPr>
            <a:r>
              <a:rPr lang="en-US" b="true" sz="3999" u="sng">
                <a:solidFill>
                  <a:srgbClr val="000000"/>
                </a:solidFill>
                <a:latin typeface="Inclusive Sans Bold"/>
                <a:ea typeface="Inclusive Sans Bold"/>
                <a:cs typeface="Inclusive Sans Bold"/>
                <a:sym typeface="Inclusive Sans Bold"/>
              </a:rPr>
              <a:t>Landasan Teori</a:t>
            </a:r>
          </a:p>
        </p:txBody>
      </p:sp>
      <p:grpSp>
        <p:nvGrpSpPr>
          <p:cNvPr name="Group 17" id="17"/>
          <p:cNvGrpSpPr/>
          <p:nvPr/>
        </p:nvGrpSpPr>
        <p:grpSpPr>
          <a:xfrm rot="0">
            <a:off x="739085" y="4110440"/>
            <a:ext cx="5384202" cy="4008670"/>
            <a:chOff x="0" y="0"/>
            <a:chExt cx="7178936" cy="5344893"/>
          </a:xfrm>
        </p:grpSpPr>
        <p:grpSp>
          <p:nvGrpSpPr>
            <p:cNvPr name="Group 18" id="18"/>
            <p:cNvGrpSpPr/>
            <p:nvPr/>
          </p:nvGrpSpPr>
          <p:grpSpPr>
            <a:xfrm rot="0">
              <a:off x="959732" y="0"/>
              <a:ext cx="6219204" cy="5344893"/>
              <a:chOff x="0" y="0"/>
              <a:chExt cx="951960" cy="818131"/>
            </a:xfrm>
          </p:grpSpPr>
          <p:sp>
            <p:nvSpPr>
              <p:cNvPr name="Freeform 19" id="19"/>
              <p:cNvSpPr/>
              <p:nvPr/>
            </p:nvSpPr>
            <p:spPr>
              <a:xfrm flipH="false" flipV="false" rot="0">
                <a:off x="0" y="0"/>
                <a:ext cx="951960" cy="818131"/>
              </a:xfrm>
              <a:custGeom>
                <a:avLst/>
                <a:gdLst/>
                <a:ahLst/>
                <a:cxnLst/>
                <a:rect r="r" b="b" t="t" l="l"/>
                <a:pathLst>
                  <a:path h="818131" w="951960">
                    <a:moveTo>
                      <a:pt x="26557" y="0"/>
                    </a:moveTo>
                    <a:lnTo>
                      <a:pt x="925403" y="0"/>
                    </a:lnTo>
                    <a:cubicBezTo>
                      <a:pt x="932446" y="0"/>
                      <a:pt x="939201" y="2798"/>
                      <a:pt x="944182" y="7778"/>
                    </a:cubicBezTo>
                    <a:cubicBezTo>
                      <a:pt x="949162" y="12759"/>
                      <a:pt x="951960" y="19513"/>
                      <a:pt x="951960" y="26557"/>
                    </a:cubicBezTo>
                    <a:lnTo>
                      <a:pt x="951960" y="791574"/>
                    </a:lnTo>
                    <a:cubicBezTo>
                      <a:pt x="951960" y="806241"/>
                      <a:pt x="940070" y="818131"/>
                      <a:pt x="925403" y="818131"/>
                    </a:cubicBezTo>
                    <a:lnTo>
                      <a:pt x="26557" y="818131"/>
                    </a:lnTo>
                    <a:cubicBezTo>
                      <a:pt x="11890" y="818131"/>
                      <a:pt x="0" y="806241"/>
                      <a:pt x="0" y="791574"/>
                    </a:cubicBezTo>
                    <a:lnTo>
                      <a:pt x="0" y="26557"/>
                    </a:lnTo>
                    <a:cubicBezTo>
                      <a:pt x="0" y="11890"/>
                      <a:pt x="11890" y="0"/>
                      <a:pt x="26557" y="0"/>
                    </a:cubicBezTo>
                    <a:close/>
                  </a:path>
                </a:pathLst>
              </a:custGeom>
              <a:solidFill>
                <a:srgbClr val="FFFFFF"/>
              </a:solidFill>
            </p:spPr>
          </p:sp>
          <p:sp>
            <p:nvSpPr>
              <p:cNvPr name="TextBox 20" id="20"/>
              <p:cNvSpPr txBox="true"/>
              <p:nvPr/>
            </p:nvSpPr>
            <p:spPr>
              <a:xfrm>
                <a:off x="0" y="-19050"/>
                <a:ext cx="951960" cy="837181"/>
              </a:xfrm>
              <a:prstGeom prst="rect">
                <a:avLst/>
              </a:prstGeom>
            </p:spPr>
            <p:txBody>
              <a:bodyPr anchor="ctr" rtlCol="false" tIns="50800" lIns="50800" bIns="50800" rIns="50800"/>
              <a:lstStyle/>
              <a:p>
                <a:pPr algn="ctr">
                  <a:lnSpc>
                    <a:spcPts val="2339"/>
                  </a:lnSpc>
                </a:pPr>
              </a:p>
            </p:txBody>
          </p:sp>
        </p:grpSp>
        <p:sp>
          <p:nvSpPr>
            <p:cNvPr name="Freeform 21" id="21"/>
            <p:cNvSpPr/>
            <p:nvPr/>
          </p:nvSpPr>
          <p:spPr>
            <a:xfrm flipH="false" flipV="true" rot="5400000">
              <a:off x="-692924" y="842430"/>
              <a:ext cx="3020921" cy="1635074"/>
            </a:xfrm>
            <a:custGeom>
              <a:avLst/>
              <a:gdLst/>
              <a:ahLst/>
              <a:cxnLst/>
              <a:rect r="r" b="b" t="t" l="l"/>
              <a:pathLst>
                <a:path h="1635074" w="3020921">
                  <a:moveTo>
                    <a:pt x="0" y="1635073"/>
                  </a:moveTo>
                  <a:lnTo>
                    <a:pt x="3020921" y="1635073"/>
                  </a:lnTo>
                  <a:lnTo>
                    <a:pt x="3020921" y="0"/>
                  </a:lnTo>
                  <a:lnTo>
                    <a:pt x="0" y="0"/>
                  </a:lnTo>
                  <a:lnTo>
                    <a:pt x="0" y="1635073"/>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2" id="22"/>
            <p:cNvSpPr txBox="true"/>
            <p:nvPr/>
          </p:nvSpPr>
          <p:spPr>
            <a:xfrm rot="0">
              <a:off x="1883630" y="514293"/>
              <a:ext cx="2986758" cy="355600"/>
            </a:xfrm>
            <a:prstGeom prst="rect">
              <a:avLst/>
            </a:prstGeom>
          </p:spPr>
          <p:txBody>
            <a:bodyPr anchor="t" rtlCol="false" tIns="0" lIns="0" bIns="0" rIns="0">
              <a:spAutoFit/>
            </a:bodyPr>
            <a:lstStyle/>
            <a:p>
              <a:pPr algn="l">
                <a:lnSpc>
                  <a:spcPts val="2159"/>
                </a:lnSpc>
              </a:pPr>
              <a:r>
                <a:rPr lang="en-US" b="true" sz="1799" i="true">
                  <a:solidFill>
                    <a:srgbClr val="57E11C"/>
                  </a:solidFill>
                  <a:latin typeface="Inclusive Sans Bold Italics"/>
                  <a:ea typeface="Inclusive Sans Bold Italics"/>
                  <a:cs typeface="Inclusive Sans Bold Italics"/>
                  <a:sym typeface="Inclusive Sans Bold Italics"/>
                </a:rPr>
                <a:t>Uti</a:t>
              </a:r>
              <a:r>
                <a:rPr lang="en-US" b="true" sz="1799" i="true">
                  <a:solidFill>
                    <a:srgbClr val="57E11C"/>
                  </a:solidFill>
                  <a:latin typeface="Inclusive Sans Bold Italics"/>
                  <a:ea typeface="Inclusive Sans Bold Italics"/>
                  <a:cs typeface="Inclusive Sans Bold Italics"/>
                  <a:sym typeface="Inclusive Sans Bold Italics"/>
                </a:rPr>
                <a:t>litarianism</a:t>
              </a:r>
            </a:p>
          </p:txBody>
        </p:sp>
        <p:sp>
          <p:nvSpPr>
            <p:cNvPr name="TextBox 23" id="23"/>
            <p:cNvSpPr txBox="true"/>
            <p:nvPr/>
          </p:nvSpPr>
          <p:spPr>
            <a:xfrm rot="0">
              <a:off x="1893338" y="1066743"/>
              <a:ext cx="4554636" cy="3763857"/>
            </a:xfrm>
            <a:prstGeom prst="rect">
              <a:avLst/>
            </a:prstGeom>
          </p:spPr>
          <p:txBody>
            <a:bodyPr anchor="t" rtlCol="false" tIns="0" lIns="0" bIns="0" rIns="0">
              <a:spAutoFit/>
            </a:bodyPr>
            <a:lstStyle/>
            <a:p>
              <a:pPr algn="l">
                <a:lnSpc>
                  <a:spcPts val="2079"/>
                </a:lnSpc>
              </a:pPr>
              <a:r>
                <a:rPr lang="en-US" sz="1599">
                  <a:solidFill>
                    <a:srgbClr val="000000"/>
                  </a:solidFill>
                  <a:latin typeface="Inclusive Sans"/>
                  <a:ea typeface="Inclusive Sans"/>
                  <a:cs typeface="Inclusive Sans"/>
                  <a:sym typeface="Inclusive Sans"/>
                </a:rPr>
                <a:t>Menilai t</a:t>
              </a:r>
              <a:r>
                <a:rPr lang="en-US" sz="1599">
                  <a:solidFill>
                    <a:srgbClr val="000000"/>
                  </a:solidFill>
                  <a:latin typeface="Inclusive Sans"/>
                  <a:ea typeface="Inclusive Sans"/>
                  <a:cs typeface="Inclusive Sans"/>
                  <a:sym typeface="Inclusive Sans"/>
                </a:rPr>
                <a:t>indakan dari konsekuensi</a:t>
              </a:r>
              <a:r>
                <a:rPr lang="en-US" sz="1599">
                  <a:solidFill>
                    <a:srgbClr val="000000"/>
                  </a:solidFill>
                  <a:latin typeface="Inclusive Sans"/>
                  <a:ea typeface="Inclusive Sans"/>
                  <a:cs typeface="Inclusive Sans"/>
                  <a:sym typeface="Inclusive Sans"/>
                </a:rPr>
                <a:t> terbaik bagi jumlah terbesar.</a:t>
              </a:r>
            </a:p>
            <a:p>
              <a:pPr algn="l">
                <a:lnSpc>
                  <a:spcPts val="2079"/>
                </a:lnSpc>
              </a:pPr>
            </a:p>
            <a:p>
              <a:pPr algn="l">
                <a:lnSpc>
                  <a:spcPts val="2079"/>
                </a:lnSpc>
              </a:pPr>
              <a:r>
                <a:rPr lang="en-US" sz="1599">
                  <a:solidFill>
                    <a:srgbClr val="000000"/>
                  </a:solidFill>
                  <a:latin typeface="Inclusive Sans"/>
                  <a:ea typeface="Inclusive Sans"/>
                  <a:cs typeface="Inclusive Sans"/>
                  <a:sym typeface="Inclusive Sans"/>
                </a:rPr>
                <a:t>Relevan ketika platform membenarkan sistem karena dinilai menguntungkan konsumen, kota, dan investor.</a:t>
              </a:r>
            </a:p>
            <a:p>
              <a:pPr algn="l">
                <a:lnSpc>
                  <a:spcPts val="2079"/>
                </a:lnSpc>
              </a:pPr>
            </a:p>
            <a:p>
              <a:pPr algn="l">
                <a:lnSpc>
                  <a:spcPts val="2079"/>
                </a:lnSpc>
              </a:pPr>
              <a:r>
                <a:rPr lang="en-US" sz="1599">
                  <a:solidFill>
                    <a:srgbClr val="000000"/>
                  </a:solidFill>
                  <a:latin typeface="Inclusive Sans"/>
                  <a:ea typeface="Inclusive Sans"/>
                  <a:cs typeface="Inclusive Sans"/>
                  <a:sym typeface="Inclusive Sans"/>
                </a:rPr>
                <a:t>Masalahnya, beban sering dipindahkan ke pengemudi yang paling rentan.</a:t>
              </a:r>
            </a:p>
          </p:txBody>
        </p:sp>
        <p:sp>
          <p:nvSpPr>
            <p:cNvPr name="TextBox 24" id="24"/>
            <p:cNvSpPr txBox="true"/>
            <p:nvPr/>
          </p:nvSpPr>
          <p:spPr>
            <a:xfrm rot="0">
              <a:off x="352424" y="1299496"/>
              <a:ext cx="904826" cy="740866"/>
            </a:xfrm>
            <a:prstGeom prst="rect">
              <a:avLst/>
            </a:prstGeom>
          </p:spPr>
          <p:txBody>
            <a:bodyPr anchor="t" rtlCol="false" tIns="0" lIns="0" bIns="0" rIns="0">
              <a:spAutoFit/>
            </a:bodyPr>
            <a:lstStyle/>
            <a:p>
              <a:pPr algn="ctr">
                <a:lnSpc>
                  <a:spcPts val="4547"/>
                </a:lnSpc>
                <a:spcBef>
                  <a:spcPct val="0"/>
                </a:spcBef>
              </a:pPr>
              <a:r>
                <a:rPr lang="en-US" b="true" sz="3498">
                  <a:solidFill>
                    <a:srgbClr val="FFFFFF"/>
                  </a:solidFill>
                  <a:latin typeface="Inclusive Sans Bold"/>
                  <a:ea typeface="Inclusive Sans Bold"/>
                  <a:cs typeface="Inclusive Sans Bold"/>
                  <a:sym typeface="Inclusive Sans Bold"/>
                </a:rPr>
                <a:t>01</a:t>
              </a:r>
            </a:p>
          </p:txBody>
        </p:sp>
      </p:grpSp>
      <p:grpSp>
        <p:nvGrpSpPr>
          <p:cNvPr name="Group 25" id="25"/>
          <p:cNvGrpSpPr/>
          <p:nvPr/>
        </p:nvGrpSpPr>
        <p:grpSpPr>
          <a:xfrm rot="0">
            <a:off x="6451899" y="4110440"/>
            <a:ext cx="5384202" cy="4008670"/>
            <a:chOff x="0" y="0"/>
            <a:chExt cx="7178936" cy="5344893"/>
          </a:xfrm>
        </p:grpSpPr>
        <p:grpSp>
          <p:nvGrpSpPr>
            <p:cNvPr name="Group 26" id="26"/>
            <p:cNvGrpSpPr/>
            <p:nvPr/>
          </p:nvGrpSpPr>
          <p:grpSpPr>
            <a:xfrm rot="0">
              <a:off x="959732" y="0"/>
              <a:ext cx="6219204" cy="5344893"/>
              <a:chOff x="0" y="0"/>
              <a:chExt cx="951960" cy="818131"/>
            </a:xfrm>
          </p:grpSpPr>
          <p:sp>
            <p:nvSpPr>
              <p:cNvPr name="Freeform 27" id="27"/>
              <p:cNvSpPr/>
              <p:nvPr/>
            </p:nvSpPr>
            <p:spPr>
              <a:xfrm flipH="false" flipV="false" rot="0">
                <a:off x="0" y="0"/>
                <a:ext cx="951960" cy="818131"/>
              </a:xfrm>
              <a:custGeom>
                <a:avLst/>
                <a:gdLst/>
                <a:ahLst/>
                <a:cxnLst/>
                <a:rect r="r" b="b" t="t" l="l"/>
                <a:pathLst>
                  <a:path h="818131" w="951960">
                    <a:moveTo>
                      <a:pt x="26557" y="0"/>
                    </a:moveTo>
                    <a:lnTo>
                      <a:pt x="925403" y="0"/>
                    </a:lnTo>
                    <a:cubicBezTo>
                      <a:pt x="932446" y="0"/>
                      <a:pt x="939201" y="2798"/>
                      <a:pt x="944182" y="7778"/>
                    </a:cubicBezTo>
                    <a:cubicBezTo>
                      <a:pt x="949162" y="12759"/>
                      <a:pt x="951960" y="19513"/>
                      <a:pt x="951960" y="26557"/>
                    </a:cubicBezTo>
                    <a:lnTo>
                      <a:pt x="951960" y="791574"/>
                    </a:lnTo>
                    <a:cubicBezTo>
                      <a:pt x="951960" y="806241"/>
                      <a:pt x="940070" y="818131"/>
                      <a:pt x="925403" y="818131"/>
                    </a:cubicBezTo>
                    <a:lnTo>
                      <a:pt x="26557" y="818131"/>
                    </a:lnTo>
                    <a:cubicBezTo>
                      <a:pt x="11890" y="818131"/>
                      <a:pt x="0" y="806241"/>
                      <a:pt x="0" y="791574"/>
                    </a:cubicBezTo>
                    <a:lnTo>
                      <a:pt x="0" y="26557"/>
                    </a:lnTo>
                    <a:cubicBezTo>
                      <a:pt x="0" y="11890"/>
                      <a:pt x="11890" y="0"/>
                      <a:pt x="26557" y="0"/>
                    </a:cubicBezTo>
                    <a:close/>
                  </a:path>
                </a:pathLst>
              </a:custGeom>
              <a:solidFill>
                <a:srgbClr val="FFFFFF"/>
              </a:solidFill>
            </p:spPr>
          </p:sp>
          <p:sp>
            <p:nvSpPr>
              <p:cNvPr name="TextBox 28" id="28"/>
              <p:cNvSpPr txBox="true"/>
              <p:nvPr/>
            </p:nvSpPr>
            <p:spPr>
              <a:xfrm>
                <a:off x="0" y="-19050"/>
                <a:ext cx="951960" cy="837181"/>
              </a:xfrm>
              <a:prstGeom prst="rect">
                <a:avLst/>
              </a:prstGeom>
            </p:spPr>
            <p:txBody>
              <a:bodyPr anchor="ctr" rtlCol="false" tIns="50800" lIns="50800" bIns="50800" rIns="50800"/>
              <a:lstStyle/>
              <a:p>
                <a:pPr algn="ctr">
                  <a:lnSpc>
                    <a:spcPts val="2339"/>
                  </a:lnSpc>
                </a:pPr>
              </a:p>
            </p:txBody>
          </p:sp>
        </p:grpSp>
        <p:sp>
          <p:nvSpPr>
            <p:cNvPr name="Freeform 29" id="29"/>
            <p:cNvSpPr/>
            <p:nvPr/>
          </p:nvSpPr>
          <p:spPr>
            <a:xfrm flipH="false" flipV="true" rot="5400000">
              <a:off x="-692924" y="842430"/>
              <a:ext cx="3020921" cy="1635074"/>
            </a:xfrm>
            <a:custGeom>
              <a:avLst/>
              <a:gdLst/>
              <a:ahLst/>
              <a:cxnLst/>
              <a:rect r="r" b="b" t="t" l="l"/>
              <a:pathLst>
                <a:path h="1635074" w="3020921">
                  <a:moveTo>
                    <a:pt x="0" y="1635073"/>
                  </a:moveTo>
                  <a:lnTo>
                    <a:pt x="3020921" y="1635073"/>
                  </a:lnTo>
                  <a:lnTo>
                    <a:pt x="3020921" y="0"/>
                  </a:lnTo>
                  <a:lnTo>
                    <a:pt x="0" y="0"/>
                  </a:lnTo>
                  <a:lnTo>
                    <a:pt x="0" y="1635073"/>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30" id="30"/>
            <p:cNvSpPr txBox="true"/>
            <p:nvPr/>
          </p:nvSpPr>
          <p:spPr>
            <a:xfrm rot="0">
              <a:off x="1883630" y="514293"/>
              <a:ext cx="2986758" cy="355600"/>
            </a:xfrm>
            <a:prstGeom prst="rect">
              <a:avLst/>
            </a:prstGeom>
          </p:spPr>
          <p:txBody>
            <a:bodyPr anchor="t" rtlCol="false" tIns="0" lIns="0" bIns="0" rIns="0">
              <a:spAutoFit/>
            </a:bodyPr>
            <a:lstStyle/>
            <a:p>
              <a:pPr algn="l">
                <a:lnSpc>
                  <a:spcPts val="2159"/>
                </a:lnSpc>
              </a:pPr>
              <a:r>
                <a:rPr lang="en-US" b="true" sz="1799" i="true">
                  <a:solidFill>
                    <a:srgbClr val="2D892C"/>
                  </a:solidFill>
                  <a:latin typeface="Inclusive Sans Bold Italics"/>
                  <a:ea typeface="Inclusive Sans Bold Italics"/>
                  <a:cs typeface="Inclusive Sans Bold Italics"/>
                  <a:sym typeface="Inclusive Sans Bold Italics"/>
                </a:rPr>
                <a:t>Deonto</a:t>
              </a:r>
              <a:r>
                <a:rPr lang="en-US" b="true" sz="1799" i="true">
                  <a:solidFill>
                    <a:srgbClr val="2D892C"/>
                  </a:solidFill>
                  <a:latin typeface="Inclusive Sans Bold Italics"/>
                  <a:ea typeface="Inclusive Sans Bold Italics"/>
                  <a:cs typeface="Inclusive Sans Bold Italics"/>
                  <a:sym typeface="Inclusive Sans Bold Italics"/>
                </a:rPr>
                <a:t>logy</a:t>
              </a:r>
            </a:p>
          </p:txBody>
        </p:sp>
        <p:sp>
          <p:nvSpPr>
            <p:cNvPr name="TextBox 31" id="31"/>
            <p:cNvSpPr txBox="true"/>
            <p:nvPr/>
          </p:nvSpPr>
          <p:spPr>
            <a:xfrm rot="0">
              <a:off x="1893338" y="1066743"/>
              <a:ext cx="4554636" cy="3763857"/>
            </a:xfrm>
            <a:prstGeom prst="rect">
              <a:avLst/>
            </a:prstGeom>
          </p:spPr>
          <p:txBody>
            <a:bodyPr anchor="t" rtlCol="false" tIns="0" lIns="0" bIns="0" rIns="0">
              <a:spAutoFit/>
            </a:bodyPr>
            <a:lstStyle/>
            <a:p>
              <a:pPr algn="l">
                <a:lnSpc>
                  <a:spcPts val="2079"/>
                </a:lnSpc>
              </a:pPr>
              <a:r>
                <a:rPr lang="en-US" sz="1599">
                  <a:solidFill>
                    <a:srgbClr val="000000"/>
                  </a:solidFill>
                  <a:latin typeface="Inclusive Sans"/>
                  <a:ea typeface="Inclusive Sans"/>
                  <a:cs typeface="Inclusive Sans"/>
                  <a:sym typeface="Inclusive Sans"/>
                </a:rPr>
                <a:t>Menilai t</a:t>
              </a:r>
              <a:r>
                <a:rPr lang="en-US" sz="1599">
                  <a:solidFill>
                    <a:srgbClr val="000000"/>
                  </a:solidFill>
                  <a:latin typeface="Inclusive Sans"/>
                  <a:ea typeface="Inclusive Sans"/>
                  <a:cs typeface="Inclusive Sans"/>
                  <a:sym typeface="Inclusive Sans"/>
                </a:rPr>
                <a:t>indakan dari kew</a:t>
              </a:r>
              <a:r>
                <a:rPr lang="en-US" sz="1599">
                  <a:solidFill>
                    <a:srgbClr val="000000"/>
                  </a:solidFill>
                  <a:latin typeface="Inclusive Sans"/>
                  <a:ea typeface="Inclusive Sans"/>
                  <a:cs typeface="Inclusive Sans"/>
                  <a:sym typeface="Inclusive Sans"/>
                </a:rPr>
                <a:t>ajiban moral dan prinsip universal.</a:t>
              </a:r>
            </a:p>
            <a:p>
              <a:pPr algn="l">
                <a:lnSpc>
                  <a:spcPts val="2079"/>
                </a:lnSpc>
              </a:pPr>
            </a:p>
            <a:p>
              <a:pPr algn="l">
                <a:lnSpc>
                  <a:spcPts val="2079"/>
                </a:lnSpc>
              </a:pPr>
              <a:r>
                <a:rPr lang="en-US" sz="1599">
                  <a:solidFill>
                    <a:srgbClr val="000000"/>
                  </a:solidFill>
                  <a:latin typeface="Inclusive Sans"/>
                  <a:ea typeface="Inclusive Sans"/>
                  <a:cs typeface="Inclusive Sans"/>
                  <a:sym typeface="Inclusive Sans"/>
                </a:rPr>
                <a:t>Relevan untuk menolak </a:t>
              </a:r>
              <a:r>
                <a:rPr lang="en-US" sz="1599" i="true">
                  <a:solidFill>
                    <a:srgbClr val="000000"/>
                  </a:solidFill>
                  <a:latin typeface="Inclusive Sans Italics"/>
                  <a:ea typeface="Inclusive Sans Italics"/>
                  <a:cs typeface="Inclusive Sans Italics"/>
                  <a:sym typeface="Inclusive Sans Italics"/>
                </a:rPr>
                <a:t>suspend</a:t>
              </a:r>
              <a:r>
                <a:rPr lang="en-US" sz="1599">
                  <a:solidFill>
                    <a:srgbClr val="000000"/>
                  </a:solidFill>
                  <a:latin typeface="Inclusive Sans"/>
                  <a:ea typeface="Inclusive Sans"/>
                  <a:cs typeface="Inclusive Sans"/>
                  <a:sym typeface="Inclusive Sans"/>
                </a:rPr>
                <a:t> sepihak, minim banding, dan </a:t>
              </a:r>
              <a:r>
                <a:rPr lang="en-US" sz="1599" i="true">
                  <a:solidFill>
                    <a:srgbClr val="000000"/>
                  </a:solidFill>
                  <a:latin typeface="Inclusive Sans Italics"/>
                  <a:ea typeface="Inclusive Sans Italics"/>
                  <a:cs typeface="Inclusive Sans Italics"/>
                  <a:sym typeface="Inclusive Sans Italics"/>
                </a:rPr>
                <a:t>dynamic pricing</a:t>
              </a:r>
              <a:r>
                <a:rPr lang="en-US" sz="1599">
                  <a:solidFill>
                    <a:srgbClr val="000000"/>
                  </a:solidFill>
                  <a:latin typeface="Inclusive Sans"/>
                  <a:ea typeface="Inclusive Sans"/>
                  <a:cs typeface="Inclusive Sans"/>
                  <a:sym typeface="Inclusive Sans"/>
                </a:rPr>
                <a:t> yang tidak transparan.</a:t>
              </a:r>
            </a:p>
            <a:p>
              <a:pPr algn="l">
                <a:lnSpc>
                  <a:spcPts val="2079"/>
                </a:lnSpc>
              </a:pPr>
            </a:p>
            <a:p>
              <a:pPr algn="l">
                <a:lnSpc>
                  <a:spcPts val="2079"/>
                </a:lnSpc>
              </a:pPr>
              <a:r>
                <a:rPr lang="en-US" sz="1599">
                  <a:solidFill>
                    <a:srgbClr val="000000"/>
                  </a:solidFill>
                  <a:latin typeface="Inclusive Sans"/>
                  <a:ea typeface="Inclusive Sans"/>
                  <a:cs typeface="Inclusive Sans"/>
                  <a:sym typeface="Inclusive Sans"/>
                </a:rPr>
                <a:t>Martabat pengemudi harus dihormati sebagai tujuan, bukan alat.</a:t>
              </a:r>
            </a:p>
          </p:txBody>
        </p:sp>
        <p:sp>
          <p:nvSpPr>
            <p:cNvPr name="TextBox 32" id="32"/>
            <p:cNvSpPr txBox="true"/>
            <p:nvPr/>
          </p:nvSpPr>
          <p:spPr>
            <a:xfrm rot="0">
              <a:off x="352424" y="1299496"/>
              <a:ext cx="904826" cy="740866"/>
            </a:xfrm>
            <a:prstGeom prst="rect">
              <a:avLst/>
            </a:prstGeom>
          </p:spPr>
          <p:txBody>
            <a:bodyPr anchor="t" rtlCol="false" tIns="0" lIns="0" bIns="0" rIns="0">
              <a:spAutoFit/>
            </a:bodyPr>
            <a:lstStyle/>
            <a:p>
              <a:pPr algn="ctr">
                <a:lnSpc>
                  <a:spcPts val="4547"/>
                </a:lnSpc>
                <a:spcBef>
                  <a:spcPct val="0"/>
                </a:spcBef>
              </a:pPr>
              <a:r>
                <a:rPr lang="en-US" b="true" sz="3498">
                  <a:solidFill>
                    <a:srgbClr val="FFFFFF"/>
                  </a:solidFill>
                  <a:latin typeface="Inclusive Sans Bold"/>
                  <a:ea typeface="Inclusive Sans Bold"/>
                  <a:cs typeface="Inclusive Sans Bold"/>
                  <a:sym typeface="Inclusive Sans Bold"/>
                </a:rPr>
                <a:t>02</a:t>
              </a:r>
            </a:p>
          </p:txBody>
        </p:sp>
      </p:grpSp>
      <p:grpSp>
        <p:nvGrpSpPr>
          <p:cNvPr name="Group 33" id="33"/>
          <p:cNvGrpSpPr/>
          <p:nvPr/>
        </p:nvGrpSpPr>
        <p:grpSpPr>
          <a:xfrm rot="0">
            <a:off x="12164713" y="4110440"/>
            <a:ext cx="5384202" cy="4008670"/>
            <a:chOff x="0" y="0"/>
            <a:chExt cx="7178936" cy="5344893"/>
          </a:xfrm>
        </p:grpSpPr>
        <p:grpSp>
          <p:nvGrpSpPr>
            <p:cNvPr name="Group 34" id="34"/>
            <p:cNvGrpSpPr/>
            <p:nvPr/>
          </p:nvGrpSpPr>
          <p:grpSpPr>
            <a:xfrm rot="0">
              <a:off x="959732" y="0"/>
              <a:ext cx="6219204" cy="5344893"/>
              <a:chOff x="0" y="0"/>
              <a:chExt cx="951960" cy="818131"/>
            </a:xfrm>
          </p:grpSpPr>
          <p:sp>
            <p:nvSpPr>
              <p:cNvPr name="Freeform 35" id="35"/>
              <p:cNvSpPr/>
              <p:nvPr/>
            </p:nvSpPr>
            <p:spPr>
              <a:xfrm flipH="false" flipV="false" rot="0">
                <a:off x="0" y="0"/>
                <a:ext cx="951960" cy="818131"/>
              </a:xfrm>
              <a:custGeom>
                <a:avLst/>
                <a:gdLst/>
                <a:ahLst/>
                <a:cxnLst/>
                <a:rect r="r" b="b" t="t" l="l"/>
                <a:pathLst>
                  <a:path h="818131" w="951960">
                    <a:moveTo>
                      <a:pt x="26557" y="0"/>
                    </a:moveTo>
                    <a:lnTo>
                      <a:pt x="925403" y="0"/>
                    </a:lnTo>
                    <a:cubicBezTo>
                      <a:pt x="932446" y="0"/>
                      <a:pt x="939201" y="2798"/>
                      <a:pt x="944182" y="7778"/>
                    </a:cubicBezTo>
                    <a:cubicBezTo>
                      <a:pt x="949162" y="12759"/>
                      <a:pt x="951960" y="19513"/>
                      <a:pt x="951960" y="26557"/>
                    </a:cubicBezTo>
                    <a:lnTo>
                      <a:pt x="951960" y="791574"/>
                    </a:lnTo>
                    <a:cubicBezTo>
                      <a:pt x="951960" y="806241"/>
                      <a:pt x="940070" y="818131"/>
                      <a:pt x="925403" y="818131"/>
                    </a:cubicBezTo>
                    <a:lnTo>
                      <a:pt x="26557" y="818131"/>
                    </a:lnTo>
                    <a:cubicBezTo>
                      <a:pt x="11890" y="818131"/>
                      <a:pt x="0" y="806241"/>
                      <a:pt x="0" y="791574"/>
                    </a:cubicBezTo>
                    <a:lnTo>
                      <a:pt x="0" y="26557"/>
                    </a:lnTo>
                    <a:cubicBezTo>
                      <a:pt x="0" y="11890"/>
                      <a:pt x="11890" y="0"/>
                      <a:pt x="26557" y="0"/>
                    </a:cubicBezTo>
                    <a:close/>
                  </a:path>
                </a:pathLst>
              </a:custGeom>
              <a:solidFill>
                <a:srgbClr val="FFFFFF"/>
              </a:solidFill>
            </p:spPr>
          </p:sp>
          <p:sp>
            <p:nvSpPr>
              <p:cNvPr name="TextBox 36" id="36"/>
              <p:cNvSpPr txBox="true"/>
              <p:nvPr/>
            </p:nvSpPr>
            <p:spPr>
              <a:xfrm>
                <a:off x="0" y="-19050"/>
                <a:ext cx="951960" cy="837181"/>
              </a:xfrm>
              <a:prstGeom prst="rect">
                <a:avLst/>
              </a:prstGeom>
            </p:spPr>
            <p:txBody>
              <a:bodyPr anchor="ctr" rtlCol="false" tIns="50800" lIns="50800" bIns="50800" rIns="50800"/>
              <a:lstStyle/>
              <a:p>
                <a:pPr algn="ctr">
                  <a:lnSpc>
                    <a:spcPts val="2339"/>
                  </a:lnSpc>
                </a:pPr>
              </a:p>
            </p:txBody>
          </p:sp>
        </p:grpSp>
        <p:sp>
          <p:nvSpPr>
            <p:cNvPr name="Freeform 37" id="37"/>
            <p:cNvSpPr/>
            <p:nvPr/>
          </p:nvSpPr>
          <p:spPr>
            <a:xfrm flipH="false" flipV="true" rot="5400000">
              <a:off x="-692924" y="842430"/>
              <a:ext cx="3020921" cy="1635074"/>
            </a:xfrm>
            <a:custGeom>
              <a:avLst/>
              <a:gdLst/>
              <a:ahLst/>
              <a:cxnLst/>
              <a:rect r="r" b="b" t="t" l="l"/>
              <a:pathLst>
                <a:path h="1635074" w="3020921">
                  <a:moveTo>
                    <a:pt x="0" y="1635073"/>
                  </a:moveTo>
                  <a:lnTo>
                    <a:pt x="3020921" y="1635073"/>
                  </a:lnTo>
                  <a:lnTo>
                    <a:pt x="3020921" y="0"/>
                  </a:lnTo>
                  <a:lnTo>
                    <a:pt x="0" y="0"/>
                  </a:lnTo>
                  <a:lnTo>
                    <a:pt x="0" y="1635073"/>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38" id="38"/>
            <p:cNvSpPr txBox="true"/>
            <p:nvPr/>
          </p:nvSpPr>
          <p:spPr>
            <a:xfrm rot="0">
              <a:off x="1883630" y="514293"/>
              <a:ext cx="2986758" cy="355600"/>
            </a:xfrm>
            <a:prstGeom prst="rect">
              <a:avLst/>
            </a:prstGeom>
          </p:spPr>
          <p:txBody>
            <a:bodyPr anchor="t" rtlCol="false" tIns="0" lIns="0" bIns="0" rIns="0">
              <a:spAutoFit/>
            </a:bodyPr>
            <a:lstStyle/>
            <a:p>
              <a:pPr algn="l">
                <a:lnSpc>
                  <a:spcPts val="2159"/>
                </a:lnSpc>
              </a:pPr>
              <a:r>
                <a:rPr lang="en-US" b="true" sz="1799" i="true">
                  <a:solidFill>
                    <a:srgbClr val="24652C"/>
                  </a:solidFill>
                  <a:latin typeface="Inclusive Sans Bold Italics"/>
                  <a:ea typeface="Inclusive Sans Bold Italics"/>
                  <a:cs typeface="Inclusive Sans Bold Italics"/>
                  <a:sym typeface="Inclusive Sans Bold Italics"/>
                </a:rPr>
                <a:t>Ethics </a:t>
              </a:r>
              <a:r>
                <a:rPr lang="en-US" b="true" sz="1799" i="true">
                  <a:solidFill>
                    <a:srgbClr val="24652C"/>
                  </a:solidFill>
                  <a:latin typeface="Inclusive Sans Bold Italics"/>
                  <a:ea typeface="Inclusive Sans Bold Italics"/>
                  <a:cs typeface="Inclusive Sans Bold Italics"/>
                  <a:sym typeface="Inclusive Sans Bold Italics"/>
                </a:rPr>
                <a:t>of Care</a:t>
              </a:r>
            </a:p>
          </p:txBody>
        </p:sp>
        <p:sp>
          <p:nvSpPr>
            <p:cNvPr name="TextBox 39" id="39"/>
            <p:cNvSpPr txBox="true"/>
            <p:nvPr/>
          </p:nvSpPr>
          <p:spPr>
            <a:xfrm rot="0">
              <a:off x="1893338" y="1066743"/>
              <a:ext cx="4554636" cy="3763857"/>
            </a:xfrm>
            <a:prstGeom prst="rect">
              <a:avLst/>
            </a:prstGeom>
          </p:spPr>
          <p:txBody>
            <a:bodyPr anchor="t" rtlCol="false" tIns="0" lIns="0" bIns="0" rIns="0">
              <a:spAutoFit/>
            </a:bodyPr>
            <a:lstStyle/>
            <a:p>
              <a:pPr algn="l">
                <a:lnSpc>
                  <a:spcPts val="2079"/>
                </a:lnSpc>
              </a:pPr>
              <a:r>
                <a:rPr lang="en-US" sz="1599">
                  <a:solidFill>
                    <a:srgbClr val="000000"/>
                  </a:solidFill>
                  <a:latin typeface="Inclusive Sans"/>
                  <a:ea typeface="Inclusive Sans"/>
                  <a:cs typeface="Inclusive Sans"/>
                  <a:sym typeface="Inclusive Sans"/>
                </a:rPr>
                <a:t>Menekankan empati, relasi, </a:t>
              </a:r>
              <a:r>
                <a:rPr lang="en-US" sz="1599">
                  <a:solidFill>
                    <a:srgbClr val="000000"/>
                  </a:solidFill>
                  <a:latin typeface="Inclusive Sans"/>
                  <a:ea typeface="Inclusive Sans"/>
                  <a:cs typeface="Inclusive Sans"/>
                  <a:sym typeface="Inclusive Sans"/>
                </a:rPr>
                <a:t>dan tanggung jaw</a:t>
              </a:r>
              <a:r>
                <a:rPr lang="en-US" sz="1599">
                  <a:solidFill>
                    <a:srgbClr val="000000"/>
                  </a:solidFill>
                  <a:latin typeface="Inclusive Sans"/>
                  <a:ea typeface="Inclusive Sans"/>
                  <a:cs typeface="Inclusive Sans"/>
                  <a:sym typeface="Inclusive Sans"/>
                </a:rPr>
                <a:t>ab terhadap pihak yang rentan.</a:t>
              </a:r>
            </a:p>
            <a:p>
              <a:pPr algn="l">
                <a:lnSpc>
                  <a:spcPts val="2079"/>
                </a:lnSpc>
              </a:pPr>
            </a:p>
            <a:p>
              <a:pPr algn="l">
                <a:lnSpc>
                  <a:spcPts val="2079"/>
                </a:lnSpc>
              </a:pPr>
              <a:r>
                <a:rPr lang="en-US" sz="1599">
                  <a:solidFill>
                    <a:srgbClr val="000000"/>
                  </a:solidFill>
                  <a:latin typeface="Inclusive Sans"/>
                  <a:ea typeface="Inclusive Sans"/>
                  <a:cs typeface="Inclusive Sans"/>
                  <a:sym typeface="Inclusive Sans"/>
                </a:rPr>
                <a:t>Sangat cocok </a:t>
              </a:r>
              <a:r>
                <a:rPr lang="en-US" sz="1599">
                  <a:solidFill>
                    <a:srgbClr val="000000"/>
                  </a:solidFill>
                  <a:latin typeface="Inclusive Sans"/>
                  <a:ea typeface="Inclusive Sans"/>
                  <a:cs typeface="Inclusive Sans"/>
                  <a:sym typeface="Inclusive Sans"/>
                </a:rPr>
                <a:t>un</a:t>
              </a:r>
              <a:r>
                <a:rPr lang="en-US" sz="1599">
                  <a:solidFill>
                    <a:srgbClr val="000000"/>
                  </a:solidFill>
                  <a:latin typeface="Inclusive Sans"/>
                  <a:ea typeface="Inclusive Sans"/>
                  <a:cs typeface="Inclusive Sans"/>
                  <a:sym typeface="Inclusive Sans"/>
                </a:rPr>
                <a:t>tuk membaca rel</a:t>
              </a:r>
              <a:r>
                <a:rPr lang="en-US" sz="1599">
                  <a:solidFill>
                    <a:srgbClr val="000000"/>
                  </a:solidFill>
                  <a:latin typeface="Inclusive Sans"/>
                  <a:ea typeface="Inclusive Sans"/>
                  <a:cs typeface="Inclusive Sans"/>
                  <a:sym typeface="Inclusive Sans"/>
                </a:rPr>
                <a:t>a</a:t>
              </a:r>
              <a:r>
                <a:rPr lang="en-US" sz="1599">
                  <a:solidFill>
                    <a:srgbClr val="000000"/>
                  </a:solidFill>
                  <a:latin typeface="Inclusive Sans"/>
                  <a:ea typeface="Inclusive Sans"/>
                  <a:cs typeface="Inclusive Sans"/>
                  <a:sym typeface="Inclusive Sans"/>
                </a:rPr>
                <a:t>s</a:t>
              </a:r>
              <a:r>
                <a:rPr lang="en-US" sz="1599">
                  <a:solidFill>
                    <a:srgbClr val="000000"/>
                  </a:solidFill>
                  <a:latin typeface="Inclusive Sans"/>
                  <a:ea typeface="Inclusive Sans"/>
                  <a:cs typeface="Inclusive Sans"/>
                  <a:sym typeface="Inclusive Sans"/>
                </a:rPr>
                <a:t>i p</a:t>
              </a:r>
              <a:r>
                <a:rPr lang="en-US" sz="1599">
                  <a:solidFill>
                    <a:srgbClr val="000000"/>
                  </a:solidFill>
                  <a:latin typeface="Inclusive Sans"/>
                  <a:ea typeface="Inclusive Sans"/>
                  <a:cs typeface="Inclusive Sans"/>
                  <a:sym typeface="Inclusive Sans"/>
                </a:rPr>
                <a:t>latfo</a:t>
              </a:r>
              <a:r>
                <a:rPr lang="en-US" sz="1599">
                  <a:solidFill>
                    <a:srgbClr val="000000"/>
                  </a:solidFill>
                  <a:latin typeface="Inclusive Sans"/>
                  <a:ea typeface="Inclusive Sans"/>
                  <a:cs typeface="Inclusive Sans"/>
                  <a:sym typeface="Inclusive Sans"/>
                </a:rPr>
                <a:t>r</a:t>
              </a:r>
              <a:r>
                <a:rPr lang="en-US" sz="1599">
                  <a:solidFill>
                    <a:srgbClr val="000000"/>
                  </a:solidFill>
                  <a:latin typeface="Inclusive Sans"/>
                  <a:ea typeface="Inclusive Sans"/>
                  <a:cs typeface="Inclusive Sans"/>
                  <a:sym typeface="Inclusive Sans"/>
                </a:rPr>
                <a:t>m–m</a:t>
              </a:r>
              <a:r>
                <a:rPr lang="en-US" sz="1599">
                  <a:solidFill>
                    <a:srgbClr val="000000"/>
                  </a:solidFill>
                  <a:latin typeface="Inclusive Sans"/>
                  <a:ea typeface="Inclusive Sans"/>
                  <a:cs typeface="Inclusive Sans"/>
                  <a:sym typeface="Inclusive Sans"/>
                </a:rPr>
                <a:t>i</a:t>
              </a:r>
              <a:r>
                <a:rPr lang="en-US" sz="1599">
                  <a:solidFill>
                    <a:srgbClr val="000000"/>
                  </a:solidFill>
                  <a:latin typeface="Inclusive Sans"/>
                  <a:ea typeface="Inclusive Sans"/>
                  <a:cs typeface="Inclusive Sans"/>
                  <a:sym typeface="Inclusive Sans"/>
                </a:rPr>
                <a:t>tra yang timpang.</a:t>
              </a:r>
            </a:p>
            <a:p>
              <a:pPr algn="l">
                <a:lnSpc>
                  <a:spcPts val="2079"/>
                </a:lnSpc>
              </a:pPr>
            </a:p>
            <a:p>
              <a:pPr algn="l">
                <a:lnSpc>
                  <a:spcPts val="2079"/>
                </a:lnSpc>
              </a:pPr>
              <a:r>
                <a:rPr lang="en-US" sz="1599">
                  <a:solidFill>
                    <a:srgbClr val="000000"/>
                  </a:solidFill>
                  <a:latin typeface="Inclusive Sans"/>
                  <a:ea typeface="Inclusive Sans"/>
                  <a:cs typeface="Inclusive Sans"/>
                  <a:sym typeface="Inclusive Sans"/>
                </a:rPr>
                <a:t>Mendorong desain sistem yang lebih manusiawi, bukan sekadar efisien.</a:t>
              </a:r>
            </a:p>
          </p:txBody>
        </p:sp>
        <p:sp>
          <p:nvSpPr>
            <p:cNvPr name="TextBox 40" id="40"/>
            <p:cNvSpPr txBox="true"/>
            <p:nvPr/>
          </p:nvSpPr>
          <p:spPr>
            <a:xfrm rot="0">
              <a:off x="352424" y="1299496"/>
              <a:ext cx="904826" cy="740866"/>
            </a:xfrm>
            <a:prstGeom prst="rect">
              <a:avLst/>
            </a:prstGeom>
          </p:spPr>
          <p:txBody>
            <a:bodyPr anchor="t" rtlCol="false" tIns="0" lIns="0" bIns="0" rIns="0">
              <a:spAutoFit/>
            </a:bodyPr>
            <a:lstStyle/>
            <a:p>
              <a:pPr algn="ctr">
                <a:lnSpc>
                  <a:spcPts val="4547"/>
                </a:lnSpc>
                <a:spcBef>
                  <a:spcPct val="0"/>
                </a:spcBef>
              </a:pPr>
              <a:r>
                <a:rPr lang="en-US" b="true" sz="3498">
                  <a:solidFill>
                    <a:srgbClr val="FFFFFF"/>
                  </a:solidFill>
                  <a:latin typeface="Inclusive Sans Bold"/>
                  <a:ea typeface="Inclusive Sans Bold"/>
                  <a:cs typeface="Inclusive Sans Bold"/>
                  <a:sym typeface="Inclusive Sans Bold"/>
                </a:rPr>
                <a:t>03</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12888" t="0" r="-12888" b="0"/>
            </a:stretch>
          </a:blipFill>
        </p:spPr>
      </p:sp>
      <p:sp>
        <p:nvSpPr>
          <p:cNvPr name="Freeform 3" id="3"/>
          <p:cNvSpPr/>
          <p:nvPr/>
        </p:nvSpPr>
        <p:spPr>
          <a:xfrm flipH="false" flipV="false" rot="-2275557">
            <a:off x="16272103" y="-634857"/>
            <a:ext cx="2782408" cy="2782408"/>
          </a:xfrm>
          <a:custGeom>
            <a:avLst/>
            <a:gdLst/>
            <a:ahLst/>
            <a:cxnLst/>
            <a:rect r="r" b="b" t="t" l="l"/>
            <a:pathLst>
              <a:path h="2782408" w="2782408">
                <a:moveTo>
                  <a:pt x="0" y="0"/>
                </a:moveTo>
                <a:lnTo>
                  <a:pt x="2782408" y="0"/>
                </a:lnTo>
                <a:lnTo>
                  <a:pt x="2782408" y="2782407"/>
                </a:lnTo>
                <a:lnTo>
                  <a:pt x="0" y="278240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5400000">
            <a:off x="-193555" y="-1077938"/>
            <a:ext cx="2012678" cy="3167067"/>
            <a:chOff x="0" y="0"/>
            <a:chExt cx="2683571" cy="4222756"/>
          </a:xfrm>
        </p:grpSpPr>
        <p:grpSp>
          <p:nvGrpSpPr>
            <p:cNvPr name="Group 5" id="5"/>
            <p:cNvGrpSpPr/>
            <p:nvPr/>
          </p:nvGrpSpPr>
          <p:grpSpPr>
            <a:xfrm rot="0">
              <a:off x="518668" y="716604"/>
              <a:ext cx="1622808" cy="3506153"/>
              <a:chOff x="0" y="0"/>
              <a:chExt cx="585263" cy="1264488"/>
            </a:xfrm>
          </p:grpSpPr>
          <p:sp>
            <p:nvSpPr>
              <p:cNvPr name="Freeform 6" id="6"/>
              <p:cNvSpPr/>
              <p:nvPr/>
            </p:nvSpPr>
            <p:spPr>
              <a:xfrm flipH="false" flipV="false" rot="0">
                <a:off x="0" y="0"/>
                <a:ext cx="585263" cy="1264488"/>
              </a:xfrm>
              <a:custGeom>
                <a:avLst/>
                <a:gdLst/>
                <a:ahLst/>
                <a:cxnLst/>
                <a:rect r="r" b="b" t="t" l="l"/>
                <a:pathLst>
                  <a:path h="1264488" w="585263">
                    <a:moveTo>
                      <a:pt x="195193" y="1245419"/>
                    </a:moveTo>
                    <a:cubicBezTo>
                      <a:pt x="225198" y="1256933"/>
                      <a:pt x="259310" y="1264488"/>
                      <a:pt x="292789" y="1264488"/>
                    </a:cubicBezTo>
                    <a:cubicBezTo>
                      <a:pt x="326269" y="1264488"/>
                      <a:pt x="358486" y="1258011"/>
                      <a:pt x="388175" y="1246497"/>
                    </a:cubicBezTo>
                    <a:cubicBezTo>
                      <a:pt x="388807" y="1246138"/>
                      <a:pt x="389438" y="1246138"/>
                      <a:pt x="390070" y="1245778"/>
                    </a:cubicBezTo>
                    <a:cubicBezTo>
                      <a:pt x="501564" y="1199723"/>
                      <a:pt x="583684" y="1078109"/>
                      <a:pt x="585263" y="925953"/>
                    </a:cubicBezTo>
                    <a:lnTo>
                      <a:pt x="585263" y="0"/>
                    </a:lnTo>
                    <a:lnTo>
                      <a:pt x="0" y="0"/>
                    </a:lnTo>
                    <a:lnTo>
                      <a:pt x="0" y="925266"/>
                    </a:lnTo>
                    <a:cubicBezTo>
                      <a:pt x="1579" y="1078828"/>
                      <a:pt x="82436" y="1200443"/>
                      <a:pt x="195193" y="1245419"/>
                    </a:cubicBezTo>
                    <a:close/>
                  </a:path>
                </a:pathLst>
              </a:custGeom>
              <a:solidFill>
                <a:srgbClr val="153930"/>
              </a:solidFill>
            </p:spPr>
          </p:sp>
          <p:sp>
            <p:nvSpPr>
              <p:cNvPr name="TextBox 7" id="7"/>
              <p:cNvSpPr txBox="true"/>
              <p:nvPr/>
            </p:nvSpPr>
            <p:spPr>
              <a:xfrm>
                <a:off x="0" y="-47625"/>
                <a:ext cx="585263" cy="1185113"/>
              </a:xfrm>
              <a:prstGeom prst="rect">
                <a:avLst/>
              </a:prstGeom>
            </p:spPr>
            <p:txBody>
              <a:bodyPr anchor="ctr" rtlCol="false" tIns="50800" lIns="50800" bIns="50800" rIns="50800"/>
              <a:lstStyle/>
              <a:p>
                <a:pPr algn="ctr">
                  <a:lnSpc>
                    <a:spcPts val="2940"/>
                  </a:lnSpc>
                </a:pPr>
              </a:p>
            </p:txBody>
          </p:sp>
        </p:grpSp>
        <p:grpSp>
          <p:nvGrpSpPr>
            <p:cNvPr name="Group 8" id="8"/>
            <p:cNvGrpSpPr/>
            <p:nvPr/>
          </p:nvGrpSpPr>
          <p:grpSpPr>
            <a:xfrm rot="0">
              <a:off x="1399414" y="1914165"/>
              <a:ext cx="1284157" cy="1425132"/>
              <a:chOff x="0" y="0"/>
              <a:chExt cx="812800" cy="902030"/>
            </a:xfrm>
          </p:grpSpPr>
          <p:sp>
            <p:nvSpPr>
              <p:cNvPr name="Freeform 9" id="9"/>
              <p:cNvSpPr/>
              <p:nvPr/>
            </p:nvSpPr>
            <p:spPr>
              <a:xfrm flipH="false" flipV="false" rot="0">
                <a:off x="0" y="0"/>
                <a:ext cx="812800" cy="902030"/>
              </a:xfrm>
              <a:custGeom>
                <a:avLst/>
                <a:gdLst/>
                <a:ahLst/>
                <a:cxnLst/>
                <a:rect r="r" b="b" t="t" l="l"/>
                <a:pathLst>
                  <a:path h="902030" w="812800">
                    <a:moveTo>
                      <a:pt x="406400" y="0"/>
                    </a:moveTo>
                    <a:cubicBezTo>
                      <a:pt x="181951" y="0"/>
                      <a:pt x="0" y="201926"/>
                      <a:pt x="0" y="451015"/>
                    </a:cubicBezTo>
                    <a:cubicBezTo>
                      <a:pt x="0" y="700103"/>
                      <a:pt x="181951" y="902030"/>
                      <a:pt x="406400" y="902030"/>
                    </a:cubicBezTo>
                    <a:cubicBezTo>
                      <a:pt x="630849" y="902030"/>
                      <a:pt x="812800" y="700103"/>
                      <a:pt x="812800" y="451015"/>
                    </a:cubicBezTo>
                    <a:cubicBezTo>
                      <a:pt x="812800" y="201926"/>
                      <a:pt x="630849" y="0"/>
                      <a:pt x="406400" y="0"/>
                    </a:cubicBezTo>
                    <a:close/>
                  </a:path>
                </a:pathLst>
              </a:custGeom>
              <a:solidFill>
                <a:srgbClr val="2D892C"/>
              </a:solidFill>
            </p:spPr>
          </p:sp>
          <p:sp>
            <p:nvSpPr>
              <p:cNvPr name="TextBox 10" id="10"/>
              <p:cNvSpPr txBox="true"/>
              <p:nvPr/>
            </p:nvSpPr>
            <p:spPr>
              <a:xfrm>
                <a:off x="76200" y="36940"/>
                <a:ext cx="660400" cy="780524"/>
              </a:xfrm>
              <a:prstGeom prst="rect">
                <a:avLst/>
              </a:prstGeom>
            </p:spPr>
            <p:txBody>
              <a:bodyPr anchor="ctr" rtlCol="false" tIns="50800" lIns="50800" bIns="50800" rIns="50800"/>
              <a:lstStyle/>
              <a:p>
                <a:pPr algn="ctr">
                  <a:lnSpc>
                    <a:spcPts val="3359"/>
                  </a:lnSpc>
                </a:pPr>
              </a:p>
            </p:txBody>
          </p:sp>
        </p:grpSp>
        <p:grpSp>
          <p:nvGrpSpPr>
            <p:cNvPr name="Group 11" id="11"/>
            <p:cNvGrpSpPr/>
            <p:nvPr/>
          </p:nvGrpSpPr>
          <p:grpSpPr>
            <a:xfrm rot="0">
              <a:off x="0" y="0"/>
              <a:ext cx="1030543" cy="2857133"/>
              <a:chOff x="0" y="0"/>
              <a:chExt cx="456090" cy="1264488"/>
            </a:xfrm>
          </p:grpSpPr>
          <p:sp>
            <p:nvSpPr>
              <p:cNvPr name="Freeform 12" id="12"/>
              <p:cNvSpPr/>
              <p:nvPr/>
            </p:nvSpPr>
            <p:spPr>
              <a:xfrm flipH="false" flipV="false" rot="0">
                <a:off x="0" y="0"/>
                <a:ext cx="456090" cy="1264488"/>
              </a:xfrm>
              <a:custGeom>
                <a:avLst/>
                <a:gdLst/>
                <a:ahLst/>
                <a:cxnLst/>
                <a:rect r="r" b="b" t="t" l="l"/>
                <a:pathLst>
                  <a:path h="1264488" w="456090">
                    <a:moveTo>
                      <a:pt x="152112" y="1245419"/>
                    </a:moveTo>
                    <a:cubicBezTo>
                      <a:pt x="175495" y="1256933"/>
                      <a:pt x="202078" y="1264488"/>
                      <a:pt x="228168" y="1264488"/>
                    </a:cubicBezTo>
                    <a:cubicBezTo>
                      <a:pt x="254259" y="1264488"/>
                      <a:pt x="279365" y="1258011"/>
                      <a:pt x="302501" y="1246497"/>
                    </a:cubicBezTo>
                    <a:cubicBezTo>
                      <a:pt x="302994" y="1246138"/>
                      <a:pt x="303486" y="1246138"/>
                      <a:pt x="303978" y="1245778"/>
                    </a:cubicBezTo>
                    <a:cubicBezTo>
                      <a:pt x="390864" y="1199723"/>
                      <a:pt x="454859" y="1078109"/>
                      <a:pt x="456090" y="925953"/>
                    </a:cubicBezTo>
                    <a:lnTo>
                      <a:pt x="456090" y="0"/>
                    </a:lnTo>
                    <a:lnTo>
                      <a:pt x="0" y="0"/>
                    </a:lnTo>
                    <a:lnTo>
                      <a:pt x="0" y="925266"/>
                    </a:lnTo>
                    <a:cubicBezTo>
                      <a:pt x="1231" y="1078828"/>
                      <a:pt x="64241" y="1200443"/>
                      <a:pt x="152112" y="1245419"/>
                    </a:cubicBezTo>
                    <a:close/>
                  </a:path>
                </a:pathLst>
              </a:custGeom>
              <a:solidFill>
                <a:srgbClr val="2D892C">
                  <a:alpha val="83922"/>
                </a:srgbClr>
              </a:solidFill>
            </p:spPr>
          </p:sp>
          <p:sp>
            <p:nvSpPr>
              <p:cNvPr name="TextBox 13" id="13"/>
              <p:cNvSpPr txBox="true"/>
              <p:nvPr/>
            </p:nvSpPr>
            <p:spPr>
              <a:xfrm>
                <a:off x="0" y="-47625"/>
                <a:ext cx="456090" cy="1185113"/>
              </a:xfrm>
              <a:prstGeom prst="rect">
                <a:avLst/>
              </a:prstGeom>
            </p:spPr>
            <p:txBody>
              <a:bodyPr anchor="ctr" rtlCol="false" tIns="50800" lIns="50800" bIns="50800" rIns="50800"/>
              <a:lstStyle/>
              <a:p>
                <a:pPr algn="ctr">
                  <a:lnSpc>
                    <a:spcPts val="2940"/>
                  </a:lnSpc>
                </a:pPr>
              </a:p>
            </p:txBody>
          </p:sp>
        </p:grpSp>
      </p:grpSp>
      <p:sp>
        <p:nvSpPr>
          <p:cNvPr name="Freeform 14" id="14"/>
          <p:cNvSpPr/>
          <p:nvPr/>
        </p:nvSpPr>
        <p:spPr>
          <a:xfrm flipH="false" flipV="false" rot="5400000">
            <a:off x="-442687" y="9438130"/>
            <a:ext cx="1697739" cy="1697739"/>
          </a:xfrm>
          <a:custGeom>
            <a:avLst/>
            <a:gdLst/>
            <a:ahLst/>
            <a:cxnLst/>
            <a:rect r="r" b="b" t="t" l="l"/>
            <a:pathLst>
              <a:path h="1697739" w="1697739">
                <a:moveTo>
                  <a:pt x="0" y="0"/>
                </a:moveTo>
                <a:lnTo>
                  <a:pt x="1697740" y="0"/>
                </a:lnTo>
                <a:lnTo>
                  <a:pt x="1697740" y="1697740"/>
                </a:lnTo>
                <a:lnTo>
                  <a:pt x="0" y="169774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5" id="15"/>
          <p:cNvGrpSpPr/>
          <p:nvPr/>
        </p:nvGrpSpPr>
        <p:grpSpPr>
          <a:xfrm rot="0">
            <a:off x="975289" y="2439517"/>
            <a:ext cx="16337423" cy="6998613"/>
            <a:chOff x="0" y="0"/>
            <a:chExt cx="21783230" cy="9331484"/>
          </a:xfrm>
        </p:grpSpPr>
        <p:grpSp>
          <p:nvGrpSpPr>
            <p:cNvPr name="Group 16" id="16"/>
            <p:cNvGrpSpPr/>
            <p:nvPr/>
          </p:nvGrpSpPr>
          <p:grpSpPr>
            <a:xfrm rot="0">
              <a:off x="5067539" y="1301017"/>
              <a:ext cx="4119523" cy="6729450"/>
              <a:chOff x="0" y="0"/>
              <a:chExt cx="813733" cy="1329274"/>
            </a:xfrm>
          </p:grpSpPr>
          <p:sp>
            <p:nvSpPr>
              <p:cNvPr name="Freeform 17" id="17"/>
              <p:cNvSpPr/>
              <p:nvPr/>
            </p:nvSpPr>
            <p:spPr>
              <a:xfrm flipH="false" flipV="false" rot="0">
                <a:off x="0" y="0"/>
                <a:ext cx="813733" cy="1329274"/>
              </a:xfrm>
              <a:custGeom>
                <a:avLst/>
                <a:gdLst/>
                <a:ahLst/>
                <a:cxnLst/>
                <a:rect r="r" b="b" t="t" l="l"/>
                <a:pathLst>
                  <a:path h="1329274" w="813733">
                    <a:moveTo>
                      <a:pt x="85196" y="0"/>
                    </a:moveTo>
                    <a:lnTo>
                      <a:pt x="728537" y="0"/>
                    </a:lnTo>
                    <a:cubicBezTo>
                      <a:pt x="775589" y="0"/>
                      <a:pt x="813733" y="38144"/>
                      <a:pt x="813733" y="85196"/>
                    </a:cubicBezTo>
                    <a:lnTo>
                      <a:pt x="813733" y="1244078"/>
                    </a:lnTo>
                    <a:cubicBezTo>
                      <a:pt x="813733" y="1266673"/>
                      <a:pt x="804757" y="1288343"/>
                      <a:pt x="788780" y="1304321"/>
                    </a:cubicBezTo>
                    <a:cubicBezTo>
                      <a:pt x="772802" y="1320298"/>
                      <a:pt x="751132" y="1329274"/>
                      <a:pt x="728537" y="1329274"/>
                    </a:cubicBezTo>
                    <a:lnTo>
                      <a:pt x="85196" y="1329274"/>
                    </a:lnTo>
                    <a:cubicBezTo>
                      <a:pt x="38144" y="1329274"/>
                      <a:pt x="0" y="1291130"/>
                      <a:pt x="0" y="1244078"/>
                    </a:cubicBezTo>
                    <a:lnTo>
                      <a:pt x="0" y="85196"/>
                    </a:lnTo>
                    <a:cubicBezTo>
                      <a:pt x="0" y="38144"/>
                      <a:pt x="38144" y="0"/>
                      <a:pt x="85196" y="0"/>
                    </a:cubicBezTo>
                    <a:close/>
                  </a:path>
                </a:pathLst>
              </a:custGeom>
              <a:solidFill>
                <a:srgbClr val="4F9C4E"/>
              </a:solidFill>
            </p:spPr>
          </p:sp>
          <p:sp>
            <p:nvSpPr>
              <p:cNvPr name="TextBox 18" id="18"/>
              <p:cNvSpPr txBox="true"/>
              <p:nvPr/>
            </p:nvSpPr>
            <p:spPr>
              <a:xfrm>
                <a:off x="0" y="-38100"/>
                <a:ext cx="813733" cy="1367374"/>
              </a:xfrm>
              <a:prstGeom prst="rect">
                <a:avLst/>
              </a:prstGeom>
            </p:spPr>
            <p:txBody>
              <a:bodyPr anchor="ctr" rtlCol="false" tIns="50800" lIns="50800" bIns="50800" rIns="50800"/>
              <a:lstStyle/>
              <a:p>
                <a:pPr algn="ctr" marL="0" indent="0" lvl="0">
                  <a:lnSpc>
                    <a:spcPts val="2520"/>
                  </a:lnSpc>
                  <a:spcBef>
                    <a:spcPct val="0"/>
                  </a:spcBef>
                </a:pPr>
              </a:p>
            </p:txBody>
          </p:sp>
        </p:grpSp>
        <p:sp>
          <p:nvSpPr>
            <p:cNvPr name="Freeform 19" id="19"/>
            <p:cNvSpPr/>
            <p:nvPr/>
          </p:nvSpPr>
          <p:spPr>
            <a:xfrm flipH="false" flipV="false" rot="-5400000">
              <a:off x="3356987" y="4168247"/>
              <a:ext cx="9331484" cy="994991"/>
            </a:xfrm>
            <a:custGeom>
              <a:avLst/>
              <a:gdLst/>
              <a:ahLst/>
              <a:cxnLst/>
              <a:rect r="r" b="b" t="t" l="l"/>
              <a:pathLst>
                <a:path h="994991" w="9331484">
                  <a:moveTo>
                    <a:pt x="0" y="0"/>
                  </a:moveTo>
                  <a:lnTo>
                    <a:pt x="9331484" y="0"/>
                  </a:lnTo>
                  <a:lnTo>
                    <a:pt x="9331484" y="994991"/>
                  </a:lnTo>
                  <a:lnTo>
                    <a:pt x="0" y="994991"/>
                  </a:lnTo>
                  <a:lnTo>
                    <a:pt x="0" y="0"/>
                  </a:lnTo>
                  <a:close/>
                </a:path>
              </a:pathLst>
            </a:custGeom>
            <a:blipFill>
              <a:blip r:embed="rId7"/>
              <a:stretch>
                <a:fillRect l="-1678" t="-11032" r="-1678" b="0"/>
              </a:stretch>
            </a:blipFill>
          </p:spPr>
        </p:sp>
        <p:sp>
          <p:nvSpPr>
            <p:cNvPr name="TextBox 20" id="20"/>
            <p:cNvSpPr txBox="true"/>
            <p:nvPr/>
          </p:nvSpPr>
          <p:spPr>
            <a:xfrm rot="5400000">
              <a:off x="6469124" y="4429840"/>
              <a:ext cx="4297318" cy="471806"/>
            </a:xfrm>
            <a:prstGeom prst="rect">
              <a:avLst/>
            </a:prstGeom>
          </p:spPr>
          <p:txBody>
            <a:bodyPr anchor="t" rtlCol="false" tIns="0" lIns="0" bIns="0" rIns="0">
              <a:spAutoFit/>
            </a:bodyPr>
            <a:lstStyle/>
            <a:p>
              <a:pPr algn="ctr" marL="0" indent="0" lvl="0">
                <a:lnSpc>
                  <a:spcPts val="2939"/>
                </a:lnSpc>
                <a:spcBef>
                  <a:spcPct val="0"/>
                </a:spcBef>
              </a:pPr>
              <a:r>
                <a:rPr lang="en-US" b="true" sz="2099">
                  <a:solidFill>
                    <a:srgbClr val="FFFFFF"/>
                  </a:solidFill>
                  <a:latin typeface="Inclusive Sans Bold"/>
                  <a:ea typeface="Inclusive Sans Bold"/>
                  <a:cs typeface="Inclusive Sans Bold"/>
                  <a:sym typeface="Inclusive Sans Bold"/>
                </a:rPr>
                <a:t>ACM — </a:t>
              </a:r>
              <a:r>
                <a:rPr lang="en-US" b="true" sz="2099" i="true">
                  <a:solidFill>
                    <a:srgbClr val="FFFFFF"/>
                  </a:solidFill>
                  <a:latin typeface="Inclusive Sans Bold Italics"/>
                  <a:ea typeface="Inclusive Sans Bold Italics"/>
                  <a:cs typeface="Inclusive Sans Bold Italics"/>
                  <a:sym typeface="Inclusive Sans Bold Italics"/>
                </a:rPr>
                <a:t>Av</a:t>
              </a:r>
              <a:r>
                <a:rPr lang="en-US" b="true" sz="2099" i="true" strike="noStrike" u="none">
                  <a:solidFill>
                    <a:srgbClr val="FFFFFF"/>
                  </a:solidFill>
                  <a:latin typeface="Inclusive Sans Bold Italics"/>
                  <a:ea typeface="Inclusive Sans Bold Italics"/>
                  <a:cs typeface="Inclusive Sans Bold Italics"/>
                  <a:sym typeface="Inclusive Sans Bold Italics"/>
                </a:rPr>
                <a:t>oid </a:t>
              </a:r>
              <a:r>
                <a:rPr lang="en-US" b="true" sz="2099" i="true" strike="noStrike" u="none">
                  <a:solidFill>
                    <a:srgbClr val="FFFFFF"/>
                  </a:solidFill>
                  <a:latin typeface="Inclusive Sans Bold Italics"/>
                  <a:ea typeface="Inclusive Sans Bold Italics"/>
                  <a:cs typeface="Inclusive Sans Bold Italics"/>
                  <a:sym typeface="Inclusive Sans Bold Italics"/>
                </a:rPr>
                <a:t>H</a:t>
              </a:r>
              <a:r>
                <a:rPr lang="en-US" b="true" sz="2099" i="true" strike="noStrike" u="none">
                  <a:solidFill>
                    <a:srgbClr val="FFFFFF"/>
                  </a:solidFill>
                  <a:latin typeface="Inclusive Sans Bold Italics"/>
                  <a:ea typeface="Inclusive Sans Bold Italics"/>
                  <a:cs typeface="Inclusive Sans Bold Italics"/>
                  <a:sym typeface="Inclusive Sans Bold Italics"/>
                </a:rPr>
                <a:t>arm</a:t>
              </a:r>
            </a:p>
          </p:txBody>
        </p:sp>
        <p:grpSp>
          <p:nvGrpSpPr>
            <p:cNvPr name="Group 21" id="21"/>
            <p:cNvGrpSpPr/>
            <p:nvPr/>
          </p:nvGrpSpPr>
          <p:grpSpPr>
            <a:xfrm rot="0">
              <a:off x="0" y="455605"/>
              <a:ext cx="8022729" cy="8420274"/>
              <a:chOff x="0" y="0"/>
              <a:chExt cx="1584737" cy="1663264"/>
            </a:xfrm>
          </p:grpSpPr>
          <p:sp>
            <p:nvSpPr>
              <p:cNvPr name="Freeform 22" id="22"/>
              <p:cNvSpPr/>
              <p:nvPr/>
            </p:nvSpPr>
            <p:spPr>
              <a:xfrm flipH="false" flipV="false" rot="0">
                <a:off x="0" y="0"/>
                <a:ext cx="1584737" cy="1663264"/>
              </a:xfrm>
              <a:custGeom>
                <a:avLst/>
                <a:gdLst/>
                <a:ahLst/>
                <a:cxnLst/>
                <a:rect r="r" b="b" t="t" l="l"/>
                <a:pathLst>
                  <a:path h="1663264" w="1584737">
                    <a:moveTo>
                      <a:pt x="43747" y="0"/>
                    </a:moveTo>
                    <a:lnTo>
                      <a:pt x="1540990" y="0"/>
                    </a:lnTo>
                    <a:cubicBezTo>
                      <a:pt x="1565151" y="0"/>
                      <a:pt x="1584737" y="19586"/>
                      <a:pt x="1584737" y="43747"/>
                    </a:cubicBezTo>
                    <a:lnTo>
                      <a:pt x="1584737" y="1619517"/>
                    </a:lnTo>
                    <a:cubicBezTo>
                      <a:pt x="1584737" y="1643678"/>
                      <a:pt x="1565151" y="1663264"/>
                      <a:pt x="1540990" y="1663264"/>
                    </a:cubicBezTo>
                    <a:lnTo>
                      <a:pt x="43747" y="1663264"/>
                    </a:lnTo>
                    <a:cubicBezTo>
                      <a:pt x="19586" y="1663264"/>
                      <a:pt x="0" y="1643678"/>
                      <a:pt x="0" y="1619517"/>
                    </a:cubicBezTo>
                    <a:lnTo>
                      <a:pt x="0" y="43747"/>
                    </a:lnTo>
                    <a:cubicBezTo>
                      <a:pt x="0" y="19586"/>
                      <a:pt x="19586" y="0"/>
                      <a:pt x="43747" y="0"/>
                    </a:cubicBezTo>
                    <a:close/>
                  </a:path>
                </a:pathLst>
              </a:custGeom>
              <a:solidFill>
                <a:srgbClr val="FFFFFF"/>
              </a:solidFill>
            </p:spPr>
          </p:sp>
          <p:sp>
            <p:nvSpPr>
              <p:cNvPr name="TextBox 23" id="23"/>
              <p:cNvSpPr txBox="true"/>
              <p:nvPr/>
            </p:nvSpPr>
            <p:spPr>
              <a:xfrm>
                <a:off x="0" y="-38100"/>
                <a:ext cx="1584737" cy="1701364"/>
              </a:xfrm>
              <a:prstGeom prst="rect">
                <a:avLst/>
              </a:prstGeom>
            </p:spPr>
            <p:txBody>
              <a:bodyPr anchor="ctr" rtlCol="false" tIns="50800" lIns="50800" bIns="50800" rIns="50800"/>
              <a:lstStyle/>
              <a:p>
                <a:pPr algn="ctr">
                  <a:lnSpc>
                    <a:spcPts val="2520"/>
                  </a:lnSpc>
                </a:pPr>
              </a:p>
            </p:txBody>
          </p:sp>
        </p:grpSp>
        <p:grpSp>
          <p:nvGrpSpPr>
            <p:cNvPr name="Group 24" id="24"/>
            <p:cNvGrpSpPr/>
            <p:nvPr/>
          </p:nvGrpSpPr>
          <p:grpSpPr>
            <a:xfrm rot="0">
              <a:off x="6714073" y="1009544"/>
              <a:ext cx="573408" cy="573408"/>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127000" y="0"/>
                    </a:moveTo>
                    <a:lnTo>
                      <a:pt x="685800" y="0"/>
                    </a:lnTo>
                    <a:cubicBezTo>
                      <a:pt x="755940" y="0"/>
                      <a:pt x="812800" y="56860"/>
                      <a:pt x="812800" y="127000"/>
                    </a:cubicBezTo>
                    <a:lnTo>
                      <a:pt x="812800" y="685800"/>
                    </a:lnTo>
                    <a:cubicBezTo>
                      <a:pt x="812800" y="755940"/>
                      <a:pt x="755940" y="812800"/>
                      <a:pt x="685800" y="812800"/>
                    </a:cubicBezTo>
                    <a:lnTo>
                      <a:pt x="127000" y="812800"/>
                    </a:lnTo>
                    <a:cubicBezTo>
                      <a:pt x="56860" y="812800"/>
                      <a:pt x="0" y="755940"/>
                      <a:pt x="0" y="685800"/>
                    </a:cubicBezTo>
                    <a:lnTo>
                      <a:pt x="0" y="127000"/>
                    </a:lnTo>
                    <a:cubicBezTo>
                      <a:pt x="0" y="56860"/>
                      <a:pt x="56860" y="0"/>
                      <a:pt x="127000" y="0"/>
                    </a:cubicBezTo>
                    <a:close/>
                  </a:path>
                </a:pathLst>
              </a:custGeom>
              <a:solidFill>
                <a:srgbClr val="4F9C4E"/>
              </a:solidFill>
            </p:spPr>
          </p:sp>
          <p:sp>
            <p:nvSpPr>
              <p:cNvPr name="TextBox 26" id="26"/>
              <p:cNvSpPr txBox="true"/>
              <p:nvPr/>
            </p:nvSpPr>
            <p:spPr>
              <a:xfrm>
                <a:off x="0" y="-28575"/>
                <a:ext cx="812800" cy="841375"/>
              </a:xfrm>
              <a:prstGeom prst="rect">
                <a:avLst/>
              </a:prstGeom>
            </p:spPr>
            <p:txBody>
              <a:bodyPr anchor="ctr" rtlCol="false" tIns="50800" lIns="50800" bIns="50800" rIns="50800"/>
              <a:lstStyle/>
              <a:p>
                <a:pPr algn="ctr">
                  <a:lnSpc>
                    <a:spcPts val="2240"/>
                  </a:lnSpc>
                </a:pPr>
                <a:r>
                  <a:rPr lang="en-US" b="true" sz="1600">
                    <a:solidFill>
                      <a:srgbClr val="FFFFFF"/>
                    </a:solidFill>
                    <a:latin typeface="Inclusive Sans Bold"/>
                    <a:ea typeface="Inclusive Sans Bold"/>
                    <a:cs typeface="Inclusive Sans Bold"/>
                    <a:sym typeface="Inclusive Sans Bold"/>
                  </a:rPr>
                  <a:t>01</a:t>
                </a:r>
              </a:p>
            </p:txBody>
          </p:sp>
        </p:grpSp>
        <p:grpSp>
          <p:nvGrpSpPr>
            <p:cNvPr name="Group 27" id="27"/>
            <p:cNvGrpSpPr/>
            <p:nvPr/>
          </p:nvGrpSpPr>
          <p:grpSpPr>
            <a:xfrm rot="0">
              <a:off x="6714073" y="3007576"/>
              <a:ext cx="573408" cy="573408"/>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127000" y="0"/>
                    </a:moveTo>
                    <a:lnTo>
                      <a:pt x="685800" y="0"/>
                    </a:lnTo>
                    <a:cubicBezTo>
                      <a:pt x="755940" y="0"/>
                      <a:pt x="812800" y="56860"/>
                      <a:pt x="812800" y="127000"/>
                    </a:cubicBezTo>
                    <a:lnTo>
                      <a:pt x="812800" y="685800"/>
                    </a:lnTo>
                    <a:cubicBezTo>
                      <a:pt x="812800" y="755940"/>
                      <a:pt x="755940" y="812800"/>
                      <a:pt x="685800" y="812800"/>
                    </a:cubicBezTo>
                    <a:lnTo>
                      <a:pt x="127000" y="812800"/>
                    </a:lnTo>
                    <a:cubicBezTo>
                      <a:pt x="56860" y="812800"/>
                      <a:pt x="0" y="755940"/>
                      <a:pt x="0" y="685800"/>
                    </a:cubicBezTo>
                    <a:lnTo>
                      <a:pt x="0" y="127000"/>
                    </a:lnTo>
                    <a:cubicBezTo>
                      <a:pt x="0" y="56860"/>
                      <a:pt x="56860" y="0"/>
                      <a:pt x="127000" y="0"/>
                    </a:cubicBezTo>
                    <a:close/>
                  </a:path>
                </a:pathLst>
              </a:custGeom>
              <a:solidFill>
                <a:srgbClr val="4F9C4E"/>
              </a:solidFill>
            </p:spPr>
          </p:sp>
          <p:sp>
            <p:nvSpPr>
              <p:cNvPr name="TextBox 29" id="29"/>
              <p:cNvSpPr txBox="true"/>
              <p:nvPr/>
            </p:nvSpPr>
            <p:spPr>
              <a:xfrm>
                <a:off x="0" y="-28575"/>
                <a:ext cx="812800" cy="841375"/>
              </a:xfrm>
              <a:prstGeom prst="rect">
                <a:avLst/>
              </a:prstGeom>
            </p:spPr>
            <p:txBody>
              <a:bodyPr anchor="ctr" rtlCol="false" tIns="50800" lIns="50800" bIns="50800" rIns="50800"/>
              <a:lstStyle/>
              <a:p>
                <a:pPr algn="ctr">
                  <a:lnSpc>
                    <a:spcPts val="2240"/>
                  </a:lnSpc>
                </a:pPr>
                <a:r>
                  <a:rPr lang="en-US" b="true" sz="1600">
                    <a:solidFill>
                      <a:srgbClr val="FFFFFF"/>
                    </a:solidFill>
                    <a:latin typeface="Inclusive Sans Bold"/>
                    <a:ea typeface="Inclusive Sans Bold"/>
                    <a:cs typeface="Inclusive Sans Bold"/>
                    <a:sym typeface="Inclusive Sans Bold"/>
                  </a:rPr>
                  <a:t>02</a:t>
                </a:r>
              </a:p>
            </p:txBody>
          </p:sp>
        </p:grpSp>
        <p:grpSp>
          <p:nvGrpSpPr>
            <p:cNvPr name="Group 30" id="30"/>
            <p:cNvGrpSpPr/>
            <p:nvPr/>
          </p:nvGrpSpPr>
          <p:grpSpPr>
            <a:xfrm rot="0">
              <a:off x="6714073" y="5005608"/>
              <a:ext cx="573408" cy="573408"/>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127000" y="0"/>
                    </a:moveTo>
                    <a:lnTo>
                      <a:pt x="685800" y="0"/>
                    </a:lnTo>
                    <a:cubicBezTo>
                      <a:pt x="755940" y="0"/>
                      <a:pt x="812800" y="56860"/>
                      <a:pt x="812800" y="127000"/>
                    </a:cubicBezTo>
                    <a:lnTo>
                      <a:pt x="812800" y="685800"/>
                    </a:lnTo>
                    <a:cubicBezTo>
                      <a:pt x="812800" y="755940"/>
                      <a:pt x="755940" y="812800"/>
                      <a:pt x="685800" y="812800"/>
                    </a:cubicBezTo>
                    <a:lnTo>
                      <a:pt x="127000" y="812800"/>
                    </a:lnTo>
                    <a:cubicBezTo>
                      <a:pt x="56860" y="812800"/>
                      <a:pt x="0" y="755940"/>
                      <a:pt x="0" y="685800"/>
                    </a:cubicBezTo>
                    <a:lnTo>
                      <a:pt x="0" y="127000"/>
                    </a:lnTo>
                    <a:cubicBezTo>
                      <a:pt x="0" y="56860"/>
                      <a:pt x="56860" y="0"/>
                      <a:pt x="127000" y="0"/>
                    </a:cubicBezTo>
                    <a:close/>
                  </a:path>
                </a:pathLst>
              </a:custGeom>
              <a:solidFill>
                <a:srgbClr val="4F9C4E"/>
              </a:solidFill>
            </p:spPr>
          </p:sp>
          <p:sp>
            <p:nvSpPr>
              <p:cNvPr name="TextBox 32" id="32"/>
              <p:cNvSpPr txBox="true"/>
              <p:nvPr/>
            </p:nvSpPr>
            <p:spPr>
              <a:xfrm>
                <a:off x="0" y="-28575"/>
                <a:ext cx="812800" cy="841375"/>
              </a:xfrm>
              <a:prstGeom prst="rect">
                <a:avLst/>
              </a:prstGeom>
            </p:spPr>
            <p:txBody>
              <a:bodyPr anchor="ctr" rtlCol="false" tIns="50800" lIns="50800" bIns="50800" rIns="50800"/>
              <a:lstStyle/>
              <a:p>
                <a:pPr algn="ctr">
                  <a:lnSpc>
                    <a:spcPts val="2240"/>
                  </a:lnSpc>
                </a:pPr>
                <a:r>
                  <a:rPr lang="en-US" b="true" sz="1600">
                    <a:solidFill>
                      <a:srgbClr val="FFFFFF"/>
                    </a:solidFill>
                    <a:latin typeface="Inclusive Sans Bold"/>
                    <a:ea typeface="Inclusive Sans Bold"/>
                    <a:cs typeface="Inclusive Sans Bold"/>
                    <a:sym typeface="Inclusive Sans Bold"/>
                  </a:rPr>
                  <a:t>03</a:t>
                </a:r>
              </a:p>
            </p:txBody>
          </p:sp>
        </p:grpSp>
        <p:sp>
          <p:nvSpPr>
            <p:cNvPr name="TextBox 33" id="33"/>
            <p:cNvSpPr txBox="true"/>
            <p:nvPr/>
          </p:nvSpPr>
          <p:spPr>
            <a:xfrm rot="0">
              <a:off x="798480" y="1453731"/>
              <a:ext cx="5577632" cy="1088813"/>
            </a:xfrm>
            <a:prstGeom prst="rect">
              <a:avLst/>
            </a:prstGeom>
          </p:spPr>
          <p:txBody>
            <a:bodyPr anchor="t" rtlCol="false" tIns="0" lIns="0" bIns="0" rIns="0">
              <a:spAutoFit/>
            </a:bodyPr>
            <a:lstStyle/>
            <a:p>
              <a:pPr algn="r" marL="0" indent="0" lvl="0">
                <a:lnSpc>
                  <a:spcPts val="2239"/>
                </a:lnSpc>
                <a:spcBef>
                  <a:spcPct val="0"/>
                </a:spcBef>
              </a:pPr>
              <a:r>
                <a:rPr lang="en-US" sz="1599">
                  <a:solidFill>
                    <a:srgbClr val="000000"/>
                  </a:solidFill>
                  <a:latin typeface="Inclusive Sans"/>
                  <a:ea typeface="Inclusive Sans"/>
                  <a:cs typeface="Inclusive Sans"/>
                  <a:sym typeface="Inclusive Sans"/>
                </a:rPr>
                <a:t>Identifikasi, cegah, dan mitigasi dampak negatif sist</a:t>
              </a:r>
              <a:r>
                <a:rPr lang="en-US" sz="1599" strike="noStrike" u="none">
                  <a:solidFill>
                    <a:srgbClr val="000000"/>
                  </a:solidFill>
                  <a:latin typeface="Inclusive Sans"/>
                  <a:ea typeface="Inclusive Sans"/>
                  <a:cs typeface="Inclusive Sans"/>
                  <a:sym typeface="Inclusive Sans"/>
                </a:rPr>
                <a:t>em teknis maupun sosial ekonomi.</a:t>
              </a:r>
            </a:p>
          </p:txBody>
        </p:sp>
        <p:sp>
          <p:nvSpPr>
            <p:cNvPr name="TextBox 34" id="34"/>
            <p:cNvSpPr txBox="true"/>
            <p:nvPr/>
          </p:nvSpPr>
          <p:spPr>
            <a:xfrm rot="0">
              <a:off x="735248" y="971444"/>
              <a:ext cx="5577632" cy="396240"/>
            </a:xfrm>
            <a:prstGeom prst="rect">
              <a:avLst/>
            </a:prstGeom>
          </p:spPr>
          <p:txBody>
            <a:bodyPr anchor="t" rtlCol="false" tIns="0" lIns="0" bIns="0" rIns="0">
              <a:spAutoFit/>
            </a:bodyPr>
            <a:lstStyle/>
            <a:p>
              <a:pPr algn="r" marL="0" indent="0" lvl="0">
                <a:lnSpc>
                  <a:spcPts val="2520"/>
                </a:lnSpc>
                <a:spcBef>
                  <a:spcPct val="0"/>
                </a:spcBef>
              </a:pPr>
              <a:r>
                <a:rPr lang="en-US" b="true" sz="1800">
                  <a:solidFill>
                    <a:srgbClr val="000000"/>
                  </a:solidFill>
                  <a:latin typeface="Inclusive Sans Bold"/>
                  <a:ea typeface="Inclusive Sans Bold"/>
                  <a:cs typeface="Inclusive Sans Bold"/>
                  <a:sym typeface="Inclusive Sans Bold"/>
                </a:rPr>
                <a:t>Avoi</a:t>
              </a:r>
              <a:r>
                <a:rPr lang="en-US" b="true" sz="1800">
                  <a:solidFill>
                    <a:srgbClr val="000000"/>
                  </a:solidFill>
                  <a:latin typeface="Inclusive Sans Bold"/>
                  <a:ea typeface="Inclusive Sans Bold"/>
                  <a:cs typeface="Inclusive Sans Bold"/>
                  <a:sym typeface="Inclusive Sans Bold"/>
                </a:rPr>
                <a:t>d Harm</a:t>
              </a:r>
            </a:p>
          </p:txBody>
        </p:sp>
        <p:sp>
          <p:nvSpPr>
            <p:cNvPr name="TextBox 35" id="35"/>
            <p:cNvSpPr txBox="true"/>
            <p:nvPr/>
          </p:nvSpPr>
          <p:spPr>
            <a:xfrm rot="0">
              <a:off x="735248" y="3451763"/>
              <a:ext cx="5640864" cy="1088813"/>
            </a:xfrm>
            <a:prstGeom prst="rect">
              <a:avLst/>
            </a:prstGeom>
          </p:spPr>
          <p:txBody>
            <a:bodyPr anchor="t" rtlCol="false" tIns="0" lIns="0" bIns="0" rIns="0">
              <a:spAutoFit/>
            </a:bodyPr>
            <a:lstStyle/>
            <a:p>
              <a:pPr algn="r" marL="0" indent="0" lvl="0">
                <a:lnSpc>
                  <a:spcPts val="2239"/>
                </a:lnSpc>
                <a:spcBef>
                  <a:spcPct val="0"/>
                </a:spcBef>
              </a:pPr>
              <a:r>
                <a:rPr lang="en-US" sz="1599">
                  <a:solidFill>
                    <a:srgbClr val="000000"/>
                  </a:solidFill>
                  <a:latin typeface="Inclusive Sans"/>
                  <a:ea typeface="Inclusive Sans"/>
                  <a:cs typeface="Inclusive Sans"/>
                  <a:sym typeface="Inclusive Sans"/>
                </a:rPr>
                <a:t>Wajib melak</a:t>
              </a:r>
              <a:r>
                <a:rPr lang="en-US" sz="1599" strike="noStrike" u="none">
                  <a:solidFill>
                    <a:srgbClr val="000000"/>
                  </a:solidFill>
                  <a:latin typeface="Inclusive Sans"/>
                  <a:ea typeface="Inclusive Sans"/>
                  <a:cs typeface="Inclusive Sans"/>
                  <a:sym typeface="Inclusive Sans"/>
                </a:rPr>
                <a:t>ukan penilaian </a:t>
              </a:r>
              <a:r>
                <a:rPr lang="en-US" sz="1599" strike="noStrike" u="none">
                  <a:solidFill>
                    <a:srgbClr val="000000"/>
                  </a:solidFill>
                  <a:latin typeface="Inclusive Sans"/>
                  <a:ea typeface="Inclusive Sans"/>
                  <a:cs typeface="Inclusive Sans"/>
                  <a:sym typeface="Inclusive Sans"/>
                </a:rPr>
                <a:t>r</a:t>
              </a:r>
              <a:r>
                <a:rPr lang="en-US" sz="1599" strike="noStrike" u="none">
                  <a:solidFill>
                    <a:srgbClr val="000000"/>
                  </a:solidFill>
                  <a:latin typeface="Inclusive Sans"/>
                  <a:ea typeface="Inclusive Sans"/>
                  <a:cs typeface="Inclusive Sans"/>
                  <a:sym typeface="Inclusive Sans"/>
                </a:rPr>
                <a:t>i</a:t>
              </a:r>
              <a:r>
                <a:rPr lang="en-US" sz="1599" strike="noStrike" u="none">
                  <a:solidFill>
                    <a:srgbClr val="000000"/>
                  </a:solidFill>
                  <a:latin typeface="Inclusive Sans"/>
                  <a:ea typeface="Inclusive Sans"/>
                  <a:cs typeface="Inclusive Sans"/>
                  <a:sym typeface="Inclusive Sans"/>
                </a:rPr>
                <a:t>s</a:t>
              </a:r>
              <a:r>
                <a:rPr lang="en-US" sz="1599" strike="noStrike" u="none">
                  <a:solidFill>
                    <a:srgbClr val="000000"/>
                  </a:solidFill>
                  <a:latin typeface="Inclusive Sans"/>
                  <a:ea typeface="Inclusive Sans"/>
                  <a:cs typeface="Inclusive Sans"/>
                  <a:sym typeface="Inclusive Sans"/>
                </a:rPr>
                <a:t>i</a:t>
              </a:r>
              <a:r>
                <a:rPr lang="en-US" sz="1599" strike="noStrike" u="none">
                  <a:solidFill>
                    <a:srgbClr val="000000"/>
                  </a:solidFill>
                  <a:latin typeface="Inclusive Sans"/>
                  <a:ea typeface="Inclusive Sans"/>
                  <a:cs typeface="Inclusive Sans"/>
                  <a:sym typeface="Inclusive Sans"/>
                </a:rPr>
                <a:t>k</a:t>
              </a:r>
              <a:r>
                <a:rPr lang="en-US" sz="1599" strike="noStrike" u="none">
                  <a:solidFill>
                    <a:srgbClr val="000000"/>
                  </a:solidFill>
                  <a:latin typeface="Inclusive Sans"/>
                  <a:ea typeface="Inclusive Sans"/>
                  <a:cs typeface="Inclusive Sans"/>
                  <a:sym typeface="Inclusive Sans"/>
                </a:rPr>
                <a:t>o komprehensif sebelum sistem diterapkan ke publik.</a:t>
              </a:r>
            </a:p>
          </p:txBody>
        </p:sp>
        <p:sp>
          <p:nvSpPr>
            <p:cNvPr name="TextBox 36" id="36"/>
            <p:cNvSpPr txBox="true"/>
            <p:nvPr/>
          </p:nvSpPr>
          <p:spPr>
            <a:xfrm rot="0">
              <a:off x="798480" y="2969476"/>
              <a:ext cx="5577632" cy="396240"/>
            </a:xfrm>
            <a:prstGeom prst="rect">
              <a:avLst/>
            </a:prstGeom>
          </p:spPr>
          <p:txBody>
            <a:bodyPr anchor="t" rtlCol="false" tIns="0" lIns="0" bIns="0" rIns="0">
              <a:spAutoFit/>
            </a:bodyPr>
            <a:lstStyle/>
            <a:p>
              <a:pPr algn="r" marL="0" indent="0" lvl="0">
                <a:lnSpc>
                  <a:spcPts val="2520"/>
                </a:lnSpc>
                <a:spcBef>
                  <a:spcPct val="0"/>
                </a:spcBef>
              </a:pPr>
              <a:r>
                <a:rPr lang="en-US" b="true" sz="1800">
                  <a:solidFill>
                    <a:srgbClr val="000000"/>
                  </a:solidFill>
                  <a:latin typeface="Inclusive Sans Bold"/>
                  <a:ea typeface="Inclusive Sans Bold"/>
                  <a:cs typeface="Inclusive Sans Bold"/>
                  <a:sym typeface="Inclusive Sans Bold"/>
                </a:rPr>
                <a:t>Evalua</a:t>
              </a:r>
              <a:r>
                <a:rPr lang="en-US" b="true" sz="1800">
                  <a:solidFill>
                    <a:srgbClr val="000000"/>
                  </a:solidFill>
                  <a:latin typeface="Inclusive Sans Bold"/>
                  <a:ea typeface="Inclusive Sans Bold"/>
                  <a:cs typeface="Inclusive Sans Bold"/>
                  <a:sym typeface="Inclusive Sans Bold"/>
                </a:rPr>
                <a:t>si Risiko</a:t>
              </a:r>
            </a:p>
          </p:txBody>
        </p:sp>
        <p:sp>
          <p:nvSpPr>
            <p:cNvPr name="TextBox 37" id="37"/>
            <p:cNvSpPr txBox="true"/>
            <p:nvPr/>
          </p:nvSpPr>
          <p:spPr>
            <a:xfrm rot="0">
              <a:off x="861712" y="5449795"/>
              <a:ext cx="5514400" cy="1088813"/>
            </a:xfrm>
            <a:prstGeom prst="rect">
              <a:avLst/>
            </a:prstGeom>
          </p:spPr>
          <p:txBody>
            <a:bodyPr anchor="t" rtlCol="false" tIns="0" lIns="0" bIns="0" rIns="0">
              <a:spAutoFit/>
            </a:bodyPr>
            <a:lstStyle/>
            <a:p>
              <a:pPr algn="r" marL="0" indent="0" lvl="0">
                <a:lnSpc>
                  <a:spcPts val="2239"/>
                </a:lnSpc>
                <a:spcBef>
                  <a:spcPct val="0"/>
                </a:spcBef>
              </a:pPr>
              <a:r>
                <a:rPr lang="en-US" sz="1599">
                  <a:solidFill>
                    <a:srgbClr val="000000"/>
                  </a:solidFill>
                  <a:latin typeface="Inclusive Sans"/>
                  <a:ea typeface="Inclusive Sans"/>
                  <a:cs typeface="Inclusive Sans"/>
                  <a:sym typeface="Inclusive Sans"/>
                </a:rPr>
                <a:t>Kep</a:t>
              </a:r>
              <a:r>
                <a:rPr lang="en-US" sz="1599" strike="noStrike" u="none">
                  <a:solidFill>
                    <a:srgbClr val="000000"/>
                  </a:solidFill>
                  <a:latin typeface="Inclusive Sans"/>
                  <a:ea typeface="Inclusive Sans"/>
                  <a:cs typeface="Inclusive Sans"/>
                  <a:sym typeface="Inclusive Sans"/>
                </a:rPr>
                <a:t>entingan publik harus ditempa</a:t>
              </a:r>
              <a:r>
                <a:rPr lang="en-US" sz="1599" strike="noStrike" u="none">
                  <a:solidFill>
                    <a:srgbClr val="000000"/>
                  </a:solidFill>
                  <a:latin typeface="Inclusive Sans"/>
                  <a:ea typeface="Inclusive Sans"/>
                  <a:cs typeface="Inclusive Sans"/>
                  <a:sym typeface="Inclusive Sans"/>
                </a:rPr>
                <a:t>tk</a:t>
              </a:r>
              <a:r>
                <a:rPr lang="en-US" sz="1599" strike="noStrike" u="none">
                  <a:solidFill>
                    <a:srgbClr val="000000"/>
                  </a:solidFill>
                  <a:latin typeface="Inclusive Sans"/>
                  <a:ea typeface="Inclusive Sans"/>
                  <a:cs typeface="Inclusive Sans"/>
                  <a:sym typeface="Inclusive Sans"/>
                </a:rPr>
                <a:t>a</a:t>
              </a:r>
              <a:r>
                <a:rPr lang="en-US" sz="1599" strike="noStrike" u="none">
                  <a:solidFill>
                    <a:srgbClr val="000000"/>
                  </a:solidFill>
                  <a:latin typeface="Inclusive Sans"/>
                  <a:ea typeface="Inclusive Sans"/>
                  <a:cs typeface="Inclusive Sans"/>
                  <a:sym typeface="Inclusive Sans"/>
                </a:rPr>
                <a:t>n d</a:t>
              </a:r>
              <a:r>
                <a:rPr lang="en-US" sz="1599" strike="noStrike" u="none">
                  <a:solidFill>
                    <a:srgbClr val="000000"/>
                  </a:solidFill>
                  <a:latin typeface="Inclusive Sans"/>
                  <a:ea typeface="Inclusive Sans"/>
                  <a:cs typeface="Inclusive Sans"/>
                  <a:sym typeface="Inclusive Sans"/>
                </a:rPr>
                <a:t>i atas ke</a:t>
              </a:r>
              <a:r>
                <a:rPr lang="en-US" sz="1599" strike="noStrike" u="none">
                  <a:solidFill>
                    <a:srgbClr val="000000"/>
                  </a:solidFill>
                  <a:latin typeface="Inclusive Sans"/>
                  <a:ea typeface="Inclusive Sans"/>
                  <a:cs typeface="Inclusive Sans"/>
                  <a:sym typeface="Inclusive Sans"/>
                </a:rPr>
                <a:t>p</a:t>
              </a:r>
              <a:r>
                <a:rPr lang="en-US" sz="1599" strike="noStrike" u="none">
                  <a:solidFill>
                    <a:srgbClr val="000000"/>
                  </a:solidFill>
                  <a:latin typeface="Inclusive Sans"/>
                  <a:ea typeface="Inclusive Sans"/>
                  <a:cs typeface="Inclusive Sans"/>
                  <a:sym typeface="Inclusive Sans"/>
                </a:rPr>
                <a:t>entingan bisnis atau pemberi </a:t>
              </a:r>
              <a:r>
                <a:rPr lang="en-US" sz="1599" strike="noStrike" u="none">
                  <a:solidFill>
                    <a:srgbClr val="000000"/>
                  </a:solidFill>
                  <a:latin typeface="Inclusive Sans"/>
                  <a:ea typeface="Inclusive Sans"/>
                  <a:cs typeface="Inclusive Sans"/>
                  <a:sym typeface="Inclusive Sans"/>
                </a:rPr>
                <a:t>k</a:t>
              </a:r>
              <a:r>
                <a:rPr lang="en-US" sz="1599" strike="noStrike" u="none">
                  <a:solidFill>
                    <a:srgbClr val="000000"/>
                  </a:solidFill>
                  <a:latin typeface="Inclusive Sans"/>
                  <a:ea typeface="Inclusive Sans"/>
                  <a:cs typeface="Inclusive Sans"/>
                  <a:sym typeface="Inclusive Sans"/>
                </a:rPr>
                <a:t>erja.</a:t>
              </a:r>
            </a:p>
          </p:txBody>
        </p:sp>
        <p:sp>
          <p:nvSpPr>
            <p:cNvPr name="TextBox 38" id="38"/>
            <p:cNvSpPr txBox="true"/>
            <p:nvPr/>
          </p:nvSpPr>
          <p:spPr>
            <a:xfrm rot="0">
              <a:off x="798480" y="4967508"/>
              <a:ext cx="5577632" cy="396240"/>
            </a:xfrm>
            <a:prstGeom prst="rect">
              <a:avLst/>
            </a:prstGeom>
          </p:spPr>
          <p:txBody>
            <a:bodyPr anchor="t" rtlCol="false" tIns="0" lIns="0" bIns="0" rIns="0">
              <a:spAutoFit/>
            </a:bodyPr>
            <a:lstStyle/>
            <a:p>
              <a:pPr algn="r" marL="0" indent="0" lvl="0">
                <a:lnSpc>
                  <a:spcPts val="2520"/>
                </a:lnSpc>
                <a:spcBef>
                  <a:spcPct val="0"/>
                </a:spcBef>
              </a:pPr>
              <a:r>
                <a:rPr lang="en-US" b="true" sz="1800">
                  <a:solidFill>
                    <a:srgbClr val="000000"/>
                  </a:solidFill>
                  <a:latin typeface="Inclusive Sans Bold"/>
                  <a:ea typeface="Inclusive Sans Bold"/>
                  <a:cs typeface="Inclusive Sans Bold"/>
                  <a:sym typeface="Inclusive Sans Bold"/>
                </a:rPr>
                <a:t>F</a:t>
              </a:r>
              <a:r>
                <a:rPr lang="en-US" b="true" sz="1800">
                  <a:solidFill>
                    <a:srgbClr val="000000"/>
                  </a:solidFill>
                  <a:latin typeface="Inclusive Sans Bold"/>
                  <a:ea typeface="Inclusive Sans Bold"/>
                  <a:cs typeface="Inclusive Sans Bold"/>
                  <a:sym typeface="Inclusive Sans Bold"/>
                </a:rPr>
                <a:t>unction Range</a:t>
              </a:r>
            </a:p>
          </p:txBody>
        </p:sp>
        <p:sp>
          <p:nvSpPr>
            <p:cNvPr name="TextBox 39" id="39"/>
            <p:cNvSpPr txBox="true"/>
            <p:nvPr/>
          </p:nvSpPr>
          <p:spPr>
            <a:xfrm rot="0">
              <a:off x="746080" y="6864827"/>
              <a:ext cx="6541402" cy="1457113"/>
            </a:xfrm>
            <a:prstGeom prst="rect">
              <a:avLst/>
            </a:prstGeom>
          </p:spPr>
          <p:txBody>
            <a:bodyPr anchor="t" rtlCol="false" tIns="0" lIns="0" bIns="0" rIns="0">
              <a:spAutoFit/>
            </a:bodyPr>
            <a:lstStyle/>
            <a:p>
              <a:pPr algn="just" marL="0" indent="0" lvl="0">
                <a:lnSpc>
                  <a:spcPts val="2239"/>
                </a:lnSpc>
                <a:spcBef>
                  <a:spcPct val="0"/>
                </a:spcBef>
              </a:pPr>
              <a:r>
                <a:rPr lang="en-US" sz="1599">
                  <a:solidFill>
                    <a:srgbClr val="000000"/>
                  </a:solidFill>
                  <a:latin typeface="Inclusive Sans"/>
                  <a:ea typeface="Inclusive Sans"/>
                  <a:cs typeface="Inclusive Sans"/>
                  <a:sym typeface="Inclusive Sans"/>
                </a:rPr>
                <a:t>Dalam kasus ojol, </a:t>
              </a:r>
              <a:r>
                <a:rPr lang="en-US" sz="1599" i="true">
                  <a:solidFill>
                    <a:srgbClr val="000000"/>
                  </a:solidFill>
                  <a:latin typeface="Inclusive Sans Italics"/>
                  <a:ea typeface="Inclusive Sans Italics"/>
                  <a:cs typeface="Inclusive Sans Italics"/>
                  <a:sym typeface="Inclusive Sans Italics"/>
                </a:rPr>
                <a:t>susp</a:t>
              </a:r>
              <a:r>
                <a:rPr lang="en-US" sz="1599" i="true" strike="noStrike" u="none">
                  <a:solidFill>
                    <a:srgbClr val="000000"/>
                  </a:solidFill>
                  <a:latin typeface="Inclusive Sans Italics"/>
                  <a:ea typeface="Inclusive Sans Italics"/>
                  <a:cs typeface="Inclusive Sans Italics"/>
                  <a:sym typeface="Inclusive Sans Italics"/>
                </a:rPr>
                <a:t>end </a:t>
              </a:r>
              <a:r>
                <a:rPr lang="en-US" sz="1599" strike="noStrike" u="none">
                  <a:solidFill>
                    <a:srgbClr val="000000"/>
                  </a:solidFill>
                  <a:latin typeface="Inclusive Sans"/>
                  <a:ea typeface="Inclusive Sans"/>
                  <a:cs typeface="Inclusive Sans"/>
                  <a:sym typeface="Inclusive Sans"/>
                </a:rPr>
                <a:t>o</a:t>
              </a:r>
              <a:r>
                <a:rPr lang="en-US" sz="1599" strike="noStrike" u="none">
                  <a:solidFill>
                    <a:srgbClr val="000000"/>
                  </a:solidFill>
                  <a:latin typeface="Inclusive Sans"/>
                  <a:ea typeface="Inclusive Sans"/>
                  <a:cs typeface="Inclusive Sans"/>
                  <a:sym typeface="Inclusive Sans"/>
                </a:rPr>
                <a:t>t</a:t>
              </a:r>
              <a:r>
                <a:rPr lang="en-US" sz="1599" strike="noStrike" u="none">
                  <a:solidFill>
                    <a:srgbClr val="000000"/>
                  </a:solidFill>
                  <a:latin typeface="Inclusive Sans"/>
                  <a:ea typeface="Inclusive Sans"/>
                  <a:cs typeface="Inclusive Sans"/>
                  <a:sym typeface="Inclusive Sans"/>
                </a:rPr>
                <a:t>omati</a:t>
              </a:r>
              <a:r>
                <a:rPr lang="en-US" sz="1599" strike="noStrike" u="none">
                  <a:solidFill>
                    <a:srgbClr val="000000"/>
                  </a:solidFill>
                  <a:latin typeface="Inclusive Sans"/>
                  <a:ea typeface="Inclusive Sans"/>
                  <a:cs typeface="Inclusive Sans"/>
                  <a:sym typeface="Inclusive Sans"/>
                </a:rPr>
                <a:t>s ta</a:t>
              </a:r>
              <a:r>
                <a:rPr lang="en-US" sz="1599" strike="noStrike" u="none">
                  <a:solidFill>
                    <a:srgbClr val="000000"/>
                  </a:solidFill>
                  <a:latin typeface="Inclusive Sans"/>
                  <a:ea typeface="Inclusive Sans"/>
                  <a:cs typeface="Inclusive Sans"/>
                  <a:sym typeface="Inclusive Sans"/>
                </a:rPr>
                <a:t>npa b</a:t>
              </a:r>
              <a:r>
                <a:rPr lang="en-US" sz="1599" strike="noStrike" u="none">
                  <a:solidFill>
                    <a:srgbClr val="000000"/>
                  </a:solidFill>
                  <a:latin typeface="Inclusive Sans"/>
                  <a:ea typeface="Inclusive Sans"/>
                  <a:cs typeface="Inclusive Sans"/>
                  <a:sym typeface="Inclusive Sans"/>
                </a:rPr>
                <a:t>a</a:t>
              </a:r>
              <a:r>
                <a:rPr lang="en-US" sz="1599" strike="noStrike" u="none">
                  <a:solidFill>
                    <a:srgbClr val="000000"/>
                  </a:solidFill>
                  <a:latin typeface="Inclusive Sans"/>
                  <a:ea typeface="Inclusive Sans"/>
                  <a:cs typeface="Inclusive Sans"/>
                  <a:sym typeface="Inclusive Sans"/>
                </a:rPr>
                <a:t>nd</a:t>
              </a:r>
              <a:r>
                <a:rPr lang="en-US" sz="1599" strike="noStrike" u="none">
                  <a:solidFill>
                    <a:srgbClr val="000000"/>
                  </a:solidFill>
                  <a:latin typeface="Inclusive Sans"/>
                  <a:ea typeface="Inclusive Sans"/>
                  <a:cs typeface="Inclusive Sans"/>
                  <a:sym typeface="Inclusive Sans"/>
                </a:rPr>
                <a:t>ing </a:t>
              </a:r>
              <a:r>
                <a:rPr lang="en-US" sz="1599" strike="noStrike" u="none">
                  <a:solidFill>
                    <a:srgbClr val="000000"/>
                  </a:solidFill>
                  <a:latin typeface="Inclusive Sans"/>
                  <a:ea typeface="Inclusive Sans"/>
                  <a:cs typeface="Inclusive Sans"/>
                  <a:sym typeface="Inclusive Sans"/>
                </a:rPr>
                <a:t>d</a:t>
              </a:r>
              <a:r>
                <a:rPr lang="en-US" sz="1599" strike="noStrike" u="none">
                  <a:solidFill>
                    <a:srgbClr val="000000"/>
                  </a:solidFill>
                  <a:latin typeface="Inclusive Sans"/>
                  <a:ea typeface="Inclusive Sans"/>
                  <a:cs typeface="Inclusive Sans"/>
                  <a:sym typeface="Inclusive Sans"/>
                </a:rPr>
                <a:t>an</a:t>
              </a:r>
              <a:r>
                <a:rPr lang="en-US" sz="1599" strike="noStrike" u="none">
                  <a:solidFill>
                    <a:srgbClr val="000000"/>
                  </a:solidFill>
                  <a:latin typeface="Inclusive Sans"/>
                  <a:ea typeface="Inclusive Sans"/>
                  <a:cs typeface="Inclusive Sans"/>
                  <a:sym typeface="Inclusive Sans"/>
                </a:rPr>
                <a:t> </a:t>
              </a:r>
              <a:r>
                <a:rPr lang="en-US" sz="1599" i="true" strike="noStrike" u="none">
                  <a:solidFill>
                    <a:srgbClr val="000000"/>
                  </a:solidFill>
                  <a:latin typeface="Inclusive Sans Italics"/>
                  <a:ea typeface="Inclusive Sans Italics"/>
                  <a:cs typeface="Inclusive Sans Italics"/>
                  <a:sym typeface="Inclusive Sans Italics"/>
                </a:rPr>
                <a:t>dynamic pricing</a:t>
              </a:r>
              <a:r>
                <a:rPr lang="en-US" sz="1599" strike="noStrike" u="none">
                  <a:solidFill>
                    <a:srgbClr val="000000"/>
                  </a:solidFill>
                  <a:latin typeface="Inclusive Sans"/>
                  <a:ea typeface="Inclusive Sans"/>
                  <a:cs typeface="Inclusive Sans"/>
                  <a:sym typeface="Inclusive Sans"/>
                </a:rPr>
                <a:t> yan</a:t>
              </a:r>
              <a:r>
                <a:rPr lang="en-US" sz="1599" strike="noStrike" u="none">
                  <a:solidFill>
                    <a:srgbClr val="000000"/>
                  </a:solidFill>
                  <a:latin typeface="Inclusive Sans"/>
                  <a:ea typeface="Inclusive Sans"/>
                  <a:cs typeface="Inclusive Sans"/>
                  <a:sym typeface="Inclusive Sans"/>
                </a:rPr>
                <a:t>g ti</a:t>
              </a:r>
              <a:r>
                <a:rPr lang="en-US" sz="1599" strike="noStrike" u="none">
                  <a:solidFill>
                    <a:srgbClr val="000000"/>
                  </a:solidFill>
                  <a:latin typeface="Inclusive Sans"/>
                  <a:ea typeface="Inclusive Sans"/>
                  <a:cs typeface="Inclusive Sans"/>
                  <a:sym typeface="Inclusive Sans"/>
                </a:rPr>
                <a:t>dak </a:t>
              </a:r>
              <a:r>
                <a:rPr lang="en-US" sz="1599" strike="noStrike" u="none">
                  <a:solidFill>
                    <a:srgbClr val="000000"/>
                  </a:solidFill>
                  <a:latin typeface="Inclusive Sans"/>
                  <a:ea typeface="Inclusive Sans"/>
                  <a:cs typeface="Inclusive Sans"/>
                  <a:sym typeface="Inclusive Sans"/>
                </a:rPr>
                <a:t>tran</a:t>
              </a:r>
              <a:r>
                <a:rPr lang="en-US" sz="1599" strike="noStrike" u="none">
                  <a:solidFill>
                    <a:srgbClr val="000000"/>
                  </a:solidFill>
                  <a:latin typeface="Inclusive Sans"/>
                  <a:ea typeface="Inclusive Sans"/>
                  <a:cs typeface="Inclusive Sans"/>
                  <a:sym typeface="Inclusive Sans"/>
                </a:rPr>
                <a:t>sparan pa</a:t>
              </a:r>
              <a:r>
                <a:rPr lang="en-US" sz="1599" strike="noStrike" u="none">
                  <a:solidFill>
                    <a:srgbClr val="000000"/>
                  </a:solidFill>
                  <a:latin typeface="Inclusive Sans"/>
                  <a:ea typeface="Inclusive Sans"/>
                  <a:cs typeface="Inclusive Sans"/>
                  <a:sym typeface="Inclusive Sans"/>
                </a:rPr>
                <a:t>tut</a:t>
              </a:r>
              <a:r>
                <a:rPr lang="en-US" sz="1599" strike="noStrike" u="none">
                  <a:solidFill>
                    <a:srgbClr val="000000"/>
                  </a:solidFill>
                  <a:latin typeface="Inclusive Sans"/>
                  <a:ea typeface="Inclusive Sans"/>
                  <a:cs typeface="Inclusive Sans"/>
                  <a:sym typeface="Inclusive Sans"/>
                </a:rPr>
                <a:t> dipertanyakan dari sisi etika pro</a:t>
              </a:r>
              <a:r>
                <a:rPr lang="en-US" sz="1599" strike="noStrike" u="none">
                  <a:solidFill>
                    <a:srgbClr val="000000"/>
                  </a:solidFill>
                  <a:latin typeface="Inclusive Sans"/>
                  <a:ea typeface="Inclusive Sans"/>
                  <a:cs typeface="Inclusive Sans"/>
                  <a:sym typeface="Inclusive Sans"/>
                </a:rPr>
                <a:t>f</a:t>
              </a:r>
              <a:r>
                <a:rPr lang="en-US" sz="1599" strike="noStrike" u="none">
                  <a:solidFill>
                    <a:srgbClr val="000000"/>
                  </a:solidFill>
                  <a:latin typeface="Inclusive Sans"/>
                  <a:ea typeface="Inclusive Sans"/>
                  <a:cs typeface="Inclusive Sans"/>
                  <a:sym typeface="Inclusive Sans"/>
                </a:rPr>
                <a:t>esi.</a:t>
              </a:r>
            </a:p>
          </p:txBody>
        </p:sp>
        <p:grpSp>
          <p:nvGrpSpPr>
            <p:cNvPr name="Group 40" id="40"/>
            <p:cNvGrpSpPr/>
            <p:nvPr/>
          </p:nvGrpSpPr>
          <p:grpSpPr>
            <a:xfrm rot="-5400000">
              <a:off x="10317295" y="3184822"/>
              <a:ext cx="1209410" cy="2961841"/>
              <a:chOff x="0" y="0"/>
              <a:chExt cx="533400" cy="1306295"/>
            </a:xfrm>
          </p:grpSpPr>
          <p:sp>
            <p:nvSpPr>
              <p:cNvPr name="Freeform 41" id="41"/>
              <p:cNvSpPr/>
              <p:nvPr/>
            </p:nvSpPr>
            <p:spPr>
              <a:xfrm flipH="false" flipV="false" rot="0">
                <a:off x="0" y="0"/>
                <a:ext cx="533400" cy="1306295"/>
              </a:xfrm>
              <a:custGeom>
                <a:avLst/>
                <a:gdLst/>
                <a:ahLst/>
                <a:cxnLst/>
                <a:rect r="r" b="b" t="t" l="l"/>
                <a:pathLst>
                  <a:path h="1306295" w="533400">
                    <a:moveTo>
                      <a:pt x="0" y="1033245"/>
                    </a:moveTo>
                    <a:lnTo>
                      <a:pt x="266700" y="1306295"/>
                    </a:lnTo>
                    <a:lnTo>
                      <a:pt x="533400" y="1033245"/>
                    </a:lnTo>
                    <a:lnTo>
                      <a:pt x="400050" y="1033245"/>
                    </a:lnTo>
                    <a:lnTo>
                      <a:pt x="400050" y="273050"/>
                    </a:lnTo>
                    <a:lnTo>
                      <a:pt x="533400" y="273050"/>
                    </a:lnTo>
                    <a:lnTo>
                      <a:pt x="266700" y="0"/>
                    </a:lnTo>
                    <a:lnTo>
                      <a:pt x="0" y="273050"/>
                    </a:lnTo>
                    <a:lnTo>
                      <a:pt x="133350" y="273050"/>
                    </a:lnTo>
                    <a:lnTo>
                      <a:pt x="133350" y="1033245"/>
                    </a:lnTo>
                    <a:lnTo>
                      <a:pt x="0" y="1033245"/>
                    </a:lnTo>
                    <a:close/>
                  </a:path>
                </a:pathLst>
              </a:custGeom>
              <a:solidFill>
                <a:srgbClr val="ECEAE3"/>
              </a:solidFill>
            </p:spPr>
          </p:sp>
          <p:sp>
            <p:nvSpPr>
              <p:cNvPr name="TextBox 42" id="42"/>
              <p:cNvSpPr txBox="true"/>
              <p:nvPr/>
            </p:nvSpPr>
            <p:spPr>
              <a:xfrm>
                <a:off x="139700" y="63500"/>
                <a:ext cx="254000" cy="1141195"/>
              </a:xfrm>
              <a:prstGeom prst="rect">
                <a:avLst/>
              </a:prstGeom>
            </p:spPr>
            <p:txBody>
              <a:bodyPr anchor="ctr" rtlCol="false" tIns="50800" lIns="50800" bIns="50800" rIns="50800"/>
              <a:lstStyle/>
              <a:p>
                <a:pPr algn="ctr">
                  <a:lnSpc>
                    <a:spcPts val="2520"/>
                  </a:lnSpc>
                </a:pPr>
              </a:p>
            </p:txBody>
          </p:sp>
        </p:grpSp>
        <p:grpSp>
          <p:nvGrpSpPr>
            <p:cNvPr name="Group 43" id="43"/>
            <p:cNvGrpSpPr/>
            <p:nvPr/>
          </p:nvGrpSpPr>
          <p:grpSpPr>
            <a:xfrm rot="-10800000">
              <a:off x="12656921" y="1301017"/>
              <a:ext cx="4119523" cy="6729450"/>
              <a:chOff x="0" y="0"/>
              <a:chExt cx="813733" cy="1329274"/>
            </a:xfrm>
          </p:grpSpPr>
          <p:sp>
            <p:nvSpPr>
              <p:cNvPr name="Freeform 44" id="44"/>
              <p:cNvSpPr/>
              <p:nvPr/>
            </p:nvSpPr>
            <p:spPr>
              <a:xfrm flipH="false" flipV="false" rot="0">
                <a:off x="0" y="0"/>
                <a:ext cx="813733" cy="1329274"/>
              </a:xfrm>
              <a:custGeom>
                <a:avLst/>
                <a:gdLst/>
                <a:ahLst/>
                <a:cxnLst/>
                <a:rect r="r" b="b" t="t" l="l"/>
                <a:pathLst>
                  <a:path h="1329274" w="813733">
                    <a:moveTo>
                      <a:pt x="85196" y="0"/>
                    </a:moveTo>
                    <a:lnTo>
                      <a:pt x="728537" y="0"/>
                    </a:lnTo>
                    <a:cubicBezTo>
                      <a:pt x="775589" y="0"/>
                      <a:pt x="813733" y="38144"/>
                      <a:pt x="813733" y="85196"/>
                    </a:cubicBezTo>
                    <a:lnTo>
                      <a:pt x="813733" y="1244078"/>
                    </a:lnTo>
                    <a:cubicBezTo>
                      <a:pt x="813733" y="1266673"/>
                      <a:pt x="804757" y="1288343"/>
                      <a:pt x="788780" y="1304321"/>
                    </a:cubicBezTo>
                    <a:cubicBezTo>
                      <a:pt x="772802" y="1320298"/>
                      <a:pt x="751132" y="1329274"/>
                      <a:pt x="728537" y="1329274"/>
                    </a:cubicBezTo>
                    <a:lnTo>
                      <a:pt x="85196" y="1329274"/>
                    </a:lnTo>
                    <a:cubicBezTo>
                      <a:pt x="38144" y="1329274"/>
                      <a:pt x="0" y="1291130"/>
                      <a:pt x="0" y="1244078"/>
                    </a:cubicBezTo>
                    <a:lnTo>
                      <a:pt x="0" y="85196"/>
                    </a:lnTo>
                    <a:cubicBezTo>
                      <a:pt x="0" y="38144"/>
                      <a:pt x="38144" y="0"/>
                      <a:pt x="85196" y="0"/>
                    </a:cubicBezTo>
                    <a:close/>
                  </a:path>
                </a:pathLst>
              </a:custGeom>
              <a:solidFill>
                <a:srgbClr val="153930"/>
              </a:solidFill>
            </p:spPr>
          </p:sp>
          <p:sp>
            <p:nvSpPr>
              <p:cNvPr name="TextBox 45" id="45"/>
              <p:cNvSpPr txBox="true"/>
              <p:nvPr/>
            </p:nvSpPr>
            <p:spPr>
              <a:xfrm>
                <a:off x="0" y="-38100"/>
                <a:ext cx="813733" cy="1367374"/>
              </a:xfrm>
              <a:prstGeom prst="rect">
                <a:avLst/>
              </a:prstGeom>
            </p:spPr>
            <p:txBody>
              <a:bodyPr anchor="ctr" rtlCol="false" tIns="50800" lIns="50800" bIns="50800" rIns="50800"/>
              <a:lstStyle/>
              <a:p>
                <a:pPr algn="ctr" marL="0" indent="0" lvl="0">
                  <a:lnSpc>
                    <a:spcPts val="2520"/>
                  </a:lnSpc>
                  <a:spcBef>
                    <a:spcPct val="0"/>
                  </a:spcBef>
                </a:pPr>
              </a:p>
            </p:txBody>
          </p:sp>
        </p:grpSp>
        <p:sp>
          <p:nvSpPr>
            <p:cNvPr name="Freeform 46" id="46"/>
            <p:cNvSpPr/>
            <p:nvPr/>
          </p:nvSpPr>
          <p:spPr>
            <a:xfrm flipH="false" flipV="false" rot="5400000">
              <a:off x="9155511" y="4168247"/>
              <a:ext cx="9331484" cy="994991"/>
            </a:xfrm>
            <a:custGeom>
              <a:avLst/>
              <a:gdLst/>
              <a:ahLst/>
              <a:cxnLst/>
              <a:rect r="r" b="b" t="t" l="l"/>
              <a:pathLst>
                <a:path h="994991" w="9331484">
                  <a:moveTo>
                    <a:pt x="0" y="0"/>
                  </a:moveTo>
                  <a:lnTo>
                    <a:pt x="9331485" y="0"/>
                  </a:lnTo>
                  <a:lnTo>
                    <a:pt x="9331485" y="994991"/>
                  </a:lnTo>
                  <a:lnTo>
                    <a:pt x="0" y="994991"/>
                  </a:lnTo>
                  <a:lnTo>
                    <a:pt x="0" y="0"/>
                  </a:lnTo>
                  <a:close/>
                </a:path>
              </a:pathLst>
            </a:custGeom>
            <a:blipFill>
              <a:blip r:embed="rId7"/>
              <a:stretch>
                <a:fillRect l="-1678" t="-11032" r="-1678" b="0"/>
              </a:stretch>
            </a:blipFill>
          </p:spPr>
        </p:sp>
        <p:sp>
          <p:nvSpPr>
            <p:cNvPr name="TextBox 47" id="47"/>
            <p:cNvSpPr txBox="true"/>
            <p:nvPr/>
          </p:nvSpPr>
          <p:spPr>
            <a:xfrm rot="-5400000">
              <a:off x="10555426" y="4429840"/>
              <a:ext cx="5341546" cy="471806"/>
            </a:xfrm>
            <a:prstGeom prst="rect">
              <a:avLst/>
            </a:prstGeom>
          </p:spPr>
          <p:txBody>
            <a:bodyPr anchor="t" rtlCol="false" tIns="0" lIns="0" bIns="0" rIns="0">
              <a:spAutoFit/>
            </a:bodyPr>
            <a:lstStyle/>
            <a:p>
              <a:pPr algn="ctr" marL="0" indent="0" lvl="0">
                <a:lnSpc>
                  <a:spcPts val="2939"/>
                </a:lnSpc>
                <a:spcBef>
                  <a:spcPct val="0"/>
                </a:spcBef>
              </a:pPr>
              <a:r>
                <a:rPr lang="en-US" b="true" sz="2099">
                  <a:solidFill>
                    <a:srgbClr val="FFFFFF"/>
                  </a:solidFill>
                  <a:latin typeface="Inclusive Sans Bold"/>
                  <a:ea typeface="Inclusive Sans Bold"/>
                  <a:cs typeface="Inclusive Sans Bold"/>
                  <a:sym typeface="Inclusive Sans Bold"/>
                </a:rPr>
                <a:t>IEEE —</a:t>
              </a:r>
              <a:r>
                <a:rPr lang="en-US" b="true" sz="2099" strike="noStrike" u="none">
                  <a:solidFill>
                    <a:srgbClr val="FFFFFF"/>
                  </a:solidFill>
                  <a:latin typeface="Inclusive Sans Bold"/>
                  <a:ea typeface="Inclusive Sans Bold"/>
                  <a:cs typeface="Inclusive Sans Bold"/>
                  <a:sym typeface="Inclusive Sans Bold"/>
                </a:rPr>
                <a:t> </a:t>
              </a:r>
              <a:r>
                <a:rPr lang="en-US" b="true" sz="2099" strike="noStrike" u="none">
                  <a:solidFill>
                    <a:srgbClr val="FFFFFF"/>
                  </a:solidFill>
                  <a:latin typeface="Inclusive Sans Bold"/>
                  <a:ea typeface="Inclusive Sans Bold"/>
                  <a:cs typeface="Inclusive Sans Bold"/>
                  <a:sym typeface="Inclusive Sans Bold"/>
                </a:rPr>
                <a:t>Kes</a:t>
              </a:r>
              <a:r>
                <a:rPr lang="en-US" b="true" sz="2099" strike="noStrike" u="none">
                  <a:solidFill>
                    <a:srgbClr val="FFFFFF"/>
                  </a:solidFill>
                  <a:latin typeface="Inclusive Sans Bold"/>
                  <a:ea typeface="Inclusive Sans Bold"/>
                  <a:cs typeface="Inclusive Sans Bold"/>
                  <a:sym typeface="Inclusive Sans Bold"/>
                </a:rPr>
                <a:t>e</a:t>
              </a:r>
              <a:r>
                <a:rPr lang="en-US" b="true" sz="2099" strike="noStrike" u="none">
                  <a:solidFill>
                    <a:srgbClr val="FFFFFF"/>
                  </a:solidFill>
                  <a:latin typeface="Inclusive Sans Bold"/>
                  <a:ea typeface="Inclusive Sans Bold"/>
                  <a:cs typeface="Inclusive Sans Bold"/>
                  <a:sym typeface="Inclusive Sans Bold"/>
                </a:rPr>
                <a:t>j</a:t>
              </a:r>
              <a:r>
                <a:rPr lang="en-US" b="true" sz="2099" strike="noStrike" u="none">
                  <a:solidFill>
                    <a:srgbClr val="FFFFFF"/>
                  </a:solidFill>
                  <a:latin typeface="Inclusive Sans Bold"/>
                  <a:ea typeface="Inclusive Sans Bold"/>
                  <a:cs typeface="Inclusive Sans Bold"/>
                  <a:sym typeface="Inclusive Sans Bold"/>
                </a:rPr>
                <a:t>a</a:t>
              </a:r>
              <a:r>
                <a:rPr lang="en-US" b="true" sz="2099" strike="noStrike" u="none">
                  <a:solidFill>
                    <a:srgbClr val="FFFFFF"/>
                  </a:solidFill>
                  <a:latin typeface="Inclusive Sans Bold"/>
                  <a:ea typeface="Inclusive Sans Bold"/>
                  <a:cs typeface="Inclusive Sans Bold"/>
                  <a:sym typeface="Inclusive Sans Bold"/>
                </a:rPr>
                <a:t>h</a:t>
              </a:r>
              <a:r>
                <a:rPr lang="en-US" b="true" sz="2099" strike="noStrike" u="none">
                  <a:solidFill>
                    <a:srgbClr val="FFFFFF"/>
                  </a:solidFill>
                  <a:latin typeface="Inclusive Sans Bold"/>
                  <a:ea typeface="Inclusive Sans Bold"/>
                  <a:cs typeface="Inclusive Sans Bold"/>
                  <a:sym typeface="Inclusive Sans Bold"/>
                </a:rPr>
                <a:t>t</a:t>
              </a:r>
              <a:r>
                <a:rPr lang="en-US" b="true" sz="2099" strike="noStrike" u="none">
                  <a:solidFill>
                    <a:srgbClr val="FFFFFF"/>
                  </a:solidFill>
                  <a:latin typeface="Inclusive Sans Bold"/>
                  <a:ea typeface="Inclusive Sans Bold"/>
                  <a:cs typeface="Inclusive Sans Bold"/>
                  <a:sym typeface="Inclusive Sans Bold"/>
                </a:rPr>
                <a:t>eraan P</a:t>
              </a:r>
              <a:r>
                <a:rPr lang="en-US" b="true" sz="2099" strike="noStrike" u="none">
                  <a:solidFill>
                    <a:srgbClr val="FFFFFF"/>
                  </a:solidFill>
                  <a:latin typeface="Inclusive Sans Bold"/>
                  <a:ea typeface="Inclusive Sans Bold"/>
                  <a:cs typeface="Inclusive Sans Bold"/>
                  <a:sym typeface="Inclusive Sans Bold"/>
                </a:rPr>
                <a:t>u</a:t>
              </a:r>
              <a:r>
                <a:rPr lang="en-US" b="true" sz="2099" strike="noStrike" u="none">
                  <a:solidFill>
                    <a:srgbClr val="FFFFFF"/>
                  </a:solidFill>
                  <a:latin typeface="Inclusive Sans Bold"/>
                  <a:ea typeface="Inclusive Sans Bold"/>
                  <a:cs typeface="Inclusive Sans Bold"/>
                  <a:sym typeface="Inclusive Sans Bold"/>
                </a:rPr>
                <a:t>blik</a:t>
              </a:r>
            </a:p>
          </p:txBody>
        </p:sp>
        <p:grpSp>
          <p:nvGrpSpPr>
            <p:cNvPr name="Group 48" id="48"/>
            <p:cNvGrpSpPr/>
            <p:nvPr/>
          </p:nvGrpSpPr>
          <p:grpSpPr>
            <a:xfrm rot="0">
              <a:off x="13760501" y="455605"/>
              <a:ext cx="8022729" cy="8420274"/>
              <a:chOff x="0" y="0"/>
              <a:chExt cx="1584737" cy="1663264"/>
            </a:xfrm>
          </p:grpSpPr>
          <p:sp>
            <p:nvSpPr>
              <p:cNvPr name="Freeform 49" id="49"/>
              <p:cNvSpPr/>
              <p:nvPr/>
            </p:nvSpPr>
            <p:spPr>
              <a:xfrm flipH="false" flipV="false" rot="0">
                <a:off x="0" y="0"/>
                <a:ext cx="1584737" cy="1663264"/>
              </a:xfrm>
              <a:custGeom>
                <a:avLst/>
                <a:gdLst/>
                <a:ahLst/>
                <a:cxnLst/>
                <a:rect r="r" b="b" t="t" l="l"/>
                <a:pathLst>
                  <a:path h="1663264" w="1584737">
                    <a:moveTo>
                      <a:pt x="43747" y="0"/>
                    </a:moveTo>
                    <a:lnTo>
                      <a:pt x="1540990" y="0"/>
                    </a:lnTo>
                    <a:cubicBezTo>
                      <a:pt x="1565151" y="0"/>
                      <a:pt x="1584737" y="19586"/>
                      <a:pt x="1584737" y="43747"/>
                    </a:cubicBezTo>
                    <a:lnTo>
                      <a:pt x="1584737" y="1619517"/>
                    </a:lnTo>
                    <a:cubicBezTo>
                      <a:pt x="1584737" y="1643678"/>
                      <a:pt x="1565151" y="1663264"/>
                      <a:pt x="1540990" y="1663264"/>
                    </a:cubicBezTo>
                    <a:lnTo>
                      <a:pt x="43747" y="1663264"/>
                    </a:lnTo>
                    <a:cubicBezTo>
                      <a:pt x="19586" y="1663264"/>
                      <a:pt x="0" y="1643678"/>
                      <a:pt x="0" y="1619517"/>
                    </a:cubicBezTo>
                    <a:lnTo>
                      <a:pt x="0" y="43747"/>
                    </a:lnTo>
                    <a:cubicBezTo>
                      <a:pt x="0" y="19586"/>
                      <a:pt x="19586" y="0"/>
                      <a:pt x="43747" y="0"/>
                    </a:cubicBezTo>
                    <a:close/>
                  </a:path>
                </a:pathLst>
              </a:custGeom>
              <a:solidFill>
                <a:srgbClr val="FFFFFF"/>
              </a:solidFill>
            </p:spPr>
          </p:sp>
          <p:sp>
            <p:nvSpPr>
              <p:cNvPr name="TextBox 50" id="50"/>
              <p:cNvSpPr txBox="true"/>
              <p:nvPr/>
            </p:nvSpPr>
            <p:spPr>
              <a:xfrm>
                <a:off x="0" y="-38100"/>
                <a:ext cx="1584737" cy="1701364"/>
              </a:xfrm>
              <a:prstGeom prst="rect">
                <a:avLst/>
              </a:prstGeom>
            </p:spPr>
            <p:txBody>
              <a:bodyPr anchor="ctr" rtlCol="false" tIns="50800" lIns="50800" bIns="50800" rIns="50800"/>
              <a:lstStyle/>
              <a:p>
                <a:pPr algn="ctr">
                  <a:lnSpc>
                    <a:spcPts val="2520"/>
                  </a:lnSpc>
                </a:pPr>
              </a:p>
            </p:txBody>
          </p:sp>
        </p:grpSp>
        <p:grpSp>
          <p:nvGrpSpPr>
            <p:cNvPr name="Group 51" id="51"/>
            <p:cNvGrpSpPr/>
            <p:nvPr/>
          </p:nvGrpSpPr>
          <p:grpSpPr>
            <a:xfrm rot="0">
              <a:off x="14495749" y="1009544"/>
              <a:ext cx="573408" cy="573408"/>
              <a:chOff x="0" y="0"/>
              <a:chExt cx="812800" cy="812800"/>
            </a:xfrm>
          </p:grpSpPr>
          <p:sp>
            <p:nvSpPr>
              <p:cNvPr name="Freeform 52" id="52"/>
              <p:cNvSpPr/>
              <p:nvPr/>
            </p:nvSpPr>
            <p:spPr>
              <a:xfrm flipH="false" flipV="false" rot="0">
                <a:off x="0" y="0"/>
                <a:ext cx="812800" cy="812800"/>
              </a:xfrm>
              <a:custGeom>
                <a:avLst/>
                <a:gdLst/>
                <a:ahLst/>
                <a:cxnLst/>
                <a:rect r="r" b="b" t="t" l="l"/>
                <a:pathLst>
                  <a:path h="812800" w="812800">
                    <a:moveTo>
                      <a:pt x="127000" y="0"/>
                    </a:moveTo>
                    <a:lnTo>
                      <a:pt x="685800" y="0"/>
                    </a:lnTo>
                    <a:cubicBezTo>
                      <a:pt x="755940" y="0"/>
                      <a:pt x="812800" y="56860"/>
                      <a:pt x="812800" y="127000"/>
                    </a:cubicBezTo>
                    <a:lnTo>
                      <a:pt x="812800" y="685800"/>
                    </a:lnTo>
                    <a:cubicBezTo>
                      <a:pt x="812800" y="755940"/>
                      <a:pt x="755940" y="812800"/>
                      <a:pt x="685800" y="812800"/>
                    </a:cubicBezTo>
                    <a:lnTo>
                      <a:pt x="127000" y="812800"/>
                    </a:lnTo>
                    <a:cubicBezTo>
                      <a:pt x="56860" y="812800"/>
                      <a:pt x="0" y="755940"/>
                      <a:pt x="0" y="685800"/>
                    </a:cubicBezTo>
                    <a:lnTo>
                      <a:pt x="0" y="127000"/>
                    </a:lnTo>
                    <a:cubicBezTo>
                      <a:pt x="0" y="56860"/>
                      <a:pt x="56860" y="0"/>
                      <a:pt x="127000" y="0"/>
                    </a:cubicBezTo>
                    <a:close/>
                  </a:path>
                </a:pathLst>
              </a:custGeom>
              <a:solidFill>
                <a:srgbClr val="153930"/>
              </a:solidFill>
            </p:spPr>
          </p:sp>
          <p:sp>
            <p:nvSpPr>
              <p:cNvPr name="TextBox 53" id="53"/>
              <p:cNvSpPr txBox="true"/>
              <p:nvPr/>
            </p:nvSpPr>
            <p:spPr>
              <a:xfrm>
                <a:off x="0" y="-28575"/>
                <a:ext cx="812800" cy="841375"/>
              </a:xfrm>
              <a:prstGeom prst="rect">
                <a:avLst/>
              </a:prstGeom>
            </p:spPr>
            <p:txBody>
              <a:bodyPr anchor="ctr" rtlCol="false" tIns="50800" lIns="50800" bIns="50800" rIns="50800"/>
              <a:lstStyle/>
              <a:p>
                <a:pPr algn="ctr">
                  <a:lnSpc>
                    <a:spcPts val="2240"/>
                  </a:lnSpc>
                </a:pPr>
                <a:r>
                  <a:rPr lang="en-US" b="true" sz="1600">
                    <a:solidFill>
                      <a:srgbClr val="FFFFFF"/>
                    </a:solidFill>
                    <a:latin typeface="Inclusive Sans Bold"/>
                    <a:ea typeface="Inclusive Sans Bold"/>
                    <a:cs typeface="Inclusive Sans Bold"/>
                    <a:sym typeface="Inclusive Sans Bold"/>
                  </a:rPr>
                  <a:t>01</a:t>
                </a:r>
              </a:p>
            </p:txBody>
          </p:sp>
        </p:grpSp>
        <p:sp>
          <p:nvSpPr>
            <p:cNvPr name="TextBox 54" id="54"/>
            <p:cNvSpPr txBox="true"/>
            <p:nvPr/>
          </p:nvSpPr>
          <p:spPr>
            <a:xfrm rot="0">
              <a:off x="15407118" y="1453731"/>
              <a:ext cx="5577632" cy="1088813"/>
            </a:xfrm>
            <a:prstGeom prst="rect">
              <a:avLst/>
            </a:prstGeom>
          </p:spPr>
          <p:txBody>
            <a:bodyPr anchor="t" rtlCol="false" tIns="0" lIns="0" bIns="0" rIns="0">
              <a:spAutoFit/>
            </a:bodyPr>
            <a:lstStyle/>
            <a:p>
              <a:pPr algn="just" marL="0" indent="0" lvl="0">
                <a:lnSpc>
                  <a:spcPts val="2239"/>
                </a:lnSpc>
                <a:spcBef>
                  <a:spcPct val="0"/>
                </a:spcBef>
              </a:pPr>
              <a:r>
                <a:rPr lang="en-US" sz="1599">
                  <a:solidFill>
                    <a:srgbClr val="000000"/>
                  </a:solidFill>
                  <a:latin typeface="Inclusive Sans"/>
                  <a:ea typeface="Inclusive Sans"/>
                  <a:cs typeface="Inclusive Sans"/>
                  <a:sym typeface="Inclusive Sans"/>
                </a:rPr>
                <a:t>Utamakan keselamatan, kesehatan, dan kesejahteraan publik dalam setiap k</a:t>
              </a:r>
              <a:r>
                <a:rPr lang="en-US" sz="1599" strike="noStrike" u="none">
                  <a:solidFill>
                    <a:srgbClr val="000000"/>
                  </a:solidFill>
                  <a:latin typeface="Inclusive Sans"/>
                  <a:ea typeface="Inclusive Sans"/>
                  <a:cs typeface="Inclusive Sans"/>
                  <a:sym typeface="Inclusive Sans"/>
                </a:rPr>
                <a:t>eputusan profesional.</a:t>
              </a:r>
            </a:p>
          </p:txBody>
        </p:sp>
        <p:sp>
          <p:nvSpPr>
            <p:cNvPr name="TextBox 55" id="55"/>
            <p:cNvSpPr txBox="true"/>
            <p:nvPr/>
          </p:nvSpPr>
          <p:spPr>
            <a:xfrm rot="0">
              <a:off x="15407118" y="971444"/>
              <a:ext cx="5577632" cy="396240"/>
            </a:xfrm>
            <a:prstGeom prst="rect">
              <a:avLst/>
            </a:prstGeom>
          </p:spPr>
          <p:txBody>
            <a:bodyPr anchor="t" rtlCol="false" tIns="0" lIns="0" bIns="0" rIns="0">
              <a:spAutoFit/>
            </a:bodyPr>
            <a:lstStyle/>
            <a:p>
              <a:pPr algn="just" marL="0" indent="0" lvl="0">
                <a:lnSpc>
                  <a:spcPts val="2520"/>
                </a:lnSpc>
                <a:spcBef>
                  <a:spcPct val="0"/>
                </a:spcBef>
              </a:pPr>
              <a:r>
                <a:rPr lang="en-US" b="true" sz="1800">
                  <a:solidFill>
                    <a:srgbClr val="000000"/>
                  </a:solidFill>
                  <a:latin typeface="Inclusive Sans Bold"/>
                  <a:ea typeface="Inclusive Sans Bold"/>
                  <a:cs typeface="Inclusive Sans Bold"/>
                  <a:sym typeface="Inclusive Sans Bold"/>
                </a:rPr>
                <a:t>Keselamatan &amp;</a:t>
              </a:r>
              <a:r>
                <a:rPr lang="en-US" b="true" sz="1800">
                  <a:solidFill>
                    <a:srgbClr val="000000"/>
                  </a:solidFill>
                  <a:latin typeface="Inclusive Sans Bold"/>
                  <a:ea typeface="Inclusive Sans Bold"/>
                  <a:cs typeface="Inclusive Sans Bold"/>
                  <a:sym typeface="Inclusive Sans Bold"/>
                </a:rPr>
                <a:t> Kesehatan</a:t>
              </a:r>
            </a:p>
          </p:txBody>
        </p:sp>
        <p:grpSp>
          <p:nvGrpSpPr>
            <p:cNvPr name="Group 56" id="56"/>
            <p:cNvGrpSpPr/>
            <p:nvPr/>
          </p:nvGrpSpPr>
          <p:grpSpPr>
            <a:xfrm rot="0">
              <a:off x="14495749" y="3191726"/>
              <a:ext cx="573408" cy="573408"/>
              <a:chOff x="0" y="0"/>
              <a:chExt cx="812800" cy="812800"/>
            </a:xfrm>
          </p:grpSpPr>
          <p:sp>
            <p:nvSpPr>
              <p:cNvPr name="Freeform 57" id="57"/>
              <p:cNvSpPr/>
              <p:nvPr/>
            </p:nvSpPr>
            <p:spPr>
              <a:xfrm flipH="false" flipV="false" rot="0">
                <a:off x="0" y="0"/>
                <a:ext cx="812800" cy="812800"/>
              </a:xfrm>
              <a:custGeom>
                <a:avLst/>
                <a:gdLst/>
                <a:ahLst/>
                <a:cxnLst/>
                <a:rect r="r" b="b" t="t" l="l"/>
                <a:pathLst>
                  <a:path h="812800" w="812800">
                    <a:moveTo>
                      <a:pt x="127000" y="0"/>
                    </a:moveTo>
                    <a:lnTo>
                      <a:pt x="685800" y="0"/>
                    </a:lnTo>
                    <a:cubicBezTo>
                      <a:pt x="755940" y="0"/>
                      <a:pt x="812800" y="56860"/>
                      <a:pt x="812800" y="127000"/>
                    </a:cubicBezTo>
                    <a:lnTo>
                      <a:pt x="812800" y="685800"/>
                    </a:lnTo>
                    <a:cubicBezTo>
                      <a:pt x="812800" y="755940"/>
                      <a:pt x="755940" y="812800"/>
                      <a:pt x="685800" y="812800"/>
                    </a:cubicBezTo>
                    <a:lnTo>
                      <a:pt x="127000" y="812800"/>
                    </a:lnTo>
                    <a:cubicBezTo>
                      <a:pt x="56860" y="812800"/>
                      <a:pt x="0" y="755940"/>
                      <a:pt x="0" y="685800"/>
                    </a:cubicBezTo>
                    <a:lnTo>
                      <a:pt x="0" y="127000"/>
                    </a:lnTo>
                    <a:cubicBezTo>
                      <a:pt x="0" y="56860"/>
                      <a:pt x="56860" y="0"/>
                      <a:pt x="127000" y="0"/>
                    </a:cubicBezTo>
                    <a:close/>
                  </a:path>
                </a:pathLst>
              </a:custGeom>
              <a:solidFill>
                <a:srgbClr val="153930"/>
              </a:solidFill>
            </p:spPr>
          </p:sp>
          <p:sp>
            <p:nvSpPr>
              <p:cNvPr name="TextBox 58" id="58"/>
              <p:cNvSpPr txBox="true"/>
              <p:nvPr/>
            </p:nvSpPr>
            <p:spPr>
              <a:xfrm>
                <a:off x="0" y="-28575"/>
                <a:ext cx="812800" cy="841375"/>
              </a:xfrm>
              <a:prstGeom prst="rect">
                <a:avLst/>
              </a:prstGeom>
            </p:spPr>
            <p:txBody>
              <a:bodyPr anchor="ctr" rtlCol="false" tIns="50800" lIns="50800" bIns="50800" rIns="50800"/>
              <a:lstStyle/>
              <a:p>
                <a:pPr algn="ctr">
                  <a:lnSpc>
                    <a:spcPts val="2240"/>
                  </a:lnSpc>
                </a:pPr>
                <a:r>
                  <a:rPr lang="en-US" b="true" sz="1600">
                    <a:solidFill>
                      <a:srgbClr val="FFFFFF"/>
                    </a:solidFill>
                    <a:latin typeface="Inclusive Sans Bold"/>
                    <a:ea typeface="Inclusive Sans Bold"/>
                    <a:cs typeface="Inclusive Sans Bold"/>
                    <a:sym typeface="Inclusive Sans Bold"/>
                  </a:rPr>
                  <a:t>02</a:t>
                </a:r>
              </a:p>
            </p:txBody>
          </p:sp>
        </p:grpSp>
        <p:sp>
          <p:nvSpPr>
            <p:cNvPr name="TextBox 59" id="59"/>
            <p:cNvSpPr txBox="true"/>
            <p:nvPr/>
          </p:nvSpPr>
          <p:spPr>
            <a:xfrm rot="0">
              <a:off x="15407118" y="3635913"/>
              <a:ext cx="5640864" cy="720513"/>
            </a:xfrm>
            <a:prstGeom prst="rect">
              <a:avLst/>
            </a:prstGeom>
          </p:spPr>
          <p:txBody>
            <a:bodyPr anchor="t" rtlCol="false" tIns="0" lIns="0" bIns="0" rIns="0">
              <a:spAutoFit/>
            </a:bodyPr>
            <a:lstStyle/>
            <a:p>
              <a:pPr algn="just" marL="0" indent="0" lvl="0">
                <a:lnSpc>
                  <a:spcPts val="2239"/>
                </a:lnSpc>
                <a:spcBef>
                  <a:spcPct val="0"/>
                </a:spcBef>
              </a:pPr>
              <a:r>
                <a:rPr lang="en-US" sz="1599">
                  <a:solidFill>
                    <a:srgbClr val="000000"/>
                  </a:solidFill>
                  <a:latin typeface="Inclusive Sans"/>
                  <a:ea typeface="Inclusive Sans"/>
                  <a:cs typeface="Inclusive Sans"/>
                  <a:sym typeface="Inclusive Sans"/>
                </a:rPr>
                <a:t>Ungkap</a:t>
              </a:r>
              <a:r>
                <a:rPr lang="en-US" sz="1599" strike="noStrike" u="none">
                  <a:solidFill>
                    <a:srgbClr val="000000"/>
                  </a:solidFill>
                  <a:latin typeface="Inclusive Sans"/>
                  <a:ea typeface="Inclusive Sans"/>
                  <a:cs typeface="Inclusive Sans"/>
                  <a:sym typeface="Inclusive Sans"/>
                </a:rPr>
                <a:t>kan segera s</a:t>
              </a:r>
              <a:r>
                <a:rPr lang="en-US" sz="1599" strike="noStrike" u="none">
                  <a:solidFill>
                    <a:srgbClr val="000000"/>
                  </a:solidFill>
                  <a:latin typeface="Inclusive Sans"/>
                  <a:ea typeface="Inclusive Sans"/>
                  <a:cs typeface="Inclusive Sans"/>
                  <a:sym typeface="Inclusive Sans"/>
                </a:rPr>
                <a:t>et</a:t>
              </a:r>
              <a:r>
                <a:rPr lang="en-US" sz="1599" strike="noStrike" u="none">
                  <a:solidFill>
                    <a:srgbClr val="000000"/>
                  </a:solidFill>
                  <a:latin typeface="Inclusive Sans"/>
                  <a:ea typeface="Inclusive Sans"/>
                  <a:cs typeface="Inclusive Sans"/>
                  <a:sym typeface="Inclusive Sans"/>
                </a:rPr>
                <a:t>iap potensi risiko sistem yang dapat merugikan masyarakat.</a:t>
              </a:r>
            </a:p>
          </p:txBody>
        </p:sp>
        <p:sp>
          <p:nvSpPr>
            <p:cNvPr name="TextBox 60" id="60"/>
            <p:cNvSpPr txBox="true"/>
            <p:nvPr/>
          </p:nvSpPr>
          <p:spPr>
            <a:xfrm rot="0">
              <a:off x="15407118" y="3153626"/>
              <a:ext cx="5577632" cy="396240"/>
            </a:xfrm>
            <a:prstGeom prst="rect">
              <a:avLst/>
            </a:prstGeom>
          </p:spPr>
          <p:txBody>
            <a:bodyPr anchor="t" rtlCol="false" tIns="0" lIns="0" bIns="0" rIns="0">
              <a:spAutoFit/>
            </a:bodyPr>
            <a:lstStyle/>
            <a:p>
              <a:pPr algn="just" marL="0" indent="0" lvl="0">
                <a:lnSpc>
                  <a:spcPts val="2520"/>
                </a:lnSpc>
                <a:spcBef>
                  <a:spcPct val="0"/>
                </a:spcBef>
              </a:pPr>
              <a:r>
                <a:rPr lang="en-US" b="true" sz="1800" i="true">
                  <a:solidFill>
                    <a:srgbClr val="000000"/>
                  </a:solidFill>
                  <a:latin typeface="Inclusive Sans Bold Italics"/>
                  <a:ea typeface="Inclusive Sans Bold Italics"/>
                  <a:cs typeface="Inclusive Sans Bold Italics"/>
                  <a:sym typeface="Inclusive Sans Bold Italics"/>
                </a:rPr>
                <a:t>D</a:t>
              </a:r>
              <a:r>
                <a:rPr lang="en-US" b="true" sz="1800" i="true">
                  <a:solidFill>
                    <a:srgbClr val="000000"/>
                  </a:solidFill>
                  <a:latin typeface="Inclusive Sans Bold Italics"/>
                  <a:ea typeface="Inclusive Sans Bold Italics"/>
                  <a:cs typeface="Inclusive Sans Bold Italics"/>
                  <a:sym typeface="Inclusive Sans Bold Italics"/>
                </a:rPr>
                <a:t>isclosure</a:t>
              </a:r>
            </a:p>
          </p:txBody>
        </p:sp>
        <p:grpSp>
          <p:nvGrpSpPr>
            <p:cNvPr name="Group 61" id="61"/>
            <p:cNvGrpSpPr/>
            <p:nvPr/>
          </p:nvGrpSpPr>
          <p:grpSpPr>
            <a:xfrm rot="0">
              <a:off x="14495749" y="5005608"/>
              <a:ext cx="573408" cy="573408"/>
              <a:chOff x="0" y="0"/>
              <a:chExt cx="812800" cy="812800"/>
            </a:xfrm>
          </p:grpSpPr>
          <p:sp>
            <p:nvSpPr>
              <p:cNvPr name="Freeform 62" id="62"/>
              <p:cNvSpPr/>
              <p:nvPr/>
            </p:nvSpPr>
            <p:spPr>
              <a:xfrm flipH="false" flipV="false" rot="0">
                <a:off x="0" y="0"/>
                <a:ext cx="812800" cy="812800"/>
              </a:xfrm>
              <a:custGeom>
                <a:avLst/>
                <a:gdLst/>
                <a:ahLst/>
                <a:cxnLst/>
                <a:rect r="r" b="b" t="t" l="l"/>
                <a:pathLst>
                  <a:path h="812800" w="812800">
                    <a:moveTo>
                      <a:pt x="127000" y="0"/>
                    </a:moveTo>
                    <a:lnTo>
                      <a:pt x="685800" y="0"/>
                    </a:lnTo>
                    <a:cubicBezTo>
                      <a:pt x="755940" y="0"/>
                      <a:pt x="812800" y="56860"/>
                      <a:pt x="812800" y="127000"/>
                    </a:cubicBezTo>
                    <a:lnTo>
                      <a:pt x="812800" y="685800"/>
                    </a:lnTo>
                    <a:cubicBezTo>
                      <a:pt x="812800" y="755940"/>
                      <a:pt x="755940" y="812800"/>
                      <a:pt x="685800" y="812800"/>
                    </a:cubicBezTo>
                    <a:lnTo>
                      <a:pt x="127000" y="812800"/>
                    </a:lnTo>
                    <a:cubicBezTo>
                      <a:pt x="56860" y="812800"/>
                      <a:pt x="0" y="755940"/>
                      <a:pt x="0" y="685800"/>
                    </a:cubicBezTo>
                    <a:lnTo>
                      <a:pt x="0" y="127000"/>
                    </a:lnTo>
                    <a:cubicBezTo>
                      <a:pt x="0" y="56860"/>
                      <a:pt x="56860" y="0"/>
                      <a:pt x="127000" y="0"/>
                    </a:cubicBezTo>
                    <a:close/>
                  </a:path>
                </a:pathLst>
              </a:custGeom>
              <a:solidFill>
                <a:srgbClr val="153930"/>
              </a:solidFill>
            </p:spPr>
          </p:sp>
          <p:sp>
            <p:nvSpPr>
              <p:cNvPr name="TextBox 63" id="63"/>
              <p:cNvSpPr txBox="true"/>
              <p:nvPr/>
            </p:nvSpPr>
            <p:spPr>
              <a:xfrm>
                <a:off x="0" y="-28575"/>
                <a:ext cx="812800" cy="841375"/>
              </a:xfrm>
              <a:prstGeom prst="rect">
                <a:avLst/>
              </a:prstGeom>
            </p:spPr>
            <p:txBody>
              <a:bodyPr anchor="ctr" rtlCol="false" tIns="50800" lIns="50800" bIns="50800" rIns="50800"/>
              <a:lstStyle/>
              <a:p>
                <a:pPr algn="ctr">
                  <a:lnSpc>
                    <a:spcPts val="2240"/>
                  </a:lnSpc>
                </a:pPr>
                <a:r>
                  <a:rPr lang="en-US" b="true" sz="1600">
                    <a:solidFill>
                      <a:srgbClr val="FFFFFF"/>
                    </a:solidFill>
                    <a:latin typeface="Inclusive Sans Bold"/>
                    <a:ea typeface="Inclusive Sans Bold"/>
                    <a:cs typeface="Inclusive Sans Bold"/>
                    <a:sym typeface="Inclusive Sans Bold"/>
                  </a:rPr>
                  <a:t>03</a:t>
                </a:r>
              </a:p>
            </p:txBody>
          </p:sp>
        </p:grpSp>
        <p:sp>
          <p:nvSpPr>
            <p:cNvPr name="TextBox 64" id="64"/>
            <p:cNvSpPr txBox="true"/>
            <p:nvPr/>
          </p:nvSpPr>
          <p:spPr>
            <a:xfrm rot="0">
              <a:off x="15407118" y="5449795"/>
              <a:ext cx="5514400" cy="1088813"/>
            </a:xfrm>
            <a:prstGeom prst="rect">
              <a:avLst/>
            </a:prstGeom>
          </p:spPr>
          <p:txBody>
            <a:bodyPr anchor="t" rtlCol="false" tIns="0" lIns="0" bIns="0" rIns="0">
              <a:spAutoFit/>
            </a:bodyPr>
            <a:lstStyle/>
            <a:p>
              <a:pPr algn="just" marL="0" indent="0" lvl="0">
                <a:lnSpc>
                  <a:spcPts val="2239"/>
                </a:lnSpc>
                <a:spcBef>
                  <a:spcPct val="0"/>
                </a:spcBef>
              </a:pPr>
              <a:r>
                <a:rPr lang="en-US" sz="1599">
                  <a:solidFill>
                    <a:srgbClr val="000000"/>
                  </a:solidFill>
                  <a:latin typeface="Inclusive Sans"/>
                  <a:ea typeface="Inclusive Sans"/>
                  <a:cs typeface="Inclusive Sans"/>
                  <a:sym typeface="Inclusive Sans"/>
                </a:rPr>
                <a:t>Hindari konflik kep</a:t>
              </a:r>
              <a:r>
                <a:rPr lang="en-US" sz="1599" strike="noStrike" u="none">
                  <a:solidFill>
                    <a:srgbClr val="000000"/>
                  </a:solidFill>
                  <a:latin typeface="Inclusive Sans"/>
                  <a:ea typeface="Inclusive Sans"/>
                  <a:cs typeface="Inclusive Sans"/>
                  <a:sym typeface="Inclusive Sans"/>
                </a:rPr>
                <a:t>entingan dan sistem yan</a:t>
              </a:r>
              <a:r>
                <a:rPr lang="en-US" sz="1599" strike="noStrike" u="none">
                  <a:solidFill>
                    <a:srgbClr val="000000"/>
                  </a:solidFill>
                  <a:latin typeface="Inclusive Sans"/>
                  <a:ea typeface="Inclusive Sans"/>
                  <a:cs typeface="Inclusive Sans"/>
                  <a:sym typeface="Inclusive Sans"/>
                </a:rPr>
                <a:t>g</a:t>
              </a:r>
              <a:r>
                <a:rPr lang="en-US" sz="1599" strike="noStrike" u="none">
                  <a:solidFill>
                    <a:srgbClr val="000000"/>
                  </a:solidFill>
                  <a:latin typeface="Inclusive Sans"/>
                  <a:ea typeface="Inclusive Sans"/>
                  <a:cs typeface="Inclusive Sans"/>
                  <a:sym typeface="Inclusive Sans"/>
                </a:rPr>
                <a:t> </a:t>
              </a:r>
              <a:r>
                <a:rPr lang="en-US" sz="1599" strike="noStrike" u="none">
                  <a:solidFill>
                    <a:srgbClr val="000000"/>
                  </a:solidFill>
                  <a:latin typeface="Inclusive Sans"/>
                  <a:ea typeface="Inclusive Sans"/>
                  <a:cs typeface="Inclusive Sans"/>
                  <a:sym typeface="Inclusive Sans"/>
                </a:rPr>
                <a:t>t</a:t>
              </a:r>
              <a:r>
                <a:rPr lang="en-US" sz="1599" strike="noStrike" u="none">
                  <a:solidFill>
                    <a:srgbClr val="000000"/>
                  </a:solidFill>
                  <a:latin typeface="Inclusive Sans"/>
                  <a:ea typeface="Inclusive Sans"/>
                  <a:cs typeface="Inclusive Sans"/>
                  <a:sym typeface="Inclusive Sans"/>
                </a:rPr>
                <a:t>idak transparan melanggar prinsip akuntabilitas IEEE.</a:t>
              </a:r>
            </a:p>
          </p:txBody>
        </p:sp>
        <p:sp>
          <p:nvSpPr>
            <p:cNvPr name="TextBox 65" id="65"/>
            <p:cNvSpPr txBox="true"/>
            <p:nvPr/>
          </p:nvSpPr>
          <p:spPr>
            <a:xfrm rot="0">
              <a:off x="15407118" y="4967508"/>
              <a:ext cx="5577632" cy="396240"/>
            </a:xfrm>
            <a:prstGeom prst="rect">
              <a:avLst/>
            </a:prstGeom>
          </p:spPr>
          <p:txBody>
            <a:bodyPr anchor="t" rtlCol="false" tIns="0" lIns="0" bIns="0" rIns="0">
              <a:spAutoFit/>
            </a:bodyPr>
            <a:lstStyle/>
            <a:p>
              <a:pPr algn="just" marL="0" indent="0" lvl="0">
                <a:lnSpc>
                  <a:spcPts val="2520"/>
                </a:lnSpc>
                <a:spcBef>
                  <a:spcPct val="0"/>
                </a:spcBef>
              </a:pPr>
              <a:r>
                <a:rPr lang="en-US" b="true" sz="1800">
                  <a:solidFill>
                    <a:srgbClr val="000000"/>
                  </a:solidFill>
                  <a:latin typeface="Inclusive Sans Bold"/>
                  <a:ea typeface="Inclusive Sans Bold"/>
                  <a:cs typeface="Inclusive Sans Bold"/>
                  <a:sym typeface="Inclusive Sans Bold"/>
                </a:rPr>
                <a:t>Transparansi &amp; Ak</a:t>
              </a:r>
              <a:r>
                <a:rPr lang="en-US" b="true" sz="1800">
                  <a:solidFill>
                    <a:srgbClr val="000000"/>
                  </a:solidFill>
                  <a:latin typeface="Inclusive Sans Bold"/>
                  <a:ea typeface="Inclusive Sans Bold"/>
                  <a:cs typeface="Inclusive Sans Bold"/>
                  <a:sym typeface="Inclusive Sans Bold"/>
                </a:rPr>
                <a:t>untabilitas</a:t>
              </a:r>
            </a:p>
          </p:txBody>
        </p:sp>
        <p:sp>
          <p:nvSpPr>
            <p:cNvPr name="TextBox 66" id="66"/>
            <p:cNvSpPr txBox="true"/>
            <p:nvPr/>
          </p:nvSpPr>
          <p:spPr>
            <a:xfrm rot="0">
              <a:off x="14506581" y="6864827"/>
              <a:ext cx="6541402" cy="1088813"/>
            </a:xfrm>
            <a:prstGeom prst="rect">
              <a:avLst/>
            </a:prstGeom>
          </p:spPr>
          <p:txBody>
            <a:bodyPr anchor="t" rtlCol="false" tIns="0" lIns="0" bIns="0" rIns="0">
              <a:spAutoFit/>
            </a:bodyPr>
            <a:lstStyle/>
            <a:p>
              <a:pPr algn="just" marL="0" indent="0" lvl="0">
                <a:lnSpc>
                  <a:spcPts val="2239"/>
                </a:lnSpc>
                <a:spcBef>
                  <a:spcPct val="0"/>
                </a:spcBef>
              </a:pPr>
              <a:r>
                <a:rPr lang="en-US" sz="1599">
                  <a:solidFill>
                    <a:srgbClr val="000000"/>
                  </a:solidFill>
                  <a:latin typeface="Inclusive Sans"/>
                  <a:ea typeface="Inclusive Sans"/>
                  <a:cs typeface="Inclusive Sans"/>
                  <a:sym typeface="Inclusive Sans"/>
                </a:rPr>
                <a:t>Jika </a:t>
              </a:r>
              <a:r>
                <a:rPr lang="en-US" sz="1599">
                  <a:solidFill>
                    <a:srgbClr val="000000"/>
                  </a:solidFill>
                  <a:latin typeface="Inclusive Sans"/>
                  <a:ea typeface="Inclusive Sans"/>
                  <a:cs typeface="Inclusive Sans"/>
                  <a:sym typeface="Inclusive Sans"/>
                </a:rPr>
                <a:t>s</a:t>
              </a:r>
              <a:r>
                <a:rPr lang="en-US" sz="1599">
                  <a:solidFill>
                    <a:srgbClr val="000000"/>
                  </a:solidFill>
                  <a:latin typeface="Inclusive Sans"/>
                  <a:ea typeface="Inclusive Sans"/>
                  <a:cs typeface="Inclusive Sans"/>
                  <a:sym typeface="Inclusive Sans"/>
                </a:rPr>
                <a:t>i</a:t>
              </a:r>
              <a:r>
                <a:rPr lang="en-US" sz="1599">
                  <a:solidFill>
                    <a:srgbClr val="000000"/>
                  </a:solidFill>
                  <a:latin typeface="Inclusive Sans"/>
                  <a:ea typeface="Inclusive Sans"/>
                  <a:cs typeface="Inclusive Sans"/>
                  <a:sym typeface="Inclusive Sans"/>
                </a:rPr>
                <a:t>s</a:t>
              </a:r>
              <a:r>
                <a:rPr lang="en-US" sz="1599">
                  <a:solidFill>
                    <a:srgbClr val="000000"/>
                  </a:solidFill>
                  <a:latin typeface="Inclusive Sans"/>
                  <a:ea typeface="Inclusive Sans"/>
                  <a:cs typeface="Inclusive Sans"/>
                  <a:sym typeface="Inclusive Sans"/>
                </a:rPr>
                <a:t>t</a:t>
              </a:r>
              <a:r>
                <a:rPr lang="en-US" sz="1599" strike="noStrike" u="none">
                  <a:solidFill>
                    <a:srgbClr val="000000"/>
                  </a:solidFill>
                  <a:latin typeface="Inclusive Sans"/>
                  <a:ea typeface="Inclusive Sans"/>
                  <a:cs typeface="Inclusive Sans"/>
                  <a:sym typeface="Inclusive Sans"/>
                </a:rPr>
                <a:t>e</a:t>
              </a:r>
              <a:r>
                <a:rPr lang="en-US" sz="1599" strike="noStrike" u="none">
                  <a:solidFill>
                    <a:srgbClr val="000000"/>
                  </a:solidFill>
                  <a:latin typeface="Inclusive Sans"/>
                  <a:ea typeface="Inclusive Sans"/>
                  <a:cs typeface="Inclusive Sans"/>
                  <a:sym typeface="Inclusive Sans"/>
                </a:rPr>
                <a:t>m</a:t>
              </a:r>
              <a:r>
                <a:rPr lang="en-US" sz="1599" strike="noStrike" u="none">
                  <a:solidFill>
                    <a:srgbClr val="000000"/>
                  </a:solidFill>
                  <a:latin typeface="Inclusive Sans"/>
                  <a:ea typeface="Inclusive Sans"/>
                  <a:cs typeface="Inclusive Sans"/>
                  <a:sym typeface="Inclusive Sans"/>
                </a:rPr>
                <a:t> </a:t>
              </a:r>
              <a:r>
                <a:rPr lang="en-US" sz="1599" strike="noStrike" u="none">
                  <a:solidFill>
                    <a:srgbClr val="000000"/>
                  </a:solidFill>
                  <a:latin typeface="Inclusive Sans"/>
                  <a:ea typeface="Inclusive Sans"/>
                  <a:cs typeface="Inclusive Sans"/>
                  <a:sym typeface="Inclusive Sans"/>
                </a:rPr>
                <a:t>menurunkan kes</a:t>
              </a:r>
              <a:r>
                <a:rPr lang="en-US" sz="1599" strike="noStrike" u="none">
                  <a:solidFill>
                    <a:srgbClr val="000000"/>
                  </a:solidFill>
                  <a:latin typeface="Inclusive Sans"/>
                  <a:ea typeface="Inclusive Sans"/>
                  <a:cs typeface="Inclusive Sans"/>
                  <a:sym typeface="Inclusive Sans"/>
                </a:rPr>
                <a:t>ejah</a:t>
              </a:r>
              <a:r>
                <a:rPr lang="en-US" sz="1599" strike="noStrike" u="none">
                  <a:solidFill>
                    <a:srgbClr val="000000"/>
                  </a:solidFill>
                  <a:latin typeface="Inclusive Sans"/>
                  <a:ea typeface="Inclusive Sans"/>
                  <a:cs typeface="Inclusive Sans"/>
                  <a:sym typeface="Inclusive Sans"/>
                </a:rPr>
                <a:t>t</a:t>
              </a:r>
              <a:r>
                <a:rPr lang="en-US" sz="1599" strike="noStrike" u="none">
                  <a:solidFill>
                    <a:srgbClr val="000000"/>
                  </a:solidFill>
                  <a:latin typeface="Inclusive Sans"/>
                  <a:ea typeface="Inclusive Sans"/>
                  <a:cs typeface="Inclusive Sans"/>
                  <a:sym typeface="Inclusive Sans"/>
                </a:rPr>
                <a:t>er</a:t>
              </a:r>
              <a:r>
                <a:rPr lang="en-US" sz="1599" strike="noStrike" u="none">
                  <a:solidFill>
                    <a:srgbClr val="000000"/>
                  </a:solidFill>
                  <a:latin typeface="Inclusive Sans"/>
                  <a:ea typeface="Inclusive Sans"/>
                  <a:cs typeface="Inclusive Sans"/>
                  <a:sym typeface="Inclusive Sans"/>
                </a:rPr>
                <a:t>aan </a:t>
              </a:r>
              <a:r>
                <a:rPr lang="en-US" sz="1599" strike="noStrike" u="none">
                  <a:solidFill>
                    <a:srgbClr val="000000"/>
                  </a:solidFill>
                  <a:latin typeface="Inclusive Sans"/>
                  <a:ea typeface="Inclusive Sans"/>
                  <a:cs typeface="Inclusive Sans"/>
                  <a:sym typeface="Inclusive Sans"/>
                </a:rPr>
                <a:t>eko</a:t>
              </a:r>
              <a:r>
                <a:rPr lang="en-US" sz="1599" strike="noStrike" u="none">
                  <a:solidFill>
                    <a:srgbClr val="000000"/>
                  </a:solidFill>
                  <a:latin typeface="Inclusive Sans"/>
                  <a:ea typeface="Inclusive Sans"/>
                  <a:cs typeface="Inclusive Sans"/>
                  <a:sym typeface="Inclusive Sans"/>
                </a:rPr>
                <a:t>n</a:t>
              </a:r>
              <a:r>
                <a:rPr lang="en-US" sz="1599" strike="noStrike" u="none">
                  <a:solidFill>
                    <a:srgbClr val="000000"/>
                  </a:solidFill>
                  <a:latin typeface="Inclusive Sans"/>
                  <a:ea typeface="Inclusive Sans"/>
                  <a:cs typeface="Inclusive Sans"/>
                  <a:sym typeface="Inclusive Sans"/>
                </a:rPr>
                <a:t>o</a:t>
              </a:r>
              <a:r>
                <a:rPr lang="en-US" sz="1599" strike="noStrike" u="none">
                  <a:solidFill>
                    <a:srgbClr val="000000"/>
                  </a:solidFill>
                  <a:latin typeface="Inclusive Sans"/>
                  <a:ea typeface="Inclusive Sans"/>
                  <a:cs typeface="Inclusive Sans"/>
                  <a:sym typeface="Inclusive Sans"/>
                </a:rPr>
                <a:t>mi </a:t>
              </a:r>
              <a:r>
                <a:rPr lang="en-US" sz="1599" strike="noStrike" u="none">
                  <a:solidFill>
                    <a:srgbClr val="000000"/>
                  </a:solidFill>
                  <a:latin typeface="Inclusive Sans"/>
                  <a:ea typeface="Inclusive Sans"/>
                  <a:cs typeface="Inclusive Sans"/>
                  <a:sym typeface="Inclusive Sans"/>
                </a:rPr>
                <a:t>d</a:t>
              </a:r>
              <a:r>
                <a:rPr lang="en-US" sz="1599" strike="noStrike" u="none">
                  <a:solidFill>
                    <a:srgbClr val="000000"/>
                  </a:solidFill>
                  <a:latin typeface="Inclusive Sans"/>
                  <a:ea typeface="Inclusive Sans"/>
                  <a:cs typeface="Inclusive Sans"/>
                  <a:sym typeface="Inclusive Sans"/>
                </a:rPr>
                <a:t>ri</a:t>
              </a:r>
              <a:r>
                <a:rPr lang="en-US" sz="1599" strike="noStrike" u="none">
                  <a:solidFill>
                    <a:srgbClr val="000000"/>
                  </a:solidFill>
                  <a:latin typeface="Inclusive Sans"/>
                  <a:ea typeface="Inclusive Sans"/>
                  <a:cs typeface="Inclusive Sans"/>
                  <a:sym typeface="Inclusive Sans"/>
                </a:rPr>
                <a:t>ver se</a:t>
              </a:r>
              <a:r>
                <a:rPr lang="en-US" sz="1599" strike="noStrike" u="none">
                  <a:solidFill>
                    <a:srgbClr val="000000"/>
                  </a:solidFill>
                  <a:latin typeface="Inclusive Sans"/>
                  <a:ea typeface="Inclusive Sans"/>
                  <a:cs typeface="Inclusive Sans"/>
                  <a:sym typeface="Inclusive Sans"/>
                </a:rPr>
                <a:t>c</a:t>
              </a:r>
              <a:r>
                <a:rPr lang="en-US" sz="1599" strike="noStrike" u="none">
                  <a:solidFill>
                    <a:srgbClr val="000000"/>
                  </a:solidFill>
                  <a:latin typeface="Inclusive Sans"/>
                  <a:ea typeface="Inclusive Sans"/>
                  <a:cs typeface="Inclusive Sans"/>
                  <a:sym typeface="Inclusive Sans"/>
                </a:rPr>
                <a:t>ara </a:t>
              </a:r>
              <a:r>
                <a:rPr lang="en-US" sz="1599" strike="noStrike" u="none">
                  <a:solidFill>
                    <a:srgbClr val="000000"/>
                  </a:solidFill>
                  <a:latin typeface="Inclusive Sans"/>
                  <a:ea typeface="Inclusive Sans"/>
                  <a:cs typeface="Inclusive Sans"/>
                  <a:sym typeface="Inclusive Sans"/>
                </a:rPr>
                <a:t>s</a:t>
              </a:r>
              <a:r>
                <a:rPr lang="en-US" sz="1599" strike="noStrike" u="none">
                  <a:solidFill>
                    <a:srgbClr val="000000"/>
                  </a:solidFill>
                  <a:latin typeface="Inclusive Sans"/>
                  <a:ea typeface="Inclusive Sans"/>
                  <a:cs typeface="Inclusive Sans"/>
                  <a:sym typeface="Inclusive Sans"/>
                </a:rPr>
                <a:t>t</a:t>
              </a:r>
              <a:r>
                <a:rPr lang="en-US" sz="1599" strike="noStrike" u="none">
                  <a:solidFill>
                    <a:srgbClr val="000000"/>
                  </a:solidFill>
                  <a:latin typeface="Inclusive Sans"/>
                  <a:ea typeface="Inclusive Sans"/>
                  <a:cs typeface="Inclusive Sans"/>
                  <a:sym typeface="Inclusive Sans"/>
                </a:rPr>
                <a:t>ru</a:t>
              </a:r>
              <a:r>
                <a:rPr lang="en-US" sz="1599" strike="noStrike" u="none">
                  <a:solidFill>
                    <a:srgbClr val="000000"/>
                  </a:solidFill>
                  <a:latin typeface="Inclusive Sans"/>
                  <a:ea typeface="Inclusive Sans"/>
                  <a:cs typeface="Inclusive Sans"/>
                  <a:sym typeface="Inclusive Sans"/>
                </a:rPr>
                <a:t>kt</a:t>
              </a:r>
              <a:r>
                <a:rPr lang="en-US" sz="1599" strike="noStrike" u="none">
                  <a:solidFill>
                    <a:srgbClr val="000000"/>
                  </a:solidFill>
                  <a:latin typeface="Inclusive Sans"/>
                  <a:ea typeface="Inclusive Sans"/>
                  <a:cs typeface="Inclusive Sans"/>
                  <a:sym typeface="Inclusive Sans"/>
                </a:rPr>
                <a:t>u</a:t>
              </a:r>
              <a:r>
                <a:rPr lang="en-US" sz="1599" strike="noStrike" u="none">
                  <a:solidFill>
                    <a:srgbClr val="000000"/>
                  </a:solidFill>
                  <a:latin typeface="Inclusive Sans"/>
                  <a:ea typeface="Inclusive Sans"/>
                  <a:cs typeface="Inclusive Sans"/>
                  <a:sym typeface="Inclusive Sans"/>
                </a:rPr>
                <a:t>ra</a:t>
              </a:r>
              <a:r>
                <a:rPr lang="en-US" sz="1599" strike="noStrike" u="none">
                  <a:solidFill>
                    <a:srgbClr val="000000"/>
                  </a:solidFill>
                  <a:latin typeface="Inclusive Sans"/>
                  <a:ea typeface="Inclusive Sans"/>
                  <a:cs typeface="Inclusive Sans"/>
                  <a:sym typeface="Inclusive Sans"/>
                </a:rPr>
                <a:t>l, ma</a:t>
              </a:r>
              <a:r>
                <a:rPr lang="en-US" sz="1599" strike="noStrike" u="none">
                  <a:solidFill>
                    <a:srgbClr val="000000"/>
                  </a:solidFill>
                  <a:latin typeface="Inclusive Sans"/>
                  <a:ea typeface="Inclusive Sans"/>
                  <a:cs typeface="Inclusive Sans"/>
                  <a:sym typeface="Inclusive Sans"/>
                </a:rPr>
                <a:t>salahnya bukan hanya teknis, tetapi juga etis.</a:t>
              </a:r>
            </a:p>
          </p:txBody>
        </p:sp>
      </p:grpSp>
      <p:sp>
        <p:nvSpPr>
          <p:cNvPr name="TextBox 67" id="67"/>
          <p:cNvSpPr txBox="true"/>
          <p:nvPr/>
        </p:nvSpPr>
        <p:spPr>
          <a:xfrm rot="0">
            <a:off x="1913274" y="1497228"/>
            <a:ext cx="14552349" cy="1042670"/>
          </a:xfrm>
          <a:prstGeom prst="rect">
            <a:avLst/>
          </a:prstGeom>
        </p:spPr>
        <p:txBody>
          <a:bodyPr anchor="t" rtlCol="false" tIns="0" lIns="0" bIns="0" rIns="0">
            <a:spAutoFit/>
          </a:bodyPr>
          <a:lstStyle/>
          <a:p>
            <a:pPr algn="ctr">
              <a:lnSpc>
                <a:spcPts val="8319"/>
              </a:lnSpc>
            </a:pPr>
            <a:r>
              <a:rPr lang="en-US" b="true" sz="6399" spc="63">
                <a:solidFill>
                  <a:srgbClr val="2D892C"/>
                </a:solidFill>
                <a:latin typeface="Inclusive Sans Bold"/>
                <a:ea typeface="Inclusive Sans Bold"/>
                <a:cs typeface="Inclusive Sans Bold"/>
                <a:sym typeface="Inclusive Sans Bold"/>
              </a:rPr>
              <a:t>Kode Etik Profesi IT</a:t>
            </a:r>
          </a:p>
        </p:txBody>
      </p:sp>
      <p:sp>
        <p:nvSpPr>
          <p:cNvPr name="TextBox 68" id="68"/>
          <p:cNvSpPr txBox="true"/>
          <p:nvPr/>
        </p:nvSpPr>
        <p:spPr>
          <a:xfrm rot="0">
            <a:off x="7244477" y="794012"/>
            <a:ext cx="3799046" cy="688975"/>
          </a:xfrm>
          <a:prstGeom prst="rect">
            <a:avLst/>
          </a:prstGeom>
        </p:spPr>
        <p:txBody>
          <a:bodyPr anchor="t" rtlCol="false" tIns="0" lIns="0" bIns="0" rIns="0">
            <a:spAutoFit/>
          </a:bodyPr>
          <a:lstStyle/>
          <a:p>
            <a:pPr algn="ctr">
              <a:lnSpc>
                <a:spcPts val="5599"/>
              </a:lnSpc>
              <a:spcBef>
                <a:spcPct val="0"/>
              </a:spcBef>
            </a:pPr>
            <a:r>
              <a:rPr lang="en-US" b="true" sz="3999" u="sng">
                <a:solidFill>
                  <a:srgbClr val="000000"/>
                </a:solidFill>
                <a:latin typeface="Inclusive Sans Bold"/>
                <a:ea typeface="Inclusive Sans Bold"/>
                <a:cs typeface="Inclusive Sans Bold"/>
                <a:sym typeface="Inclusive Sans Bold"/>
              </a:rPr>
              <a:t>Landasan Teori</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CFCFA"/>
        </a:solidFill>
      </p:bgPr>
    </p:bg>
    <p:spTree>
      <p:nvGrpSpPr>
        <p:cNvPr id="1" name=""/>
        <p:cNvGrpSpPr/>
        <p:nvPr/>
      </p:nvGrpSpPr>
      <p:grpSpPr>
        <a:xfrm>
          <a:off x="0" y="0"/>
          <a:ext cx="0" cy="0"/>
          <a:chOff x="0" y="0"/>
          <a:chExt cx="0" cy="0"/>
        </a:xfrm>
      </p:grpSpPr>
      <p:grpSp>
        <p:nvGrpSpPr>
          <p:cNvPr name="Group 2" id="2"/>
          <p:cNvGrpSpPr/>
          <p:nvPr/>
        </p:nvGrpSpPr>
        <p:grpSpPr>
          <a:xfrm rot="0">
            <a:off x="16855111" y="-585665"/>
            <a:ext cx="1906053" cy="2702594"/>
            <a:chOff x="0" y="0"/>
            <a:chExt cx="2541404" cy="3603459"/>
          </a:xfrm>
        </p:grpSpPr>
        <p:grpSp>
          <p:nvGrpSpPr>
            <p:cNvPr name="Group 3" id="3"/>
            <p:cNvGrpSpPr/>
            <p:nvPr/>
          </p:nvGrpSpPr>
          <p:grpSpPr>
            <a:xfrm rot="0">
              <a:off x="491191" y="611509"/>
              <a:ext cx="1536837" cy="2991950"/>
              <a:chOff x="0" y="0"/>
              <a:chExt cx="585263" cy="1139404"/>
            </a:xfrm>
          </p:grpSpPr>
          <p:sp>
            <p:nvSpPr>
              <p:cNvPr name="Freeform 4" id="4"/>
              <p:cNvSpPr/>
              <p:nvPr/>
            </p:nvSpPr>
            <p:spPr>
              <a:xfrm flipH="false" flipV="false" rot="0">
                <a:off x="0" y="0"/>
                <a:ext cx="585263" cy="1139404"/>
              </a:xfrm>
              <a:custGeom>
                <a:avLst/>
                <a:gdLst/>
                <a:ahLst/>
                <a:cxnLst/>
                <a:rect r="r" b="b" t="t" l="l"/>
                <a:pathLst>
                  <a:path h="1139404" w="585263">
                    <a:moveTo>
                      <a:pt x="195193" y="1120335"/>
                    </a:moveTo>
                    <a:cubicBezTo>
                      <a:pt x="225198" y="1131849"/>
                      <a:pt x="259310" y="1139404"/>
                      <a:pt x="292789" y="1139404"/>
                    </a:cubicBezTo>
                    <a:cubicBezTo>
                      <a:pt x="326269" y="1139404"/>
                      <a:pt x="358486" y="1132927"/>
                      <a:pt x="388175" y="1121413"/>
                    </a:cubicBezTo>
                    <a:cubicBezTo>
                      <a:pt x="388807" y="1121054"/>
                      <a:pt x="389438" y="1121054"/>
                      <a:pt x="390070" y="1120694"/>
                    </a:cubicBezTo>
                    <a:cubicBezTo>
                      <a:pt x="501564" y="1074639"/>
                      <a:pt x="583684" y="953025"/>
                      <a:pt x="585263" y="803647"/>
                    </a:cubicBezTo>
                    <a:lnTo>
                      <a:pt x="585263" y="0"/>
                    </a:lnTo>
                    <a:lnTo>
                      <a:pt x="0" y="0"/>
                    </a:lnTo>
                    <a:lnTo>
                      <a:pt x="0" y="803051"/>
                    </a:lnTo>
                    <a:cubicBezTo>
                      <a:pt x="1579" y="953744"/>
                      <a:pt x="82436" y="1075359"/>
                      <a:pt x="195193" y="1120335"/>
                    </a:cubicBezTo>
                    <a:close/>
                  </a:path>
                </a:pathLst>
              </a:custGeom>
              <a:solidFill>
                <a:srgbClr val="153930"/>
              </a:solidFill>
            </p:spPr>
          </p:sp>
          <p:sp>
            <p:nvSpPr>
              <p:cNvPr name="TextBox 5" id="5"/>
              <p:cNvSpPr txBox="true"/>
              <p:nvPr/>
            </p:nvSpPr>
            <p:spPr>
              <a:xfrm>
                <a:off x="0" y="-47625"/>
                <a:ext cx="585263" cy="1060029"/>
              </a:xfrm>
              <a:prstGeom prst="rect">
                <a:avLst/>
              </a:prstGeom>
            </p:spPr>
            <p:txBody>
              <a:bodyPr anchor="ctr" rtlCol="false" tIns="50800" lIns="50800" bIns="50800" rIns="50800"/>
              <a:lstStyle/>
              <a:p>
                <a:pPr algn="ctr">
                  <a:lnSpc>
                    <a:spcPts val="2940"/>
                  </a:lnSpc>
                </a:pPr>
              </a:p>
            </p:txBody>
          </p:sp>
        </p:grpSp>
        <p:grpSp>
          <p:nvGrpSpPr>
            <p:cNvPr name="Group 6" id="6"/>
            <p:cNvGrpSpPr/>
            <p:nvPr/>
          </p:nvGrpSpPr>
          <p:grpSpPr>
            <a:xfrm rot="0">
              <a:off x="1325277" y="1633439"/>
              <a:ext cx="1216127" cy="1216127"/>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892C"/>
              </a:solidFill>
            </p:spPr>
          </p:sp>
          <p:sp>
            <p:nvSpPr>
              <p:cNvPr name="TextBox 8" id="8"/>
              <p:cNvSpPr txBox="true"/>
              <p:nvPr/>
            </p:nvSpPr>
            <p:spPr>
              <a:xfrm>
                <a:off x="76200" y="28575"/>
                <a:ext cx="660400" cy="708025"/>
              </a:xfrm>
              <a:prstGeom prst="rect">
                <a:avLst/>
              </a:prstGeom>
            </p:spPr>
            <p:txBody>
              <a:bodyPr anchor="ctr" rtlCol="false" tIns="50800" lIns="50800" bIns="50800" rIns="50800"/>
              <a:lstStyle/>
              <a:p>
                <a:pPr algn="ctr">
                  <a:lnSpc>
                    <a:spcPts val="3360"/>
                  </a:lnSpc>
                </a:pPr>
              </a:p>
            </p:txBody>
          </p:sp>
        </p:grpSp>
        <p:grpSp>
          <p:nvGrpSpPr>
            <p:cNvPr name="Group 9" id="9"/>
            <p:cNvGrpSpPr/>
            <p:nvPr/>
          </p:nvGrpSpPr>
          <p:grpSpPr>
            <a:xfrm rot="0">
              <a:off x="0" y="0"/>
              <a:ext cx="975948" cy="2438114"/>
              <a:chOff x="0" y="0"/>
              <a:chExt cx="456090" cy="1139404"/>
            </a:xfrm>
          </p:grpSpPr>
          <p:sp>
            <p:nvSpPr>
              <p:cNvPr name="Freeform 10" id="10"/>
              <p:cNvSpPr/>
              <p:nvPr/>
            </p:nvSpPr>
            <p:spPr>
              <a:xfrm flipH="false" flipV="false" rot="0">
                <a:off x="0" y="0"/>
                <a:ext cx="456090" cy="1139404"/>
              </a:xfrm>
              <a:custGeom>
                <a:avLst/>
                <a:gdLst/>
                <a:ahLst/>
                <a:cxnLst/>
                <a:rect r="r" b="b" t="t" l="l"/>
                <a:pathLst>
                  <a:path h="1139404" w="456090">
                    <a:moveTo>
                      <a:pt x="152112" y="1120335"/>
                    </a:moveTo>
                    <a:cubicBezTo>
                      <a:pt x="175495" y="1131849"/>
                      <a:pt x="202078" y="1139404"/>
                      <a:pt x="228168" y="1139404"/>
                    </a:cubicBezTo>
                    <a:cubicBezTo>
                      <a:pt x="254259" y="1139404"/>
                      <a:pt x="279365" y="1132927"/>
                      <a:pt x="302501" y="1121413"/>
                    </a:cubicBezTo>
                    <a:cubicBezTo>
                      <a:pt x="302994" y="1121054"/>
                      <a:pt x="303486" y="1121054"/>
                      <a:pt x="303978" y="1120694"/>
                    </a:cubicBezTo>
                    <a:cubicBezTo>
                      <a:pt x="390864" y="1074639"/>
                      <a:pt x="454859" y="953025"/>
                      <a:pt x="456090" y="803647"/>
                    </a:cubicBezTo>
                    <a:lnTo>
                      <a:pt x="456090" y="0"/>
                    </a:lnTo>
                    <a:lnTo>
                      <a:pt x="0" y="0"/>
                    </a:lnTo>
                    <a:lnTo>
                      <a:pt x="0" y="803051"/>
                    </a:lnTo>
                    <a:cubicBezTo>
                      <a:pt x="1231" y="953744"/>
                      <a:pt x="64241" y="1075359"/>
                      <a:pt x="152112" y="1120335"/>
                    </a:cubicBezTo>
                    <a:close/>
                  </a:path>
                </a:pathLst>
              </a:custGeom>
              <a:solidFill>
                <a:srgbClr val="2D892C">
                  <a:alpha val="83922"/>
                </a:srgbClr>
              </a:solidFill>
            </p:spPr>
          </p:sp>
          <p:sp>
            <p:nvSpPr>
              <p:cNvPr name="TextBox 11" id="11"/>
              <p:cNvSpPr txBox="true"/>
              <p:nvPr/>
            </p:nvSpPr>
            <p:spPr>
              <a:xfrm>
                <a:off x="0" y="-47625"/>
                <a:ext cx="456090" cy="1060029"/>
              </a:xfrm>
              <a:prstGeom prst="rect">
                <a:avLst/>
              </a:prstGeom>
            </p:spPr>
            <p:txBody>
              <a:bodyPr anchor="ctr" rtlCol="false" tIns="50800" lIns="50800" bIns="50800" rIns="50800"/>
              <a:lstStyle/>
              <a:p>
                <a:pPr algn="ctr">
                  <a:lnSpc>
                    <a:spcPts val="2940"/>
                  </a:lnSpc>
                </a:pPr>
              </a:p>
            </p:txBody>
          </p:sp>
        </p:grpSp>
      </p:grpSp>
      <p:sp>
        <p:nvSpPr>
          <p:cNvPr name="Freeform 12" id="12"/>
          <p:cNvSpPr/>
          <p:nvPr/>
        </p:nvSpPr>
        <p:spPr>
          <a:xfrm flipH="false" flipV="false" rot="0">
            <a:off x="-797758" y="9103072"/>
            <a:ext cx="2511732" cy="2511732"/>
          </a:xfrm>
          <a:custGeom>
            <a:avLst/>
            <a:gdLst/>
            <a:ahLst/>
            <a:cxnLst/>
            <a:rect r="r" b="b" t="t" l="l"/>
            <a:pathLst>
              <a:path h="2511732" w="2511732">
                <a:moveTo>
                  <a:pt x="0" y="0"/>
                </a:moveTo>
                <a:lnTo>
                  <a:pt x="2511732" y="0"/>
                </a:lnTo>
                <a:lnTo>
                  <a:pt x="2511732" y="2511732"/>
                </a:lnTo>
                <a:lnTo>
                  <a:pt x="0" y="25117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7259300" y="8670143"/>
            <a:ext cx="2338754" cy="2338754"/>
          </a:xfrm>
          <a:custGeom>
            <a:avLst/>
            <a:gdLst/>
            <a:ahLst/>
            <a:cxnLst/>
            <a:rect r="r" b="b" t="t" l="l"/>
            <a:pathLst>
              <a:path h="2338754" w="2338754">
                <a:moveTo>
                  <a:pt x="0" y="0"/>
                </a:moveTo>
                <a:lnTo>
                  <a:pt x="2338754" y="0"/>
                </a:lnTo>
                <a:lnTo>
                  <a:pt x="2338754" y="2338754"/>
                </a:lnTo>
                <a:lnTo>
                  <a:pt x="0" y="23387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230795" y="4461307"/>
            <a:ext cx="4832986" cy="3413368"/>
            <a:chOff x="0" y="0"/>
            <a:chExt cx="6443981" cy="4551157"/>
          </a:xfrm>
        </p:grpSpPr>
        <p:sp>
          <p:nvSpPr>
            <p:cNvPr name="Freeform 15" id="15"/>
            <p:cNvSpPr/>
            <p:nvPr/>
          </p:nvSpPr>
          <p:spPr>
            <a:xfrm flipH="false" flipV="false" rot="0">
              <a:off x="91417" y="4053880"/>
              <a:ext cx="6352564" cy="497277"/>
            </a:xfrm>
            <a:custGeom>
              <a:avLst/>
              <a:gdLst/>
              <a:ahLst/>
              <a:cxnLst/>
              <a:rect r="r" b="b" t="t" l="l"/>
              <a:pathLst>
                <a:path h="497277" w="6352564">
                  <a:moveTo>
                    <a:pt x="0" y="0"/>
                  </a:moveTo>
                  <a:lnTo>
                    <a:pt x="6352564" y="0"/>
                  </a:lnTo>
                  <a:lnTo>
                    <a:pt x="6352564" y="497277"/>
                  </a:lnTo>
                  <a:lnTo>
                    <a:pt x="0" y="497277"/>
                  </a:lnTo>
                  <a:lnTo>
                    <a:pt x="0" y="0"/>
                  </a:lnTo>
                  <a:close/>
                </a:path>
              </a:pathLst>
            </a:custGeom>
            <a:blipFill>
              <a:blip r:embed="rId6">
                <a:alphaModFix amt="67000"/>
              </a:blip>
              <a:stretch>
                <a:fillRect l="0" t="-8066" r="0" b="-8066"/>
              </a:stretch>
            </a:blipFill>
          </p:spPr>
        </p:sp>
        <p:grpSp>
          <p:nvGrpSpPr>
            <p:cNvPr name="Group 16" id="16"/>
            <p:cNvGrpSpPr/>
            <p:nvPr/>
          </p:nvGrpSpPr>
          <p:grpSpPr>
            <a:xfrm rot="0">
              <a:off x="91417" y="0"/>
              <a:ext cx="6352564" cy="4087558"/>
              <a:chOff x="0" y="0"/>
              <a:chExt cx="1096685" cy="705662"/>
            </a:xfrm>
          </p:grpSpPr>
          <p:sp>
            <p:nvSpPr>
              <p:cNvPr name="Freeform 17" id="17"/>
              <p:cNvSpPr/>
              <p:nvPr/>
            </p:nvSpPr>
            <p:spPr>
              <a:xfrm flipH="false" flipV="false" rot="0">
                <a:off x="0" y="0"/>
                <a:ext cx="1096685" cy="705662"/>
              </a:xfrm>
              <a:custGeom>
                <a:avLst/>
                <a:gdLst/>
                <a:ahLst/>
                <a:cxnLst/>
                <a:rect r="r" b="b" t="t" l="l"/>
                <a:pathLst>
                  <a:path h="705662" w="1096685">
                    <a:moveTo>
                      <a:pt x="30874" y="0"/>
                    </a:moveTo>
                    <a:lnTo>
                      <a:pt x="1065811" y="0"/>
                    </a:lnTo>
                    <a:cubicBezTo>
                      <a:pt x="1082862" y="0"/>
                      <a:pt x="1096685" y="13823"/>
                      <a:pt x="1096685" y="30874"/>
                    </a:cubicBezTo>
                    <a:lnTo>
                      <a:pt x="1096685" y="674788"/>
                    </a:lnTo>
                    <a:cubicBezTo>
                      <a:pt x="1096685" y="691839"/>
                      <a:pt x="1082862" y="705662"/>
                      <a:pt x="1065811" y="705662"/>
                    </a:cubicBezTo>
                    <a:lnTo>
                      <a:pt x="30874" y="705662"/>
                    </a:lnTo>
                    <a:cubicBezTo>
                      <a:pt x="13823" y="705662"/>
                      <a:pt x="0" y="691839"/>
                      <a:pt x="0" y="674788"/>
                    </a:cubicBezTo>
                    <a:lnTo>
                      <a:pt x="0" y="30874"/>
                    </a:lnTo>
                    <a:cubicBezTo>
                      <a:pt x="0" y="13823"/>
                      <a:pt x="13823" y="0"/>
                      <a:pt x="30874" y="0"/>
                    </a:cubicBezTo>
                    <a:close/>
                  </a:path>
                </a:pathLst>
              </a:custGeom>
              <a:solidFill>
                <a:srgbClr val="FFFFFF"/>
              </a:solidFill>
            </p:spPr>
          </p:sp>
          <p:sp>
            <p:nvSpPr>
              <p:cNvPr name="TextBox 18" id="18"/>
              <p:cNvSpPr txBox="true"/>
              <p:nvPr/>
            </p:nvSpPr>
            <p:spPr>
              <a:xfrm>
                <a:off x="0" y="-38100"/>
                <a:ext cx="1096685" cy="743762"/>
              </a:xfrm>
              <a:prstGeom prst="rect">
                <a:avLst/>
              </a:prstGeom>
            </p:spPr>
            <p:txBody>
              <a:bodyPr anchor="ctr" rtlCol="false" tIns="50800" lIns="50800" bIns="50800" rIns="50800"/>
              <a:lstStyle/>
              <a:p>
                <a:pPr algn="ctr">
                  <a:lnSpc>
                    <a:spcPts val="2520"/>
                  </a:lnSpc>
                </a:pPr>
              </a:p>
            </p:txBody>
          </p:sp>
        </p:grpSp>
        <p:sp>
          <p:nvSpPr>
            <p:cNvPr name="TextBox 19" id="19"/>
            <p:cNvSpPr txBox="true"/>
            <p:nvPr/>
          </p:nvSpPr>
          <p:spPr>
            <a:xfrm rot="0">
              <a:off x="827165" y="1165585"/>
              <a:ext cx="4881068" cy="720513"/>
            </a:xfrm>
            <a:prstGeom prst="rect">
              <a:avLst/>
            </a:prstGeom>
          </p:spPr>
          <p:txBody>
            <a:bodyPr anchor="t" rtlCol="false" tIns="0" lIns="0" bIns="0" rIns="0">
              <a:spAutoFit/>
            </a:bodyPr>
            <a:lstStyle/>
            <a:p>
              <a:pPr algn="l" marL="0" indent="0" lvl="0">
                <a:lnSpc>
                  <a:spcPts val="2239"/>
                </a:lnSpc>
                <a:spcBef>
                  <a:spcPct val="0"/>
                </a:spcBef>
              </a:pPr>
              <a:r>
                <a:rPr lang="en-US" sz="1599">
                  <a:solidFill>
                    <a:srgbClr val="000000"/>
                  </a:solidFill>
                  <a:latin typeface="Inclusive Sans"/>
                  <a:ea typeface="Inclusive Sans"/>
                  <a:cs typeface="Inclusive Sans"/>
                  <a:sym typeface="Inclusive Sans"/>
                </a:rPr>
                <a:t>Ef</a:t>
              </a:r>
              <a:r>
                <a:rPr lang="en-US" sz="1599" strike="noStrike" u="none">
                  <a:solidFill>
                    <a:srgbClr val="000000"/>
                  </a:solidFill>
                  <a:latin typeface="Inclusive Sans"/>
                  <a:ea typeface="Inclusive Sans"/>
                  <a:cs typeface="Inclusive Sans"/>
                  <a:sym typeface="Inclusive Sans"/>
                </a:rPr>
                <a:t>isie</a:t>
              </a:r>
              <a:r>
                <a:rPr lang="en-US" sz="1599" strike="noStrike" u="none">
                  <a:solidFill>
                    <a:srgbClr val="000000"/>
                  </a:solidFill>
                  <a:latin typeface="Inclusive Sans"/>
                  <a:ea typeface="Inclusive Sans"/>
                  <a:cs typeface="Inclusive Sans"/>
                  <a:sym typeface="Inclusive Sans"/>
                </a:rPr>
                <a:t>n</a:t>
              </a:r>
              <a:r>
                <a:rPr lang="en-US" sz="1599" strike="noStrike" u="none">
                  <a:solidFill>
                    <a:srgbClr val="000000"/>
                  </a:solidFill>
                  <a:latin typeface="Inclusive Sans"/>
                  <a:ea typeface="Inclusive Sans"/>
                  <a:cs typeface="Inclusive Sans"/>
                  <a:sym typeface="Inclusive Sans"/>
                </a:rPr>
                <a:t>si operasion</a:t>
              </a:r>
              <a:r>
                <a:rPr lang="en-US" sz="1599" strike="noStrike" u="none">
                  <a:solidFill>
                    <a:srgbClr val="000000"/>
                  </a:solidFill>
                  <a:latin typeface="Inclusive Sans"/>
                  <a:ea typeface="Inclusive Sans"/>
                  <a:cs typeface="Inclusive Sans"/>
                  <a:sym typeface="Inclusive Sans"/>
                </a:rPr>
                <a:t>al pert</a:t>
              </a:r>
              <a:r>
                <a:rPr lang="en-US" sz="1599" strike="noStrike" u="none">
                  <a:solidFill>
                    <a:srgbClr val="000000"/>
                  </a:solidFill>
                  <a:latin typeface="Inclusive Sans"/>
                  <a:ea typeface="Inclusive Sans"/>
                  <a:cs typeface="Inclusive Sans"/>
                  <a:sym typeface="Inclusive Sans"/>
                </a:rPr>
                <a:t>umbuhan platf</a:t>
              </a:r>
              <a:r>
                <a:rPr lang="en-US" sz="1599" strike="noStrike" u="none">
                  <a:solidFill>
                    <a:srgbClr val="000000"/>
                  </a:solidFill>
                  <a:latin typeface="Inclusive Sans"/>
                  <a:ea typeface="Inclusive Sans"/>
                  <a:cs typeface="Inclusive Sans"/>
                  <a:sym typeface="Inclusive Sans"/>
                </a:rPr>
                <a:t>o</a:t>
              </a:r>
              <a:r>
                <a:rPr lang="en-US" sz="1599" strike="noStrike" u="none">
                  <a:solidFill>
                    <a:srgbClr val="000000"/>
                  </a:solidFill>
                  <a:latin typeface="Inclusive Sans"/>
                  <a:ea typeface="Inclusive Sans"/>
                  <a:cs typeface="Inclusive Sans"/>
                  <a:sym typeface="Inclusive Sans"/>
                </a:rPr>
                <a:t>r</a:t>
              </a:r>
              <a:r>
                <a:rPr lang="en-US" sz="1599" strike="noStrike" u="none">
                  <a:solidFill>
                    <a:srgbClr val="000000"/>
                  </a:solidFill>
                  <a:latin typeface="Inclusive Sans"/>
                  <a:ea typeface="Inclusive Sans"/>
                  <a:cs typeface="Inclusive Sans"/>
                  <a:sym typeface="Inclusive Sans"/>
                </a:rPr>
                <a:t>m skala bis</a:t>
              </a:r>
              <a:r>
                <a:rPr lang="en-US" sz="1599" strike="noStrike" u="none">
                  <a:solidFill>
                    <a:srgbClr val="000000"/>
                  </a:solidFill>
                  <a:latin typeface="Inclusive Sans"/>
                  <a:ea typeface="Inclusive Sans"/>
                  <a:cs typeface="Inclusive Sans"/>
                  <a:sym typeface="Inclusive Sans"/>
                </a:rPr>
                <a:t>nis besar</a:t>
              </a:r>
            </a:p>
          </p:txBody>
        </p:sp>
        <p:sp>
          <p:nvSpPr>
            <p:cNvPr name="TextBox 20" id="20"/>
            <p:cNvSpPr txBox="true"/>
            <p:nvPr/>
          </p:nvSpPr>
          <p:spPr>
            <a:xfrm rot="0">
              <a:off x="827165" y="490369"/>
              <a:ext cx="4881068" cy="459317"/>
            </a:xfrm>
            <a:prstGeom prst="rect">
              <a:avLst/>
            </a:prstGeom>
          </p:spPr>
          <p:txBody>
            <a:bodyPr anchor="t" rtlCol="false" tIns="0" lIns="0" bIns="0" rIns="0">
              <a:spAutoFit/>
            </a:bodyPr>
            <a:lstStyle/>
            <a:p>
              <a:pPr algn="l" marL="0" indent="0" lvl="0">
                <a:lnSpc>
                  <a:spcPts val="2800"/>
                </a:lnSpc>
                <a:spcBef>
                  <a:spcPct val="0"/>
                </a:spcBef>
              </a:pPr>
              <a:r>
                <a:rPr lang="en-US" b="true" sz="2000">
                  <a:solidFill>
                    <a:srgbClr val="4F9C4E"/>
                  </a:solidFill>
                  <a:latin typeface="Inclusive Sans Bold"/>
                  <a:ea typeface="Inclusive Sans Bold"/>
                  <a:cs typeface="Inclusive Sans Bold"/>
                  <a:sym typeface="Inclusive Sans Bold"/>
                </a:rPr>
                <a:t>  </a:t>
              </a:r>
              <a:r>
                <a:rPr lang="en-US" b="true" sz="2000">
                  <a:solidFill>
                    <a:srgbClr val="4F9C4E"/>
                  </a:solidFill>
                  <a:latin typeface="Inclusive Sans Bold"/>
                  <a:ea typeface="Inclusive Sans Bold"/>
                  <a:cs typeface="Inclusive Sans Bold"/>
                  <a:sym typeface="Inclusive Sans Bold"/>
                </a:rPr>
                <a:t>Profit  </a:t>
              </a:r>
            </a:p>
          </p:txBody>
        </p:sp>
        <p:sp>
          <p:nvSpPr>
            <p:cNvPr name="TextBox 21" id="21"/>
            <p:cNvSpPr txBox="true"/>
            <p:nvPr/>
          </p:nvSpPr>
          <p:spPr>
            <a:xfrm rot="0">
              <a:off x="827165" y="2698343"/>
              <a:ext cx="4881068" cy="720513"/>
            </a:xfrm>
            <a:prstGeom prst="rect">
              <a:avLst/>
            </a:prstGeom>
          </p:spPr>
          <p:txBody>
            <a:bodyPr anchor="t" rtlCol="false" tIns="0" lIns="0" bIns="0" rIns="0">
              <a:spAutoFit/>
            </a:bodyPr>
            <a:lstStyle/>
            <a:p>
              <a:pPr algn="l" marL="0" indent="0" lvl="0">
                <a:lnSpc>
                  <a:spcPts val="2239"/>
                </a:lnSpc>
                <a:spcBef>
                  <a:spcPct val="0"/>
                </a:spcBef>
              </a:pPr>
              <a:r>
                <a:rPr lang="en-US" sz="1599">
                  <a:solidFill>
                    <a:srgbClr val="000000"/>
                  </a:solidFill>
                  <a:latin typeface="Inclusive Sans"/>
                  <a:ea typeface="Inclusive Sans"/>
                  <a:cs typeface="Inclusive Sans"/>
                  <a:sym typeface="Inclusive Sans"/>
                </a:rPr>
                <a:t>Ef</a:t>
              </a:r>
              <a:r>
                <a:rPr lang="en-US" sz="1599" strike="noStrike" u="none">
                  <a:solidFill>
                    <a:srgbClr val="000000"/>
                  </a:solidFill>
                  <a:latin typeface="Inclusive Sans"/>
                  <a:ea typeface="Inclusive Sans"/>
                  <a:cs typeface="Inclusive Sans"/>
                  <a:sym typeface="Inclusive Sans"/>
                </a:rPr>
                <a:t>isie</a:t>
              </a:r>
              <a:r>
                <a:rPr lang="en-US" sz="1599" strike="noStrike" u="none">
                  <a:solidFill>
                    <a:srgbClr val="000000"/>
                  </a:solidFill>
                  <a:latin typeface="Inclusive Sans"/>
                  <a:ea typeface="Inclusive Sans"/>
                  <a:cs typeface="Inclusive Sans"/>
                  <a:sym typeface="Inclusive Sans"/>
                </a:rPr>
                <a:t>n</a:t>
              </a:r>
              <a:r>
                <a:rPr lang="en-US" sz="1599" strike="noStrike" u="none">
                  <a:solidFill>
                    <a:srgbClr val="000000"/>
                  </a:solidFill>
                  <a:latin typeface="Inclusive Sans"/>
                  <a:ea typeface="Inclusive Sans"/>
                  <a:cs typeface="Inclusive Sans"/>
                  <a:sym typeface="Inclusive Sans"/>
                </a:rPr>
                <a:t>si operasion</a:t>
              </a:r>
              <a:r>
                <a:rPr lang="en-US" sz="1599" strike="noStrike" u="none">
                  <a:solidFill>
                    <a:srgbClr val="000000"/>
                  </a:solidFill>
                  <a:latin typeface="Inclusive Sans"/>
                  <a:ea typeface="Inclusive Sans"/>
                  <a:cs typeface="Inclusive Sans"/>
                  <a:sym typeface="Inclusive Sans"/>
                </a:rPr>
                <a:t>al pert</a:t>
              </a:r>
              <a:r>
                <a:rPr lang="en-US" sz="1599" strike="noStrike" u="none">
                  <a:solidFill>
                    <a:srgbClr val="000000"/>
                  </a:solidFill>
                  <a:latin typeface="Inclusive Sans"/>
                  <a:ea typeface="Inclusive Sans"/>
                  <a:cs typeface="Inclusive Sans"/>
                  <a:sym typeface="Inclusive Sans"/>
                </a:rPr>
                <a:t>umbuhan platf</a:t>
              </a:r>
              <a:r>
                <a:rPr lang="en-US" sz="1599" strike="noStrike" u="none">
                  <a:solidFill>
                    <a:srgbClr val="000000"/>
                  </a:solidFill>
                  <a:latin typeface="Inclusive Sans"/>
                  <a:ea typeface="Inclusive Sans"/>
                  <a:cs typeface="Inclusive Sans"/>
                  <a:sym typeface="Inclusive Sans"/>
                </a:rPr>
                <a:t>o</a:t>
              </a:r>
              <a:r>
                <a:rPr lang="en-US" sz="1599" strike="noStrike" u="none">
                  <a:solidFill>
                    <a:srgbClr val="000000"/>
                  </a:solidFill>
                  <a:latin typeface="Inclusive Sans"/>
                  <a:ea typeface="Inclusive Sans"/>
                  <a:cs typeface="Inclusive Sans"/>
                  <a:sym typeface="Inclusive Sans"/>
                </a:rPr>
                <a:t>r</a:t>
              </a:r>
              <a:r>
                <a:rPr lang="en-US" sz="1599" strike="noStrike" u="none">
                  <a:solidFill>
                    <a:srgbClr val="000000"/>
                  </a:solidFill>
                  <a:latin typeface="Inclusive Sans"/>
                  <a:ea typeface="Inclusive Sans"/>
                  <a:cs typeface="Inclusive Sans"/>
                  <a:sym typeface="Inclusive Sans"/>
                </a:rPr>
                <a:t>m skala bis</a:t>
              </a:r>
              <a:r>
                <a:rPr lang="en-US" sz="1599" strike="noStrike" u="none">
                  <a:solidFill>
                    <a:srgbClr val="000000"/>
                  </a:solidFill>
                  <a:latin typeface="Inclusive Sans"/>
                  <a:ea typeface="Inclusive Sans"/>
                  <a:cs typeface="Inclusive Sans"/>
                  <a:sym typeface="Inclusive Sans"/>
                </a:rPr>
                <a:t>nis besar</a:t>
              </a:r>
            </a:p>
          </p:txBody>
        </p:sp>
        <p:sp>
          <p:nvSpPr>
            <p:cNvPr name="TextBox 22" id="22"/>
            <p:cNvSpPr txBox="true"/>
            <p:nvPr/>
          </p:nvSpPr>
          <p:spPr>
            <a:xfrm rot="0">
              <a:off x="827165" y="2229897"/>
              <a:ext cx="4881068" cy="364701"/>
            </a:xfrm>
            <a:prstGeom prst="rect">
              <a:avLst/>
            </a:prstGeom>
          </p:spPr>
          <p:txBody>
            <a:bodyPr anchor="t" rtlCol="false" tIns="0" lIns="0" bIns="0" rIns="0">
              <a:spAutoFit/>
            </a:bodyPr>
            <a:lstStyle/>
            <a:p>
              <a:pPr algn="l" marL="0" indent="0" lvl="0">
                <a:lnSpc>
                  <a:spcPts val="2380"/>
                </a:lnSpc>
                <a:spcBef>
                  <a:spcPct val="0"/>
                </a:spcBef>
              </a:pPr>
              <a:r>
                <a:rPr lang="en-US" b="true" sz="1700">
                  <a:solidFill>
                    <a:srgbClr val="4F9C4E"/>
                  </a:solidFill>
                  <a:latin typeface="Inclusive Sans Bold"/>
                  <a:ea typeface="Inclusive Sans Bold"/>
                  <a:cs typeface="Inclusive Sans Bold"/>
                  <a:sym typeface="Inclusive Sans Bold"/>
                </a:rPr>
                <a:t>Kondisi Ojol</a:t>
              </a:r>
            </a:p>
          </p:txBody>
        </p:sp>
        <p:grpSp>
          <p:nvGrpSpPr>
            <p:cNvPr name="Group 23" id="23"/>
            <p:cNvGrpSpPr/>
            <p:nvPr/>
          </p:nvGrpSpPr>
          <p:grpSpPr>
            <a:xfrm rot="-5400000">
              <a:off x="-1565669" y="1952362"/>
              <a:ext cx="3314171" cy="182834"/>
              <a:chOff x="0" y="0"/>
              <a:chExt cx="7366685" cy="406400"/>
            </a:xfrm>
          </p:grpSpPr>
          <p:sp>
            <p:nvSpPr>
              <p:cNvPr name="Freeform 24" id="24"/>
              <p:cNvSpPr/>
              <p:nvPr/>
            </p:nvSpPr>
            <p:spPr>
              <a:xfrm flipH="false" flipV="false" rot="0">
                <a:off x="0" y="0"/>
                <a:ext cx="7366685" cy="406400"/>
              </a:xfrm>
              <a:custGeom>
                <a:avLst/>
                <a:gdLst/>
                <a:ahLst/>
                <a:cxnLst/>
                <a:rect r="r" b="b" t="t" l="l"/>
                <a:pathLst>
                  <a:path h="406400" w="7366685">
                    <a:moveTo>
                      <a:pt x="7163485" y="0"/>
                    </a:moveTo>
                    <a:cubicBezTo>
                      <a:pt x="7275709" y="0"/>
                      <a:pt x="7366685" y="90976"/>
                      <a:pt x="7366685" y="203200"/>
                    </a:cubicBezTo>
                    <a:cubicBezTo>
                      <a:pt x="7366685" y="315424"/>
                      <a:pt x="7275709" y="406400"/>
                      <a:pt x="7163485" y="406400"/>
                    </a:cubicBezTo>
                    <a:lnTo>
                      <a:pt x="203200" y="406400"/>
                    </a:lnTo>
                    <a:cubicBezTo>
                      <a:pt x="90976" y="406400"/>
                      <a:pt x="0" y="315424"/>
                      <a:pt x="0" y="203200"/>
                    </a:cubicBezTo>
                    <a:cubicBezTo>
                      <a:pt x="0" y="90976"/>
                      <a:pt x="90976" y="0"/>
                      <a:pt x="203200" y="0"/>
                    </a:cubicBezTo>
                    <a:close/>
                  </a:path>
                </a:pathLst>
              </a:custGeom>
              <a:solidFill>
                <a:srgbClr val="4F9C4E"/>
              </a:solidFill>
            </p:spPr>
          </p:sp>
          <p:sp>
            <p:nvSpPr>
              <p:cNvPr name="TextBox 25" id="25"/>
              <p:cNvSpPr txBox="true"/>
              <p:nvPr/>
            </p:nvSpPr>
            <p:spPr>
              <a:xfrm>
                <a:off x="0" y="-38100"/>
                <a:ext cx="7366685" cy="444500"/>
              </a:xfrm>
              <a:prstGeom prst="rect">
                <a:avLst/>
              </a:prstGeom>
            </p:spPr>
            <p:txBody>
              <a:bodyPr anchor="ctr" rtlCol="false" tIns="50800" lIns="50800" bIns="50800" rIns="50800"/>
              <a:lstStyle/>
              <a:p>
                <a:pPr algn="ctr" marL="0" indent="0" lvl="0">
                  <a:lnSpc>
                    <a:spcPts val="2520"/>
                  </a:lnSpc>
                  <a:spcBef>
                    <a:spcPct val="0"/>
                  </a:spcBef>
                </a:pPr>
              </a:p>
            </p:txBody>
          </p:sp>
        </p:grpSp>
        <p:grpSp>
          <p:nvGrpSpPr>
            <p:cNvPr name="Group 26" id="26"/>
            <p:cNvGrpSpPr/>
            <p:nvPr/>
          </p:nvGrpSpPr>
          <p:grpSpPr>
            <a:xfrm rot="-5400000">
              <a:off x="147597" y="1775159"/>
              <a:ext cx="328088" cy="440449"/>
              <a:chOff x="0" y="0"/>
              <a:chExt cx="529769" cy="711200"/>
            </a:xfrm>
          </p:grpSpPr>
          <p:sp>
            <p:nvSpPr>
              <p:cNvPr name="Freeform 27" id="27"/>
              <p:cNvSpPr/>
              <p:nvPr/>
            </p:nvSpPr>
            <p:spPr>
              <a:xfrm flipH="false" flipV="false" rot="0">
                <a:off x="80879" y="0"/>
                <a:ext cx="368011" cy="447602"/>
              </a:xfrm>
              <a:custGeom>
                <a:avLst/>
                <a:gdLst/>
                <a:ahLst/>
                <a:cxnLst/>
                <a:rect r="r" b="b" t="t" l="l"/>
                <a:pathLst>
                  <a:path h="447602" w="368011">
                    <a:moveTo>
                      <a:pt x="316448" y="355600"/>
                    </a:moveTo>
                    <a:lnTo>
                      <a:pt x="356438" y="248227"/>
                    </a:lnTo>
                    <a:cubicBezTo>
                      <a:pt x="377477" y="191740"/>
                      <a:pt x="369515" y="128532"/>
                      <a:pt x="335126" y="79027"/>
                    </a:cubicBezTo>
                    <a:cubicBezTo>
                      <a:pt x="300737" y="29523"/>
                      <a:pt x="244282" y="0"/>
                      <a:pt x="184005" y="0"/>
                    </a:cubicBezTo>
                    <a:lnTo>
                      <a:pt x="184005" y="0"/>
                    </a:lnTo>
                    <a:cubicBezTo>
                      <a:pt x="123729" y="0"/>
                      <a:pt x="67274" y="29523"/>
                      <a:pt x="32885" y="79027"/>
                    </a:cubicBezTo>
                    <a:cubicBezTo>
                      <a:pt x="-1504" y="128532"/>
                      <a:pt x="-9466" y="191740"/>
                      <a:pt x="11572" y="248227"/>
                    </a:cubicBezTo>
                    <a:lnTo>
                      <a:pt x="51563" y="355600"/>
                    </a:lnTo>
                    <a:cubicBezTo>
                      <a:pt x="72166" y="410916"/>
                      <a:pt x="124977" y="447602"/>
                      <a:pt x="184005" y="447602"/>
                    </a:cubicBezTo>
                    <a:cubicBezTo>
                      <a:pt x="243034" y="447602"/>
                      <a:pt x="295845" y="410916"/>
                      <a:pt x="316448" y="355600"/>
                    </a:cubicBezTo>
                    <a:close/>
                  </a:path>
                </a:pathLst>
              </a:custGeom>
              <a:solidFill>
                <a:srgbClr val="57E11C">
                  <a:alpha val="71765"/>
                </a:srgbClr>
              </a:solidFill>
            </p:spPr>
          </p:sp>
          <p:sp>
            <p:nvSpPr>
              <p:cNvPr name="TextBox 28" id="28"/>
              <p:cNvSpPr txBox="true"/>
              <p:nvPr/>
            </p:nvSpPr>
            <p:spPr>
              <a:xfrm>
                <a:off x="82776" y="12700"/>
                <a:ext cx="364216" cy="368300"/>
              </a:xfrm>
              <a:prstGeom prst="rect">
                <a:avLst/>
              </a:prstGeom>
            </p:spPr>
            <p:txBody>
              <a:bodyPr anchor="ctr" rtlCol="false" tIns="50800" lIns="50800" bIns="50800" rIns="50800"/>
              <a:lstStyle/>
              <a:p>
                <a:pPr algn="ctr" marL="0" indent="0" lvl="0">
                  <a:lnSpc>
                    <a:spcPts val="2520"/>
                  </a:lnSpc>
                  <a:spcBef>
                    <a:spcPct val="0"/>
                  </a:spcBef>
                </a:pPr>
              </a:p>
            </p:txBody>
          </p:sp>
        </p:grpSp>
      </p:grpSp>
      <p:grpSp>
        <p:nvGrpSpPr>
          <p:cNvPr name="Group 29" id="29"/>
          <p:cNvGrpSpPr/>
          <p:nvPr/>
        </p:nvGrpSpPr>
        <p:grpSpPr>
          <a:xfrm rot="0">
            <a:off x="6727507" y="4461307"/>
            <a:ext cx="4832986" cy="3714851"/>
            <a:chOff x="0" y="0"/>
            <a:chExt cx="6443981" cy="4953135"/>
          </a:xfrm>
        </p:grpSpPr>
        <p:sp>
          <p:nvSpPr>
            <p:cNvPr name="Freeform 30" id="30"/>
            <p:cNvSpPr/>
            <p:nvPr/>
          </p:nvSpPr>
          <p:spPr>
            <a:xfrm flipH="false" flipV="false" rot="0">
              <a:off x="0" y="4455858"/>
              <a:ext cx="6352564" cy="497277"/>
            </a:xfrm>
            <a:custGeom>
              <a:avLst/>
              <a:gdLst/>
              <a:ahLst/>
              <a:cxnLst/>
              <a:rect r="r" b="b" t="t" l="l"/>
              <a:pathLst>
                <a:path h="497277" w="6352564">
                  <a:moveTo>
                    <a:pt x="0" y="0"/>
                  </a:moveTo>
                  <a:lnTo>
                    <a:pt x="6352564" y="0"/>
                  </a:lnTo>
                  <a:lnTo>
                    <a:pt x="6352564" y="497277"/>
                  </a:lnTo>
                  <a:lnTo>
                    <a:pt x="0" y="497277"/>
                  </a:lnTo>
                  <a:lnTo>
                    <a:pt x="0" y="0"/>
                  </a:lnTo>
                  <a:close/>
                </a:path>
              </a:pathLst>
            </a:custGeom>
            <a:blipFill>
              <a:blip r:embed="rId6">
                <a:alphaModFix amt="67000"/>
              </a:blip>
              <a:stretch>
                <a:fillRect l="0" t="-8066" r="0" b="-8066"/>
              </a:stretch>
            </a:blipFill>
          </p:spPr>
        </p:sp>
        <p:grpSp>
          <p:nvGrpSpPr>
            <p:cNvPr name="Group 31" id="31"/>
            <p:cNvGrpSpPr/>
            <p:nvPr/>
          </p:nvGrpSpPr>
          <p:grpSpPr>
            <a:xfrm rot="0">
              <a:off x="91417" y="0"/>
              <a:ext cx="6352564" cy="4455858"/>
              <a:chOff x="0" y="0"/>
              <a:chExt cx="1096685" cy="769244"/>
            </a:xfrm>
          </p:grpSpPr>
          <p:sp>
            <p:nvSpPr>
              <p:cNvPr name="Freeform 32" id="32"/>
              <p:cNvSpPr/>
              <p:nvPr/>
            </p:nvSpPr>
            <p:spPr>
              <a:xfrm flipH="false" flipV="false" rot="0">
                <a:off x="0" y="0"/>
                <a:ext cx="1096685" cy="769244"/>
              </a:xfrm>
              <a:custGeom>
                <a:avLst/>
                <a:gdLst/>
                <a:ahLst/>
                <a:cxnLst/>
                <a:rect r="r" b="b" t="t" l="l"/>
                <a:pathLst>
                  <a:path h="769244" w="1096685">
                    <a:moveTo>
                      <a:pt x="30874" y="0"/>
                    </a:moveTo>
                    <a:lnTo>
                      <a:pt x="1065811" y="0"/>
                    </a:lnTo>
                    <a:cubicBezTo>
                      <a:pt x="1082862" y="0"/>
                      <a:pt x="1096685" y="13823"/>
                      <a:pt x="1096685" y="30874"/>
                    </a:cubicBezTo>
                    <a:lnTo>
                      <a:pt x="1096685" y="738370"/>
                    </a:lnTo>
                    <a:cubicBezTo>
                      <a:pt x="1096685" y="755421"/>
                      <a:pt x="1082862" y="769244"/>
                      <a:pt x="1065811" y="769244"/>
                    </a:cubicBezTo>
                    <a:lnTo>
                      <a:pt x="30874" y="769244"/>
                    </a:lnTo>
                    <a:cubicBezTo>
                      <a:pt x="13823" y="769244"/>
                      <a:pt x="0" y="755421"/>
                      <a:pt x="0" y="738370"/>
                    </a:cubicBezTo>
                    <a:lnTo>
                      <a:pt x="0" y="30874"/>
                    </a:lnTo>
                    <a:cubicBezTo>
                      <a:pt x="0" y="13823"/>
                      <a:pt x="13823" y="0"/>
                      <a:pt x="30874" y="0"/>
                    </a:cubicBezTo>
                    <a:close/>
                  </a:path>
                </a:pathLst>
              </a:custGeom>
              <a:solidFill>
                <a:srgbClr val="FFFFFF"/>
              </a:solidFill>
            </p:spPr>
          </p:sp>
          <p:sp>
            <p:nvSpPr>
              <p:cNvPr name="TextBox 33" id="33"/>
              <p:cNvSpPr txBox="true"/>
              <p:nvPr/>
            </p:nvSpPr>
            <p:spPr>
              <a:xfrm>
                <a:off x="0" y="-38100"/>
                <a:ext cx="1096685" cy="807344"/>
              </a:xfrm>
              <a:prstGeom prst="rect">
                <a:avLst/>
              </a:prstGeom>
            </p:spPr>
            <p:txBody>
              <a:bodyPr anchor="ctr" rtlCol="false" tIns="50800" lIns="50800" bIns="50800" rIns="50800"/>
              <a:lstStyle/>
              <a:p>
                <a:pPr algn="ctr">
                  <a:lnSpc>
                    <a:spcPts val="2520"/>
                  </a:lnSpc>
                </a:pPr>
              </a:p>
            </p:txBody>
          </p:sp>
        </p:grpSp>
        <p:sp>
          <p:nvSpPr>
            <p:cNvPr name="TextBox 34" id="34"/>
            <p:cNvSpPr txBox="true"/>
            <p:nvPr/>
          </p:nvSpPr>
          <p:spPr>
            <a:xfrm rot="0">
              <a:off x="827165" y="1165585"/>
              <a:ext cx="4881068" cy="720513"/>
            </a:xfrm>
            <a:prstGeom prst="rect">
              <a:avLst/>
            </a:prstGeom>
          </p:spPr>
          <p:txBody>
            <a:bodyPr anchor="t" rtlCol="false" tIns="0" lIns="0" bIns="0" rIns="0">
              <a:spAutoFit/>
            </a:bodyPr>
            <a:lstStyle/>
            <a:p>
              <a:pPr algn="l" marL="0" indent="0" lvl="0">
                <a:lnSpc>
                  <a:spcPts val="2239"/>
                </a:lnSpc>
                <a:spcBef>
                  <a:spcPct val="0"/>
                </a:spcBef>
              </a:pPr>
              <a:r>
                <a:rPr lang="en-US" sz="1599">
                  <a:solidFill>
                    <a:srgbClr val="000000"/>
                  </a:solidFill>
                  <a:latin typeface="Inclusive Sans"/>
                  <a:ea typeface="Inclusive Sans"/>
                  <a:cs typeface="Inclusive Sans"/>
                  <a:sym typeface="Inclusive Sans"/>
                </a:rPr>
                <a:t>P</a:t>
              </a:r>
              <a:r>
                <a:rPr lang="en-US" sz="1599" strike="noStrike" u="none">
                  <a:solidFill>
                    <a:srgbClr val="000000"/>
                  </a:solidFill>
                  <a:latin typeface="Inclusive Sans"/>
                  <a:ea typeface="Inclusive Sans"/>
                  <a:cs typeface="Inclusive Sans"/>
                  <a:sym typeface="Inclusive Sans"/>
                </a:rPr>
                <a:t>endapatan driver keadilan prosedural perlindungan sosial</a:t>
              </a:r>
            </a:p>
          </p:txBody>
        </p:sp>
        <p:sp>
          <p:nvSpPr>
            <p:cNvPr name="TextBox 35" id="35"/>
            <p:cNvSpPr txBox="true"/>
            <p:nvPr/>
          </p:nvSpPr>
          <p:spPr>
            <a:xfrm rot="0">
              <a:off x="827165" y="490369"/>
              <a:ext cx="4881068" cy="459317"/>
            </a:xfrm>
            <a:prstGeom prst="rect">
              <a:avLst/>
            </a:prstGeom>
          </p:spPr>
          <p:txBody>
            <a:bodyPr anchor="t" rtlCol="false" tIns="0" lIns="0" bIns="0" rIns="0">
              <a:spAutoFit/>
            </a:bodyPr>
            <a:lstStyle/>
            <a:p>
              <a:pPr algn="l" marL="0" indent="0" lvl="0">
                <a:lnSpc>
                  <a:spcPts val="2800"/>
                </a:lnSpc>
                <a:spcBef>
                  <a:spcPct val="0"/>
                </a:spcBef>
              </a:pPr>
              <a:r>
                <a:rPr lang="en-US" b="true" sz="2000">
                  <a:solidFill>
                    <a:srgbClr val="4F9C4E"/>
                  </a:solidFill>
                  <a:latin typeface="Inclusive Sans Bold"/>
                  <a:ea typeface="Inclusive Sans Bold"/>
                  <a:cs typeface="Inclusive Sans Bold"/>
                  <a:sym typeface="Inclusive Sans Bold"/>
                </a:rPr>
                <a:t>  </a:t>
              </a:r>
              <a:r>
                <a:rPr lang="en-US" b="true" sz="2000">
                  <a:solidFill>
                    <a:srgbClr val="4F9C4E"/>
                  </a:solidFill>
                  <a:latin typeface="Inclusive Sans Bold"/>
                  <a:ea typeface="Inclusive Sans Bold"/>
                  <a:cs typeface="Inclusive Sans Bold"/>
                  <a:sym typeface="Inclusive Sans Bold"/>
                </a:rPr>
                <a:t>People  </a:t>
              </a:r>
            </a:p>
          </p:txBody>
        </p:sp>
        <p:sp>
          <p:nvSpPr>
            <p:cNvPr name="TextBox 36" id="36"/>
            <p:cNvSpPr txBox="true"/>
            <p:nvPr/>
          </p:nvSpPr>
          <p:spPr>
            <a:xfrm rot="0">
              <a:off x="827165" y="2715449"/>
              <a:ext cx="4881068" cy="1088813"/>
            </a:xfrm>
            <a:prstGeom prst="rect">
              <a:avLst/>
            </a:prstGeom>
          </p:spPr>
          <p:txBody>
            <a:bodyPr anchor="t" rtlCol="false" tIns="0" lIns="0" bIns="0" rIns="0">
              <a:spAutoFit/>
            </a:bodyPr>
            <a:lstStyle/>
            <a:p>
              <a:pPr algn="l" marL="0" indent="0" lvl="0">
                <a:lnSpc>
                  <a:spcPts val="2239"/>
                </a:lnSpc>
                <a:spcBef>
                  <a:spcPct val="0"/>
                </a:spcBef>
              </a:pPr>
              <a:r>
                <a:rPr lang="en-US" sz="1599">
                  <a:solidFill>
                    <a:srgbClr val="000000"/>
                  </a:solidFill>
                  <a:latin typeface="Inclusive Sans"/>
                  <a:ea typeface="Inclusive Sans"/>
                  <a:cs typeface="Inclusive Sans"/>
                  <a:sym typeface="Inclusive Sans"/>
                </a:rPr>
                <a:t>Pengemud</a:t>
              </a:r>
              <a:r>
                <a:rPr lang="en-US" sz="1599" strike="noStrike" u="none">
                  <a:solidFill>
                    <a:srgbClr val="000000"/>
                  </a:solidFill>
                  <a:latin typeface="Inclusive Sans"/>
                  <a:ea typeface="Inclusive Sans"/>
                  <a:cs typeface="Inclusive Sans"/>
                  <a:sym typeface="Inclusive Sans"/>
                </a:rPr>
                <a:t>i menanggung seluruh risiko operasional, minim jam</a:t>
              </a:r>
              <a:r>
                <a:rPr lang="en-US" sz="1599" strike="noStrike" u="none">
                  <a:solidFill>
                    <a:srgbClr val="000000"/>
                  </a:solidFill>
                  <a:latin typeface="Inclusive Sans"/>
                  <a:ea typeface="Inclusive Sans"/>
                  <a:cs typeface="Inclusive Sans"/>
                  <a:sym typeface="Inclusive Sans"/>
                </a:rPr>
                <a:t>inan</a:t>
              </a:r>
              <a:r>
                <a:rPr lang="en-US" sz="1599" strike="noStrike" u="none">
                  <a:solidFill>
                    <a:srgbClr val="000000"/>
                  </a:solidFill>
                  <a:latin typeface="Inclusive Sans"/>
                  <a:ea typeface="Inclusive Sans"/>
                  <a:cs typeface="Inclusive Sans"/>
                  <a:sym typeface="Inclusive Sans"/>
                </a:rPr>
                <a:t> s</a:t>
              </a:r>
              <a:r>
                <a:rPr lang="en-US" sz="1599" strike="noStrike" u="none">
                  <a:solidFill>
                    <a:srgbClr val="000000"/>
                  </a:solidFill>
                  <a:latin typeface="Inclusive Sans"/>
                  <a:ea typeface="Inclusive Sans"/>
                  <a:cs typeface="Inclusive Sans"/>
                  <a:sym typeface="Inclusive Sans"/>
                </a:rPr>
                <a:t>osi</a:t>
              </a:r>
              <a:r>
                <a:rPr lang="en-US" sz="1599" strike="noStrike" u="none">
                  <a:solidFill>
                    <a:srgbClr val="000000"/>
                  </a:solidFill>
                  <a:latin typeface="Inclusive Sans"/>
                  <a:ea typeface="Inclusive Sans"/>
                  <a:cs typeface="Inclusive Sans"/>
                  <a:sym typeface="Inclusive Sans"/>
                </a:rPr>
                <a:t>al, dan </a:t>
              </a:r>
              <a:r>
                <a:rPr lang="en-US" sz="1599" strike="noStrike" u="none">
                  <a:solidFill>
                    <a:srgbClr val="000000"/>
                  </a:solidFill>
                  <a:latin typeface="Inclusive Sans"/>
                  <a:ea typeface="Inclusive Sans"/>
                  <a:cs typeface="Inclusive Sans"/>
                  <a:sym typeface="Inclusive Sans"/>
                </a:rPr>
                <a:t>pos</a:t>
              </a:r>
              <a:r>
                <a:rPr lang="en-US" sz="1599" strike="noStrike" u="none">
                  <a:solidFill>
                    <a:srgbClr val="000000"/>
                  </a:solidFill>
                  <a:latin typeface="Inclusive Sans"/>
                  <a:ea typeface="Inclusive Sans"/>
                  <a:cs typeface="Inclusive Sans"/>
                  <a:sym typeface="Inclusive Sans"/>
                </a:rPr>
                <a:t>isi tawar sangat lemah</a:t>
              </a:r>
            </a:p>
          </p:txBody>
        </p:sp>
        <p:sp>
          <p:nvSpPr>
            <p:cNvPr name="TextBox 37" id="37"/>
            <p:cNvSpPr txBox="true"/>
            <p:nvPr/>
          </p:nvSpPr>
          <p:spPr>
            <a:xfrm rot="0">
              <a:off x="827165" y="2247003"/>
              <a:ext cx="4881068" cy="364701"/>
            </a:xfrm>
            <a:prstGeom prst="rect">
              <a:avLst/>
            </a:prstGeom>
          </p:spPr>
          <p:txBody>
            <a:bodyPr anchor="t" rtlCol="false" tIns="0" lIns="0" bIns="0" rIns="0">
              <a:spAutoFit/>
            </a:bodyPr>
            <a:lstStyle/>
            <a:p>
              <a:pPr algn="l" marL="0" indent="0" lvl="0">
                <a:lnSpc>
                  <a:spcPts val="2380"/>
                </a:lnSpc>
                <a:spcBef>
                  <a:spcPct val="0"/>
                </a:spcBef>
              </a:pPr>
              <a:r>
                <a:rPr lang="en-US" b="true" sz="1700">
                  <a:solidFill>
                    <a:srgbClr val="4F9C4E"/>
                  </a:solidFill>
                  <a:latin typeface="Inclusive Sans Bold"/>
                  <a:ea typeface="Inclusive Sans Bold"/>
                  <a:cs typeface="Inclusive Sans Bold"/>
                  <a:sym typeface="Inclusive Sans Bold"/>
                </a:rPr>
                <a:t>Kondisi Ojol</a:t>
              </a:r>
            </a:p>
          </p:txBody>
        </p:sp>
        <p:grpSp>
          <p:nvGrpSpPr>
            <p:cNvPr name="Group 38" id="38"/>
            <p:cNvGrpSpPr/>
            <p:nvPr/>
          </p:nvGrpSpPr>
          <p:grpSpPr>
            <a:xfrm rot="-5400000">
              <a:off x="-1759015" y="2136512"/>
              <a:ext cx="3700865" cy="182834"/>
              <a:chOff x="0" y="0"/>
              <a:chExt cx="8226221" cy="406400"/>
            </a:xfrm>
          </p:grpSpPr>
          <p:sp>
            <p:nvSpPr>
              <p:cNvPr name="Freeform 39" id="39"/>
              <p:cNvSpPr/>
              <p:nvPr/>
            </p:nvSpPr>
            <p:spPr>
              <a:xfrm flipH="false" flipV="false" rot="0">
                <a:off x="0" y="0"/>
                <a:ext cx="8226221" cy="406400"/>
              </a:xfrm>
              <a:custGeom>
                <a:avLst/>
                <a:gdLst/>
                <a:ahLst/>
                <a:cxnLst/>
                <a:rect r="r" b="b" t="t" l="l"/>
                <a:pathLst>
                  <a:path h="406400" w="8226221">
                    <a:moveTo>
                      <a:pt x="8023021" y="0"/>
                    </a:moveTo>
                    <a:cubicBezTo>
                      <a:pt x="8135245" y="0"/>
                      <a:pt x="8226221" y="90976"/>
                      <a:pt x="8226221" y="203200"/>
                    </a:cubicBezTo>
                    <a:cubicBezTo>
                      <a:pt x="8226221" y="315424"/>
                      <a:pt x="8135245" y="406400"/>
                      <a:pt x="8023021" y="406400"/>
                    </a:cubicBezTo>
                    <a:lnTo>
                      <a:pt x="203200" y="406400"/>
                    </a:lnTo>
                    <a:cubicBezTo>
                      <a:pt x="90976" y="406400"/>
                      <a:pt x="0" y="315424"/>
                      <a:pt x="0" y="203200"/>
                    </a:cubicBezTo>
                    <a:cubicBezTo>
                      <a:pt x="0" y="90976"/>
                      <a:pt x="90976" y="0"/>
                      <a:pt x="203200" y="0"/>
                    </a:cubicBezTo>
                    <a:close/>
                  </a:path>
                </a:pathLst>
              </a:custGeom>
              <a:solidFill>
                <a:srgbClr val="4F9C4E"/>
              </a:solidFill>
            </p:spPr>
          </p:sp>
          <p:sp>
            <p:nvSpPr>
              <p:cNvPr name="TextBox 40" id="40"/>
              <p:cNvSpPr txBox="true"/>
              <p:nvPr/>
            </p:nvSpPr>
            <p:spPr>
              <a:xfrm>
                <a:off x="0" y="-38100"/>
                <a:ext cx="8226221" cy="444500"/>
              </a:xfrm>
              <a:prstGeom prst="rect">
                <a:avLst/>
              </a:prstGeom>
            </p:spPr>
            <p:txBody>
              <a:bodyPr anchor="ctr" rtlCol="false" tIns="50800" lIns="50800" bIns="50800" rIns="50800"/>
              <a:lstStyle/>
              <a:p>
                <a:pPr algn="ctr" marL="0" indent="0" lvl="0">
                  <a:lnSpc>
                    <a:spcPts val="2520"/>
                  </a:lnSpc>
                  <a:spcBef>
                    <a:spcPct val="0"/>
                  </a:spcBef>
                </a:pPr>
              </a:p>
            </p:txBody>
          </p:sp>
        </p:grpSp>
        <p:grpSp>
          <p:nvGrpSpPr>
            <p:cNvPr name="Group 41" id="41"/>
            <p:cNvGrpSpPr/>
            <p:nvPr/>
          </p:nvGrpSpPr>
          <p:grpSpPr>
            <a:xfrm rot="-5400000">
              <a:off x="128457" y="1953662"/>
              <a:ext cx="366369" cy="440449"/>
              <a:chOff x="0" y="0"/>
              <a:chExt cx="591581" cy="711200"/>
            </a:xfrm>
          </p:grpSpPr>
          <p:sp>
            <p:nvSpPr>
              <p:cNvPr name="Freeform 42" id="42"/>
              <p:cNvSpPr/>
              <p:nvPr/>
            </p:nvSpPr>
            <p:spPr>
              <a:xfrm flipH="false" flipV="false" rot="0">
                <a:off x="98457" y="0"/>
                <a:ext cx="394667" cy="454266"/>
              </a:xfrm>
              <a:custGeom>
                <a:avLst/>
                <a:gdLst/>
                <a:ahLst/>
                <a:cxnLst/>
                <a:rect r="r" b="b" t="t" l="l"/>
                <a:pathLst>
                  <a:path h="454266" w="394667">
                    <a:moveTo>
                      <a:pt x="345229" y="355600"/>
                    </a:moveTo>
                    <a:lnTo>
                      <a:pt x="379536" y="273112"/>
                    </a:lnTo>
                    <a:cubicBezTo>
                      <a:pt x="404864" y="212212"/>
                      <a:pt x="398093" y="142686"/>
                      <a:pt x="361489" y="87819"/>
                    </a:cubicBezTo>
                    <a:cubicBezTo>
                      <a:pt x="324885" y="32952"/>
                      <a:pt x="263290" y="0"/>
                      <a:pt x="197334" y="0"/>
                    </a:cubicBezTo>
                    <a:lnTo>
                      <a:pt x="197334" y="0"/>
                    </a:lnTo>
                    <a:cubicBezTo>
                      <a:pt x="131378" y="0"/>
                      <a:pt x="69782" y="32952"/>
                      <a:pt x="33179" y="87819"/>
                    </a:cubicBezTo>
                    <a:cubicBezTo>
                      <a:pt x="-3425" y="142686"/>
                      <a:pt x="-10197" y="212212"/>
                      <a:pt x="15131" y="273112"/>
                    </a:cubicBezTo>
                    <a:lnTo>
                      <a:pt x="49438" y="355600"/>
                    </a:lnTo>
                    <a:cubicBezTo>
                      <a:pt x="74285" y="415340"/>
                      <a:pt x="132632" y="454266"/>
                      <a:pt x="197334" y="454266"/>
                    </a:cubicBezTo>
                    <a:cubicBezTo>
                      <a:pt x="262035" y="454266"/>
                      <a:pt x="320383" y="415340"/>
                      <a:pt x="345229" y="355600"/>
                    </a:cubicBezTo>
                    <a:close/>
                  </a:path>
                </a:pathLst>
              </a:custGeom>
              <a:solidFill>
                <a:srgbClr val="57E11C">
                  <a:alpha val="71765"/>
                </a:srgbClr>
              </a:solidFill>
            </p:spPr>
          </p:sp>
          <p:sp>
            <p:nvSpPr>
              <p:cNvPr name="TextBox 43" id="43"/>
              <p:cNvSpPr txBox="true"/>
              <p:nvPr/>
            </p:nvSpPr>
            <p:spPr>
              <a:xfrm>
                <a:off x="92435" y="12700"/>
                <a:ext cx="406712" cy="368300"/>
              </a:xfrm>
              <a:prstGeom prst="rect">
                <a:avLst/>
              </a:prstGeom>
            </p:spPr>
            <p:txBody>
              <a:bodyPr anchor="ctr" rtlCol="false" tIns="50800" lIns="50800" bIns="50800" rIns="50800"/>
              <a:lstStyle/>
              <a:p>
                <a:pPr algn="ctr" marL="0" indent="0" lvl="0">
                  <a:lnSpc>
                    <a:spcPts val="2520"/>
                  </a:lnSpc>
                  <a:spcBef>
                    <a:spcPct val="0"/>
                  </a:spcBef>
                </a:pPr>
              </a:p>
            </p:txBody>
          </p:sp>
        </p:grpSp>
      </p:grpSp>
      <p:grpSp>
        <p:nvGrpSpPr>
          <p:cNvPr name="Group 44" id="44"/>
          <p:cNvGrpSpPr/>
          <p:nvPr/>
        </p:nvGrpSpPr>
        <p:grpSpPr>
          <a:xfrm rot="0">
            <a:off x="12224219" y="4461307"/>
            <a:ext cx="4832986" cy="3714851"/>
            <a:chOff x="0" y="0"/>
            <a:chExt cx="6443981" cy="4953135"/>
          </a:xfrm>
        </p:grpSpPr>
        <p:sp>
          <p:nvSpPr>
            <p:cNvPr name="Freeform 45" id="45"/>
            <p:cNvSpPr/>
            <p:nvPr/>
          </p:nvSpPr>
          <p:spPr>
            <a:xfrm flipH="false" flipV="false" rot="0">
              <a:off x="91417" y="4053880"/>
              <a:ext cx="6352564" cy="497277"/>
            </a:xfrm>
            <a:custGeom>
              <a:avLst/>
              <a:gdLst/>
              <a:ahLst/>
              <a:cxnLst/>
              <a:rect r="r" b="b" t="t" l="l"/>
              <a:pathLst>
                <a:path h="497277" w="6352564">
                  <a:moveTo>
                    <a:pt x="0" y="0"/>
                  </a:moveTo>
                  <a:lnTo>
                    <a:pt x="6352564" y="0"/>
                  </a:lnTo>
                  <a:lnTo>
                    <a:pt x="6352564" y="497277"/>
                  </a:lnTo>
                  <a:lnTo>
                    <a:pt x="0" y="497277"/>
                  </a:lnTo>
                  <a:lnTo>
                    <a:pt x="0" y="0"/>
                  </a:lnTo>
                  <a:close/>
                </a:path>
              </a:pathLst>
            </a:custGeom>
            <a:blipFill>
              <a:blip r:embed="rId6">
                <a:alphaModFix amt="67000"/>
              </a:blip>
              <a:stretch>
                <a:fillRect l="0" t="-8066" r="0" b="-8066"/>
              </a:stretch>
            </a:blipFill>
          </p:spPr>
        </p:sp>
        <p:grpSp>
          <p:nvGrpSpPr>
            <p:cNvPr name="Group 46" id="46"/>
            <p:cNvGrpSpPr/>
            <p:nvPr/>
          </p:nvGrpSpPr>
          <p:grpSpPr>
            <a:xfrm rot="0">
              <a:off x="91417" y="0"/>
              <a:ext cx="6352564" cy="4455858"/>
              <a:chOff x="0" y="0"/>
              <a:chExt cx="1096685" cy="769244"/>
            </a:xfrm>
          </p:grpSpPr>
          <p:sp>
            <p:nvSpPr>
              <p:cNvPr name="Freeform 47" id="47"/>
              <p:cNvSpPr/>
              <p:nvPr/>
            </p:nvSpPr>
            <p:spPr>
              <a:xfrm flipH="false" flipV="false" rot="0">
                <a:off x="0" y="0"/>
                <a:ext cx="1096685" cy="769244"/>
              </a:xfrm>
              <a:custGeom>
                <a:avLst/>
                <a:gdLst/>
                <a:ahLst/>
                <a:cxnLst/>
                <a:rect r="r" b="b" t="t" l="l"/>
                <a:pathLst>
                  <a:path h="769244" w="1096685">
                    <a:moveTo>
                      <a:pt x="30874" y="0"/>
                    </a:moveTo>
                    <a:lnTo>
                      <a:pt x="1065811" y="0"/>
                    </a:lnTo>
                    <a:cubicBezTo>
                      <a:pt x="1082862" y="0"/>
                      <a:pt x="1096685" y="13823"/>
                      <a:pt x="1096685" y="30874"/>
                    </a:cubicBezTo>
                    <a:lnTo>
                      <a:pt x="1096685" y="738370"/>
                    </a:lnTo>
                    <a:cubicBezTo>
                      <a:pt x="1096685" y="755421"/>
                      <a:pt x="1082862" y="769244"/>
                      <a:pt x="1065811" y="769244"/>
                    </a:cubicBezTo>
                    <a:lnTo>
                      <a:pt x="30874" y="769244"/>
                    </a:lnTo>
                    <a:cubicBezTo>
                      <a:pt x="13823" y="769244"/>
                      <a:pt x="0" y="755421"/>
                      <a:pt x="0" y="738370"/>
                    </a:cubicBezTo>
                    <a:lnTo>
                      <a:pt x="0" y="30874"/>
                    </a:lnTo>
                    <a:cubicBezTo>
                      <a:pt x="0" y="13823"/>
                      <a:pt x="13823" y="0"/>
                      <a:pt x="30874" y="0"/>
                    </a:cubicBezTo>
                    <a:close/>
                  </a:path>
                </a:pathLst>
              </a:custGeom>
              <a:solidFill>
                <a:srgbClr val="FFFFFF"/>
              </a:solidFill>
            </p:spPr>
          </p:sp>
          <p:sp>
            <p:nvSpPr>
              <p:cNvPr name="TextBox 48" id="48"/>
              <p:cNvSpPr txBox="true"/>
              <p:nvPr/>
            </p:nvSpPr>
            <p:spPr>
              <a:xfrm>
                <a:off x="0" y="-38100"/>
                <a:ext cx="1096685" cy="807344"/>
              </a:xfrm>
              <a:prstGeom prst="rect">
                <a:avLst/>
              </a:prstGeom>
            </p:spPr>
            <p:txBody>
              <a:bodyPr anchor="ctr" rtlCol="false" tIns="50800" lIns="50800" bIns="50800" rIns="50800"/>
              <a:lstStyle/>
              <a:p>
                <a:pPr algn="ctr">
                  <a:lnSpc>
                    <a:spcPts val="2520"/>
                  </a:lnSpc>
                </a:pPr>
              </a:p>
            </p:txBody>
          </p:sp>
        </p:grpSp>
        <p:sp>
          <p:nvSpPr>
            <p:cNvPr name="TextBox 49" id="49"/>
            <p:cNvSpPr txBox="true"/>
            <p:nvPr/>
          </p:nvSpPr>
          <p:spPr>
            <a:xfrm rot="0">
              <a:off x="827165" y="1165585"/>
              <a:ext cx="4881068" cy="720513"/>
            </a:xfrm>
            <a:prstGeom prst="rect">
              <a:avLst/>
            </a:prstGeom>
          </p:spPr>
          <p:txBody>
            <a:bodyPr anchor="t" rtlCol="false" tIns="0" lIns="0" bIns="0" rIns="0">
              <a:spAutoFit/>
            </a:bodyPr>
            <a:lstStyle/>
            <a:p>
              <a:pPr algn="l" marL="0" indent="0" lvl="0">
                <a:lnSpc>
                  <a:spcPts val="2239"/>
                </a:lnSpc>
                <a:spcBef>
                  <a:spcPct val="0"/>
                </a:spcBef>
              </a:pPr>
              <a:r>
                <a:rPr lang="en-US" sz="1599">
                  <a:solidFill>
                    <a:srgbClr val="000000"/>
                  </a:solidFill>
                  <a:latin typeface="Inclusive Sans"/>
                  <a:ea typeface="Inclusive Sans"/>
                  <a:cs typeface="Inclusive Sans"/>
                  <a:sym typeface="Inclusive Sans"/>
                </a:rPr>
                <a:t>Dampak lingkungan t</a:t>
              </a:r>
              <a:r>
                <a:rPr lang="en-US" sz="1599" strike="noStrike" u="none">
                  <a:solidFill>
                    <a:srgbClr val="000000"/>
                  </a:solidFill>
                  <a:latin typeface="Inclusive Sans"/>
                  <a:ea typeface="Inclusive Sans"/>
                  <a:cs typeface="Inclusive Sans"/>
                  <a:sym typeface="Inclusive Sans"/>
                </a:rPr>
                <a:t>ransportasi digital keberlanjutan kota</a:t>
              </a:r>
            </a:p>
          </p:txBody>
        </p:sp>
        <p:sp>
          <p:nvSpPr>
            <p:cNvPr name="TextBox 50" id="50"/>
            <p:cNvSpPr txBox="true"/>
            <p:nvPr/>
          </p:nvSpPr>
          <p:spPr>
            <a:xfrm rot="0">
              <a:off x="827165" y="490369"/>
              <a:ext cx="4881068" cy="459317"/>
            </a:xfrm>
            <a:prstGeom prst="rect">
              <a:avLst/>
            </a:prstGeom>
          </p:spPr>
          <p:txBody>
            <a:bodyPr anchor="t" rtlCol="false" tIns="0" lIns="0" bIns="0" rIns="0">
              <a:spAutoFit/>
            </a:bodyPr>
            <a:lstStyle/>
            <a:p>
              <a:pPr algn="l" marL="0" indent="0" lvl="0">
                <a:lnSpc>
                  <a:spcPts val="2800"/>
                </a:lnSpc>
                <a:spcBef>
                  <a:spcPct val="0"/>
                </a:spcBef>
              </a:pPr>
              <a:r>
                <a:rPr lang="en-US" b="true" sz="2000">
                  <a:solidFill>
                    <a:srgbClr val="4F9C4E"/>
                  </a:solidFill>
                  <a:latin typeface="Inclusive Sans Bold"/>
                  <a:ea typeface="Inclusive Sans Bold"/>
                  <a:cs typeface="Inclusive Sans Bold"/>
                  <a:sym typeface="Inclusive Sans Bold"/>
                </a:rPr>
                <a:t>  Planet</a:t>
              </a:r>
              <a:r>
                <a:rPr lang="en-US" b="true" sz="2000">
                  <a:solidFill>
                    <a:srgbClr val="4F9C4E"/>
                  </a:solidFill>
                  <a:latin typeface="Inclusive Sans Bold"/>
                  <a:ea typeface="Inclusive Sans Bold"/>
                  <a:cs typeface="Inclusive Sans Bold"/>
                  <a:sym typeface="Inclusive Sans Bold"/>
                </a:rPr>
                <a:t>  </a:t>
              </a:r>
            </a:p>
          </p:txBody>
        </p:sp>
        <p:sp>
          <p:nvSpPr>
            <p:cNvPr name="TextBox 51" id="51"/>
            <p:cNvSpPr txBox="true"/>
            <p:nvPr/>
          </p:nvSpPr>
          <p:spPr>
            <a:xfrm rot="0">
              <a:off x="827165" y="2698343"/>
              <a:ext cx="4881068" cy="1088813"/>
            </a:xfrm>
            <a:prstGeom prst="rect">
              <a:avLst/>
            </a:prstGeom>
          </p:spPr>
          <p:txBody>
            <a:bodyPr anchor="t" rtlCol="false" tIns="0" lIns="0" bIns="0" rIns="0">
              <a:spAutoFit/>
            </a:bodyPr>
            <a:lstStyle/>
            <a:p>
              <a:pPr algn="l" marL="0" indent="0" lvl="0">
                <a:lnSpc>
                  <a:spcPts val="2239"/>
                </a:lnSpc>
                <a:spcBef>
                  <a:spcPct val="0"/>
                </a:spcBef>
              </a:pPr>
              <a:r>
                <a:rPr lang="en-US" sz="1599">
                  <a:solidFill>
                    <a:srgbClr val="000000"/>
                  </a:solidFill>
                  <a:latin typeface="Inclusive Sans"/>
                  <a:ea typeface="Inclusive Sans"/>
                  <a:cs typeface="Inclusive Sans"/>
                  <a:sym typeface="Inclusive Sans"/>
                </a:rPr>
                <a:t>Armada</a:t>
              </a:r>
              <a:r>
                <a:rPr lang="en-US" sz="1599" strike="noStrike" u="none">
                  <a:solidFill>
                    <a:srgbClr val="000000"/>
                  </a:solidFill>
                  <a:latin typeface="Inclusive Sans"/>
                  <a:ea typeface="Inclusive Sans"/>
                  <a:cs typeface="Inclusive Sans"/>
                  <a:sym typeface="Inclusive Sans"/>
                </a:rPr>
                <a:t> kendaraan fosil masif dan insenti</a:t>
              </a:r>
              <a:r>
                <a:rPr lang="en-US" sz="1599" strike="noStrike" u="none">
                  <a:solidFill>
                    <a:srgbClr val="000000"/>
                  </a:solidFill>
                  <a:latin typeface="Inclusive Sans"/>
                  <a:ea typeface="Inclusive Sans"/>
                  <a:cs typeface="Inclusive Sans"/>
                  <a:sym typeface="Inclusive Sans"/>
                </a:rPr>
                <a:t>f</a:t>
              </a:r>
              <a:r>
                <a:rPr lang="en-US" sz="1599" strike="noStrike" u="none">
                  <a:solidFill>
                    <a:srgbClr val="000000"/>
                  </a:solidFill>
                  <a:latin typeface="Inclusive Sans"/>
                  <a:ea typeface="Inclusive Sans"/>
                  <a:cs typeface="Inclusive Sans"/>
                  <a:sym typeface="Inclusive Sans"/>
                </a:rPr>
                <a:t> kendaraan listrik masih sangat minim</a:t>
              </a:r>
            </a:p>
          </p:txBody>
        </p:sp>
        <p:sp>
          <p:nvSpPr>
            <p:cNvPr name="TextBox 52" id="52"/>
            <p:cNvSpPr txBox="true"/>
            <p:nvPr/>
          </p:nvSpPr>
          <p:spPr>
            <a:xfrm rot="0">
              <a:off x="827165" y="2229897"/>
              <a:ext cx="4881068" cy="364701"/>
            </a:xfrm>
            <a:prstGeom prst="rect">
              <a:avLst/>
            </a:prstGeom>
          </p:spPr>
          <p:txBody>
            <a:bodyPr anchor="t" rtlCol="false" tIns="0" lIns="0" bIns="0" rIns="0">
              <a:spAutoFit/>
            </a:bodyPr>
            <a:lstStyle/>
            <a:p>
              <a:pPr algn="l" marL="0" indent="0" lvl="0">
                <a:lnSpc>
                  <a:spcPts val="2380"/>
                </a:lnSpc>
                <a:spcBef>
                  <a:spcPct val="0"/>
                </a:spcBef>
              </a:pPr>
              <a:r>
                <a:rPr lang="en-US" b="true" sz="1700">
                  <a:solidFill>
                    <a:srgbClr val="4F9C4E"/>
                  </a:solidFill>
                  <a:latin typeface="Inclusive Sans Bold"/>
                  <a:ea typeface="Inclusive Sans Bold"/>
                  <a:cs typeface="Inclusive Sans Bold"/>
                  <a:sym typeface="Inclusive Sans Bold"/>
                </a:rPr>
                <a:t>Kondisi Ojol</a:t>
              </a:r>
            </a:p>
          </p:txBody>
        </p:sp>
        <p:grpSp>
          <p:nvGrpSpPr>
            <p:cNvPr name="Group 53" id="53"/>
            <p:cNvGrpSpPr/>
            <p:nvPr/>
          </p:nvGrpSpPr>
          <p:grpSpPr>
            <a:xfrm rot="-5400000">
              <a:off x="-1759015" y="2136512"/>
              <a:ext cx="3700865" cy="182834"/>
              <a:chOff x="0" y="0"/>
              <a:chExt cx="8226221" cy="406400"/>
            </a:xfrm>
          </p:grpSpPr>
          <p:sp>
            <p:nvSpPr>
              <p:cNvPr name="Freeform 54" id="54"/>
              <p:cNvSpPr/>
              <p:nvPr/>
            </p:nvSpPr>
            <p:spPr>
              <a:xfrm flipH="false" flipV="false" rot="0">
                <a:off x="0" y="0"/>
                <a:ext cx="8226221" cy="406400"/>
              </a:xfrm>
              <a:custGeom>
                <a:avLst/>
                <a:gdLst/>
                <a:ahLst/>
                <a:cxnLst/>
                <a:rect r="r" b="b" t="t" l="l"/>
                <a:pathLst>
                  <a:path h="406400" w="8226221">
                    <a:moveTo>
                      <a:pt x="8023021" y="0"/>
                    </a:moveTo>
                    <a:cubicBezTo>
                      <a:pt x="8135245" y="0"/>
                      <a:pt x="8226221" y="90976"/>
                      <a:pt x="8226221" y="203200"/>
                    </a:cubicBezTo>
                    <a:cubicBezTo>
                      <a:pt x="8226221" y="315424"/>
                      <a:pt x="8135245" y="406400"/>
                      <a:pt x="8023021" y="406400"/>
                    </a:cubicBezTo>
                    <a:lnTo>
                      <a:pt x="203200" y="406400"/>
                    </a:lnTo>
                    <a:cubicBezTo>
                      <a:pt x="90976" y="406400"/>
                      <a:pt x="0" y="315424"/>
                      <a:pt x="0" y="203200"/>
                    </a:cubicBezTo>
                    <a:cubicBezTo>
                      <a:pt x="0" y="90976"/>
                      <a:pt x="90976" y="0"/>
                      <a:pt x="203200" y="0"/>
                    </a:cubicBezTo>
                    <a:close/>
                  </a:path>
                </a:pathLst>
              </a:custGeom>
              <a:solidFill>
                <a:srgbClr val="4F9C4E"/>
              </a:solidFill>
            </p:spPr>
          </p:sp>
          <p:sp>
            <p:nvSpPr>
              <p:cNvPr name="TextBox 55" id="55"/>
              <p:cNvSpPr txBox="true"/>
              <p:nvPr/>
            </p:nvSpPr>
            <p:spPr>
              <a:xfrm>
                <a:off x="0" y="-38100"/>
                <a:ext cx="8226221" cy="444500"/>
              </a:xfrm>
              <a:prstGeom prst="rect">
                <a:avLst/>
              </a:prstGeom>
            </p:spPr>
            <p:txBody>
              <a:bodyPr anchor="ctr" rtlCol="false" tIns="50800" lIns="50800" bIns="50800" rIns="50800"/>
              <a:lstStyle/>
              <a:p>
                <a:pPr algn="ctr" marL="0" indent="0" lvl="0">
                  <a:lnSpc>
                    <a:spcPts val="2520"/>
                  </a:lnSpc>
                  <a:spcBef>
                    <a:spcPct val="0"/>
                  </a:spcBef>
                </a:pPr>
              </a:p>
            </p:txBody>
          </p:sp>
        </p:grpSp>
        <p:grpSp>
          <p:nvGrpSpPr>
            <p:cNvPr name="Group 56" id="56"/>
            <p:cNvGrpSpPr/>
            <p:nvPr/>
          </p:nvGrpSpPr>
          <p:grpSpPr>
            <a:xfrm rot="-5400000">
              <a:off x="128457" y="1953662"/>
              <a:ext cx="366369" cy="440449"/>
              <a:chOff x="0" y="0"/>
              <a:chExt cx="591581" cy="711200"/>
            </a:xfrm>
          </p:grpSpPr>
          <p:sp>
            <p:nvSpPr>
              <p:cNvPr name="Freeform 57" id="57"/>
              <p:cNvSpPr/>
              <p:nvPr/>
            </p:nvSpPr>
            <p:spPr>
              <a:xfrm flipH="false" flipV="false" rot="0">
                <a:off x="98457" y="0"/>
                <a:ext cx="394667" cy="454266"/>
              </a:xfrm>
              <a:custGeom>
                <a:avLst/>
                <a:gdLst/>
                <a:ahLst/>
                <a:cxnLst/>
                <a:rect r="r" b="b" t="t" l="l"/>
                <a:pathLst>
                  <a:path h="454266" w="394667">
                    <a:moveTo>
                      <a:pt x="345229" y="355600"/>
                    </a:moveTo>
                    <a:lnTo>
                      <a:pt x="379536" y="273112"/>
                    </a:lnTo>
                    <a:cubicBezTo>
                      <a:pt x="404864" y="212212"/>
                      <a:pt x="398093" y="142686"/>
                      <a:pt x="361489" y="87819"/>
                    </a:cubicBezTo>
                    <a:cubicBezTo>
                      <a:pt x="324885" y="32952"/>
                      <a:pt x="263290" y="0"/>
                      <a:pt x="197334" y="0"/>
                    </a:cubicBezTo>
                    <a:lnTo>
                      <a:pt x="197334" y="0"/>
                    </a:lnTo>
                    <a:cubicBezTo>
                      <a:pt x="131378" y="0"/>
                      <a:pt x="69782" y="32952"/>
                      <a:pt x="33179" y="87819"/>
                    </a:cubicBezTo>
                    <a:cubicBezTo>
                      <a:pt x="-3425" y="142686"/>
                      <a:pt x="-10197" y="212212"/>
                      <a:pt x="15131" y="273112"/>
                    </a:cubicBezTo>
                    <a:lnTo>
                      <a:pt x="49438" y="355600"/>
                    </a:lnTo>
                    <a:cubicBezTo>
                      <a:pt x="74285" y="415340"/>
                      <a:pt x="132632" y="454266"/>
                      <a:pt x="197334" y="454266"/>
                    </a:cubicBezTo>
                    <a:cubicBezTo>
                      <a:pt x="262035" y="454266"/>
                      <a:pt x="320383" y="415340"/>
                      <a:pt x="345229" y="355600"/>
                    </a:cubicBezTo>
                    <a:close/>
                  </a:path>
                </a:pathLst>
              </a:custGeom>
              <a:solidFill>
                <a:srgbClr val="57E11C">
                  <a:alpha val="71765"/>
                </a:srgbClr>
              </a:solidFill>
            </p:spPr>
          </p:sp>
          <p:sp>
            <p:nvSpPr>
              <p:cNvPr name="TextBox 58" id="58"/>
              <p:cNvSpPr txBox="true"/>
              <p:nvPr/>
            </p:nvSpPr>
            <p:spPr>
              <a:xfrm>
                <a:off x="92435" y="12700"/>
                <a:ext cx="406712" cy="368300"/>
              </a:xfrm>
              <a:prstGeom prst="rect">
                <a:avLst/>
              </a:prstGeom>
            </p:spPr>
            <p:txBody>
              <a:bodyPr anchor="ctr" rtlCol="false" tIns="50800" lIns="50800" bIns="50800" rIns="50800"/>
              <a:lstStyle/>
              <a:p>
                <a:pPr algn="ctr" marL="0" indent="0" lvl="0">
                  <a:lnSpc>
                    <a:spcPts val="2520"/>
                  </a:lnSpc>
                  <a:spcBef>
                    <a:spcPct val="0"/>
                  </a:spcBef>
                </a:pPr>
              </a:p>
            </p:txBody>
          </p:sp>
        </p:grpSp>
        <p:sp>
          <p:nvSpPr>
            <p:cNvPr name="Freeform 59" id="59"/>
            <p:cNvSpPr/>
            <p:nvPr/>
          </p:nvSpPr>
          <p:spPr>
            <a:xfrm flipH="false" flipV="false" rot="0">
              <a:off x="0" y="4455858"/>
              <a:ext cx="6352564" cy="497277"/>
            </a:xfrm>
            <a:custGeom>
              <a:avLst/>
              <a:gdLst/>
              <a:ahLst/>
              <a:cxnLst/>
              <a:rect r="r" b="b" t="t" l="l"/>
              <a:pathLst>
                <a:path h="497277" w="6352564">
                  <a:moveTo>
                    <a:pt x="0" y="0"/>
                  </a:moveTo>
                  <a:lnTo>
                    <a:pt x="6352564" y="0"/>
                  </a:lnTo>
                  <a:lnTo>
                    <a:pt x="6352564" y="497277"/>
                  </a:lnTo>
                  <a:lnTo>
                    <a:pt x="0" y="497277"/>
                  </a:lnTo>
                  <a:lnTo>
                    <a:pt x="0" y="0"/>
                  </a:lnTo>
                  <a:close/>
                </a:path>
              </a:pathLst>
            </a:custGeom>
            <a:blipFill>
              <a:blip r:embed="rId6">
                <a:alphaModFix amt="67000"/>
              </a:blip>
              <a:stretch>
                <a:fillRect l="0" t="-8066" r="0" b="-8066"/>
              </a:stretch>
            </a:blipFill>
          </p:spPr>
        </p:sp>
      </p:grpSp>
      <p:sp>
        <p:nvSpPr>
          <p:cNvPr name="TextBox 60" id="60"/>
          <p:cNvSpPr txBox="true"/>
          <p:nvPr/>
        </p:nvSpPr>
        <p:spPr>
          <a:xfrm rot="0">
            <a:off x="2400491" y="8363438"/>
            <a:ext cx="13487018"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Inclusive Sans"/>
                <a:ea typeface="Inclusive Sans"/>
                <a:cs typeface="Inclusive Sans"/>
                <a:sym typeface="Inclusive Sans"/>
              </a:rPr>
              <a:t>M</a:t>
            </a:r>
            <a:r>
              <a:rPr lang="en-US" sz="1800">
                <a:solidFill>
                  <a:srgbClr val="000000"/>
                </a:solidFill>
                <a:latin typeface="Inclusive Sans"/>
                <a:ea typeface="Inclusive Sans"/>
                <a:cs typeface="Inclusive Sans"/>
                <a:sym typeface="Inclusive Sans"/>
              </a:rPr>
              <a:t>odel bisnis yang hanya mengejar </a:t>
            </a:r>
            <a:r>
              <a:rPr lang="en-US" b="true" sz="1800" i="true">
                <a:solidFill>
                  <a:srgbClr val="2D892C"/>
                </a:solidFill>
                <a:latin typeface="Inclusive Sans Bold Italics"/>
                <a:ea typeface="Inclusive Sans Bold Italics"/>
                <a:cs typeface="Inclusive Sans Bold Italics"/>
                <a:sym typeface="Inclusive Sans Bold Italics"/>
              </a:rPr>
              <a:t>profit</a:t>
            </a:r>
            <a:r>
              <a:rPr lang="en-US" b="true" sz="1800" i="true">
                <a:solidFill>
                  <a:srgbClr val="000000"/>
                </a:solidFill>
                <a:latin typeface="Inclusive Sans Bold Italics"/>
                <a:ea typeface="Inclusive Sans Bold Italics"/>
                <a:cs typeface="Inclusive Sans Bold Italics"/>
                <a:sym typeface="Inclusive Sans Bold Italics"/>
              </a:rPr>
              <a:t> </a:t>
            </a:r>
            <a:r>
              <a:rPr lang="en-US" sz="1800">
                <a:solidFill>
                  <a:srgbClr val="000000"/>
                </a:solidFill>
                <a:latin typeface="Inclusive Sans"/>
                <a:ea typeface="Inclusive Sans"/>
                <a:cs typeface="Inclusive Sans"/>
                <a:sym typeface="Inclusive Sans"/>
              </a:rPr>
              <a:t>tetapi mengorbankan </a:t>
            </a:r>
            <a:r>
              <a:rPr lang="en-US" b="true" sz="1800" i="true">
                <a:solidFill>
                  <a:srgbClr val="2D892C"/>
                </a:solidFill>
                <a:latin typeface="Inclusive Sans Bold Italics"/>
                <a:ea typeface="Inclusive Sans Bold Italics"/>
                <a:cs typeface="Inclusive Sans Bold Italics"/>
                <a:sym typeface="Inclusive Sans Bold Italics"/>
              </a:rPr>
              <a:t>people</a:t>
            </a:r>
            <a:r>
              <a:rPr lang="en-US" b="true" sz="1800" i="true">
                <a:solidFill>
                  <a:srgbClr val="000000"/>
                </a:solidFill>
                <a:latin typeface="Inclusive Sans Bold Italics"/>
                <a:ea typeface="Inclusive Sans Bold Italics"/>
                <a:cs typeface="Inclusive Sans Bold Italics"/>
                <a:sym typeface="Inclusive Sans Bold Italics"/>
              </a:rPr>
              <a:t> </a:t>
            </a:r>
            <a:r>
              <a:rPr lang="en-US" sz="1800">
                <a:solidFill>
                  <a:srgbClr val="000000"/>
                </a:solidFill>
                <a:latin typeface="Inclusive Sans"/>
                <a:ea typeface="Inclusive Sans"/>
                <a:cs typeface="Inclusive Sans"/>
                <a:sym typeface="Inclusive Sans"/>
              </a:rPr>
              <a:t>tidak dapat disebut berkelanjutan secara etis.</a:t>
            </a:r>
          </a:p>
        </p:txBody>
      </p:sp>
      <p:sp>
        <p:nvSpPr>
          <p:cNvPr name="TextBox 61" id="61"/>
          <p:cNvSpPr txBox="true"/>
          <p:nvPr/>
        </p:nvSpPr>
        <p:spPr>
          <a:xfrm rot="0">
            <a:off x="1822377" y="2078273"/>
            <a:ext cx="14552349" cy="2090420"/>
          </a:xfrm>
          <a:prstGeom prst="rect">
            <a:avLst/>
          </a:prstGeom>
        </p:spPr>
        <p:txBody>
          <a:bodyPr anchor="t" rtlCol="false" tIns="0" lIns="0" bIns="0" rIns="0">
            <a:spAutoFit/>
          </a:bodyPr>
          <a:lstStyle/>
          <a:p>
            <a:pPr algn="ctr">
              <a:lnSpc>
                <a:spcPts val="8319"/>
              </a:lnSpc>
            </a:pPr>
            <a:r>
              <a:rPr lang="en-US" b="true" sz="6399" spc="63">
                <a:solidFill>
                  <a:srgbClr val="2D892C"/>
                </a:solidFill>
                <a:latin typeface="Inclusive Sans Bold"/>
                <a:ea typeface="Inclusive Sans Bold"/>
                <a:cs typeface="Inclusive Sans Bold"/>
                <a:sym typeface="Inclusive Sans Bold"/>
              </a:rPr>
              <a:t>Kerangka 3P </a:t>
            </a:r>
          </a:p>
          <a:p>
            <a:pPr algn="ctr">
              <a:lnSpc>
                <a:spcPts val="8319"/>
              </a:lnSpc>
            </a:pPr>
            <a:r>
              <a:rPr lang="en-US" b="true" sz="6399" spc="63">
                <a:solidFill>
                  <a:srgbClr val="2D892C"/>
                </a:solidFill>
                <a:latin typeface="Inclusive Sans Bold"/>
                <a:ea typeface="Inclusive Sans Bold"/>
                <a:cs typeface="Inclusive Sans Bold"/>
                <a:sym typeface="Inclusive Sans Bold"/>
              </a:rPr>
              <a:t>(</a:t>
            </a:r>
            <a:r>
              <a:rPr lang="en-US" b="true" sz="6399" i="true" spc="63">
                <a:solidFill>
                  <a:srgbClr val="2D892C"/>
                </a:solidFill>
                <a:latin typeface="Inclusive Sans Bold Italics"/>
                <a:ea typeface="Inclusive Sans Bold Italics"/>
                <a:cs typeface="Inclusive Sans Bold Italics"/>
                <a:sym typeface="Inclusive Sans Bold Italics"/>
              </a:rPr>
              <a:t>Profit, People, and Planet</a:t>
            </a:r>
            <a:r>
              <a:rPr lang="en-US" b="true" sz="6399" spc="63">
                <a:solidFill>
                  <a:srgbClr val="2D892C"/>
                </a:solidFill>
                <a:latin typeface="Inclusive Sans Bold"/>
                <a:ea typeface="Inclusive Sans Bold"/>
                <a:cs typeface="Inclusive Sans Bold"/>
                <a:sym typeface="Inclusive Sans Bold"/>
              </a:rPr>
              <a:t>)</a:t>
            </a:r>
          </a:p>
        </p:txBody>
      </p:sp>
      <p:sp>
        <p:nvSpPr>
          <p:cNvPr name="TextBox 62" id="62"/>
          <p:cNvSpPr txBox="true"/>
          <p:nvPr/>
        </p:nvSpPr>
        <p:spPr>
          <a:xfrm rot="0">
            <a:off x="7244477" y="1172884"/>
            <a:ext cx="3799046" cy="688975"/>
          </a:xfrm>
          <a:prstGeom prst="rect">
            <a:avLst/>
          </a:prstGeom>
        </p:spPr>
        <p:txBody>
          <a:bodyPr anchor="t" rtlCol="false" tIns="0" lIns="0" bIns="0" rIns="0">
            <a:spAutoFit/>
          </a:bodyPr>
          <a:lstStyle/>
          <a:p>
            <a:pPr algn="ctr">
              <a:lnSpc>
                <a:spcPts val="5599"/>
              </a:lnSpc>
              <a:spcBef>
                <a:spcPct val="0"/>
              </a:spcBef>
            </a:pPr>
            <a:r>
              <a:rPr lang="en-US" b="true" sz="3999" u="sng">
                <a:solidFill>
                  <a:srgbClr val="000000"/>
                </a:solidFill>
                <a:latin typeface="Inclusive Sans Bold"/>
                <a:ea typeface="Inclusive Sans Bold"/>
                <a:cs typeface="Inclusive Sans Bold"/>
                <a:sym typeface="Inclusive Sans Bold"/>
              </a:rPr>
              <a:t>Landasan Teori</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12888" t="0" r="-12888" b="0"/>
            </a:stretch>
          </a:blipFill>
        </p:spPr>
      </p:sp>
      <p:sp>
        <p:nvSpPr>
          <p:cNvPr name="Freeform 3" id="3"/>
          <p:cNvSpPr/>
          <p:nvPr/>
        </p:nvSpPr>
        <p:spPr>
          <a:xfrm flipH="false" flipV="false" rot="-10800000">
            <a:off x="-891999" y="-783690"/>
            <a:ext cx="2782408" cy="2782408"/>
          </a:xfrm>
          <a:custGeom>
            <a:avLst/>
            <a:gdLst/>
            <a:ahLst/>
            <a:cxnLst/>
            <a:rect r="r" b="b" t="t" l="l"/>
            <a:pathLst>
              <a:path h="2782408" w="2782408">
                <a:moveTo>
                  <a:pt x="0" y="0"/>
                </a:moveTo>
                <a:lnTo>
                  <a:pt x="2782408" y="0"/>
                </a:lnTo>
                <a:lnTo>
                  <a:pt x="2782408" y="2782408"/>
                </a:lnTo>
                <a:lnTo>
                  <a:pt x="0" y="27824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5937396" y="-1688002"/>
            <a:ext cx="3237907" cy="4591031"/>
            <a:chOff x="0" y="0"/>
            <a:chExt cx="4317209" cy="6121375"/>
          </a:xfrm>
        </p:grpSpPr>
        <p:grpSp>
          <p:nvGrpSpPr>
            <p:cNvPr name="Group 5" id="5"/>
            <p:cNvGrpSpPr/>
            <p:nvPr/>
          </p:nvGrpSpPr>
          <p:grpSpPr>
            <a:xfrm rot="0">
              <a:off x="834410" y="1038800"/>
              <a:ext cx="2610701" cy="5082575"/>
              <a:chOff x="0" y="0"/>
              <a:chExt cx="585263" cy="1139404"/>
            </a:xfrm>
          </p:grpSpPr>
          <p:sp>
            <p:nvSpPr>
              <p:cNvPr name="Freeform 6" id="6"/>
              <p:cNvSpPr/>
              <p:nvPr/>
            </p:nvSpPr>
            <p:spPr>
              <a:xfrm flipH="false" flipV="false" rot="0">
                <a:off x="0" y="0"/>
                <a:ext cx="585263" cy="1139404"/>
              </a:xfrm>
              <a:custGeom>
                <a:avLst/>
                <a:gdLst/>
                <a:ahLst/>
                <a:cxnLst/>
                <a:rect r="r" b="b" t="t" l="l"/>
                <a:pathLst>
                  <a:path h="1139404" w="585263">
                    <a:moveTo>
                      <a:pt x="195193" y="1120335"/>
                    </a:moveTo>
                    <a:cubicBezTo>
                      <a:pt x="225198" y="1131849"/>
                      <a:pt x="259310" y="1139404"/>
                      <a:pt x="292789" y="1139404"/>
                    </a:cubicBezTo>
                    <a:cubicBezTo>
                      <a:pt x="326269" y="1139404"/>
                      <a:pt x="358486" y="1132927"/>
                      <a:pt x="388175" y="1121413"/>
                    </a:cubicBezTo>
                    <a:cubicBezTo>
                      <a:pt x="388807" y="1121054"/>
                      <a:pt x="389438" y="1121054"/>
                      <a:pt x="390070" y="1120694"/>
                    </a:cubicBezTo>
                    <a:cubicBezTo>
                      <a:pt x="501564" y="1074639"/>
                      <a:pt x="583684" y="953025"/>
                      <a:pt x="585263" y="803647"/>
                    </a:cubicBezTo>
                    <a:lnTo>
                      <a:pt x="585263" y="0"/>
                    </a:lnTo>
                    <a:lnTo>
                      <a:pt x="0" y="0"/>
                    </a:lnTo>
                    <a:lnTo>
                      <a:pt x="0" y="803051"/>
                    </a:lnTo>
                    <a:cubicBezTo>
                      <a:pt x="1579" y="953744"/>
                      <a:pt x="82436" y="1075359"/>
                      <a:pt x="195193" y="1120335"/>
                    </a:cubicBezTo>
                    <a:close/>
                  </a:path>
                </a:pathLst>
              </a:custGeom>
              <a:solidFill>
                <a:srgbClr val="153930"/>
              </a:solidFill>
            </p:spPr>
          </p:sp>
          <p:sp>
            <p:nvSpPr>
              <p:cNvPr name="TextBox 7" id="7"/>
              <p:cNvSpPr txBox="true"/>
              <p:nvPr/>
            </p:nvSpPr>
            <p:spPr>
              <a:xfrm>
                <a:off x="0" y="-47625"/>
                <a:ext cx="585263" cy="1060029"/>
              </a:xfrm>
              <a:prstGeom prst="rect">
                <a:avLst/>
              </a:prstGeom>
            </p:spPr>
            <p:txBody>
              <a:bodyPr anchor="ctr" rtlCol="false" tIns="50800" lIns="50800" bIns="50800" rIns="50800"/>
              <a:lstStyle/>
              <a:p>
                <a:pPr algn="ctr">
                  <a:lnSpc>
                    <a:spcPts val="2940"/>
                  </a:lnSpc>
                </a:pPr>
              </a:p>
            </p:txBody>
          </p:sp>
        </p:grpSp>
        <p:grpSp>
          <p:nvGrpSpPr>
            <p:cNvPr name="Group 8" id="8"/>
            <p:cNvGrpSpPr/>
            <p:nvPr/>
          </p:nvGrpSpPr>
          <p:grpSpPr>
            <a:xfrm rot="0">
              <a:off x="2251314" y="2774804"/>
              <a:ext cx="2065895" cy="206589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892C"/>
              </a:soli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360"/>
                  </a:lnSpc>
                </a:pPr>
              </a:p>
            </p:txBody>
          </p:sp>
        </p:grpSp>
        <p:grpSp>
          <p:nvGrpSpPr>
            <p:cNvPr name="Group 11" id="11"/>
            <p:cNvGrpSpPr/>
            <p:nvPr/>
          </p:nvGrpSpPr>
          <p:grpSpPr>
            <a:xfrm rot="0">
              <a:off x="0" y="0"/>
              <a:ext cx="1657891" cy="4141745"/>
              <a:chOff x="0" y="0"/>
              <a:chExt cx="456090" cy="1139404"/>
            </a:xfrm>
          </p:grpSpPr>
          <p:sp>
            <p:nvSpPr>
              <p:cNvPr name="Freeform 12" id="12"/>
              <p:cNvSpPr/>
              <p:nvPr/>
            </p:nvSpPr>
            <p:spPr>
              <a:xfrm flipH="false" flipV="false" rot="0">
                <a:off x="0" y="0"/>
                <a:ext cx="456090" cy="1139404"/>
              </a:xfrm>
              <a:custGeom>
                <a:avLst/>
                <a:gdLst/>
                <a:ahLst/>
                <a:cxnLst/>
                <a:rect r="r" b="b" t="t" l="l"/>
                <a:pathLst>
                  <a:path h="1139404" w="456090">
                    <a:moveTo>
                      <a:pt x="152112" y="1120335"/>
                    </a:moveTo>
                    <a:cubicBezTo>
                      <a:pt x="175495" y="1131849"/>
                      <a:pt x="202078" y="1139404"/>
                      <a:pt x="228168" y="1139404"/>
                    </a:cubicBezTo>
                    <a:cubicBezTo>
                      <a:pt x="254259" y="1139404"/>
                      <a:pt x="279365" y="1132927"/>
                      <a:pt x="302501" y="1121413"/>
                    </a:cubicBezTo>
                    <a:cubicBezTo>
                      <a:pt x="302994" y="1121054"/>
                      <a:pt x="303486" y="1121054"/>
                      <a:pt x="303978" y="1120694"/>
                    </a:cubicBezTo>
                    <a:cubicBezTo>
                      <a:pt x="390864" y="1074639"/>
                      <a:pt x="454859" y="953025"/>
                      <a:pt x="456090" y="803647"/>
                    </a:cubicBezTo>
                    <a:lnTo>
                      <a:pt x="456090" y="0"/>
                    </a:lnTo>
                    <a:lnTo>
                      <a:pt x="0" y="0"/>
                    </a:lnTo>
                    <a:lnTo>
                      <a:pt x="0" y="803051"/>
                    </a:lnTo>
                    <a:cubicBezTo>
                      <a:pt x="1231" y="953744"/>
                      <a:pt x="64241" y="1075359"/>
                      <a:pt x="152112" y="1120335"/>
                    </a:cubicBezTo>
                    <a:close/>
                  </a:path>
                </a:pathLst>
              </a:custGeom>
              <a:solidFill>
                <a:srgbClr val="2D892C">
                  <a:alpha val="83922"/>
                </a:srgbClr>
              </a:solidFill>
            </p:spPr>
          </p:sp>
          <p:sp>
            <p:nvSpPr>
              <p:cNvPr name="TextBox 13" id="13"/>
              <p:cNvSpPr txBox="true"/>
              <p:nvPr/>
            </p:nvSpPr>
            <p:spPr>
              <a:xfrm>
                <a:off x="0" y="-47625"/>
                <a:ext cx="456090" cy="1060029"/>
              </a:xfrm>
              <a:prstGeom prst="rect">
                <a:avLst/>
              </a:prstGeom>
            </p:spPr>
            <p:txBody>
              <a:bodyPr anchor="ctr" rtlCol="false" tIns="50800" lIns="50800" bIns="50800" rIns="50800"/>
              <a:lstStyle/>
              <a:p>
                <a:pPr algn="ctr">
                  <a:lnSpc>
                    <a:spcPts val="2940"/>
                  </a:lnSpc>
                </a:pPr>
              </a:p>
            </p:txBody>
          </p:sp>
        </p:grpSp>
      </p:grpSp>
      <p:sp>
        <p:nvSpPr>
          <p:cNvPr name="Freeform 14" id="14"/>
          <p:cNvSpPr/>
          <p:nvPr/>
        </p:nvSpPr>
        <p:spPr>
          <a:xfrm flipH="false" flipV="false" rot="2700000">
            <a:off x="-385230" y="9325747"/>
            <a:ext cx="1900826" cy="1026446"/>
          </a:xfrm>
          <a:custGeom>
            <a:avLst/>
            <a:gdLst/>
            <a:ahLst/>
            <a:cxnLst/>
            <a:rect r="r" b="b" t="t" l="l"/>
            <a:pathLst>
              <a:path h="1026446" w="1900826">
                <a:moveTo>
                  <a:pt x="0" y="0"/>
                </a:moveTo>
                <a:lnTo>
                  <a:pt x="1900826" y="0"/>
                </a:lnTo>
                <a:lnTo>
                  <a:pt x="1900826" y="1026447"/>
                </a:lnTo>
                <a:lnTo>
                  <a:pt x="0" y="102644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16895728" y="9619773"/>
            <a:ext cx="1321242" cy="667227"/>
          </a:xfrm>
          <a:custGeom>
            <a:avLst/>
            <a:gdLst/>
            <a:ahLst/>
            <a:cxnLst/>
            <a:rect r="r" b="b" t="t" l="l"/>
            <a:pathLst>
              <a:path h="667227" w="1321242">
                <a:moveTo>
                  <a:pt x="0" y="0"/>
                </a:moveTo>
                <a:lnTo>
                  <a:pt x="1321242" y="0"/>
                </a:lnTo>
                <a:lnTo>
                  <a:pt x="1321242" y="667227"/>
                </a:lnTo>
                <a:lnTo>
                  <a:pt x="0" y="667227"/>
                </a:lnTo>
                <a:lnTo>
                  <a:pt x="0" y="0"/>
                </a:lnTo>
                <a:close/>
              </a:path>
            </a:pathLst>
          </a:custGeom>
          <a:blipFill>
            <a:blip r:embed="rId7">
              <a:alphaModFix amt="40000"/>
              <a:extLst>
                <a:ext uri="{96DAC541-7B7A-43D3-8B79-37D633B846F1}">
                  <asvg:svgBlip xmlns:asvg="http://schemas.microsoft.com/office/drawing/2016/SVG/main" r:embed="rId8"/>
                </a:ext>
              </a:extLst>
            </a:blip>
            <a:stretch>
              <a:fillRect l="0" t="0" r="0" b="0"/>
            </a:stretch>
          </a:blipFill>
        </p:spPr>
      </p:sp>
      <p:grpSp>
        <p:nvGrpSpPr>
          <p:cNvPr name="Group 16" id="16"/>
          <p:cNvGrpSpPr/>
          <p:nvPr/>
        </p:nvGrpSpPr>
        <p:grpSpPr>
          <a:xfrm rot="0">
            <a:off x="11236944" y="3406895"/>
            <a:ext cx="5246370" cy="5246370"/>
            <a:chOff x="0" y="0"/>
            <a:chExt cx="6350000" cy="6350000"/>
          </a:xfrm>
        </p:grpSpPr>
        <p:sp>
          <p:nvSpPr>
            <p:cNvPr name="Freeform 17" id="17"/>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9"/>
              <a:stretch>
                <a:fillRect l="-25031" t="0" r="-25031" b="0"/>
              </a:stretch>
            </a:blipFill>
          </p:spPr>
        </p:sp>
      </p:grpSp>
      <p:sp>
        <p:nvSpPr>
          <p:cNvPr name="TextBox 18" id="18"/>
          <p:cNvSpPr txBox="true"/>
          <p:nvPr/>
        </p:nvSpPr>
        <p:spPr>
          <a:xfrm rot="0">
            <a:off x="3838456" y="1172884"/>
            <a:ext cx="10611088" cy="688975"/>
          </a:xfrm>
          <a:prstGeom prst="rect">
            <a:avLst/>
          </a:prstGeom>
        </p:spPr>
        <p:txBody>
          <a:bodyPr anchor="t" rtlCol="false" tIns="0" lIns="0" bIns="0" rIns="0">
            <a:spAutoFit/>
          </a:bodyPr>
          <a:lstStyle/>
          <a:p>
            <a:pPr algn="ctr">
              <a:lnSpc>
                <a:spcPts val="5599"/>
              </a:lnSpc>
              <a:spcBef>
                <a:spcPct val="0"/>
              </a:spcBef>
            </a:pPr>
            <a:r>
              <a:rPr lang="en-US" b="true" sz="3999" u="sng">
                <a:solidFill>
                  <a:srgbClr val="000000"/>
                </a:solidFill>
                <a:latin typeface="Inclusive Sans Bold"/>
                <a:ea typeface="Inclusive Sans Bold"/>
                <a:cs typeface="Inclusive Sans Bold"/>
                <a:sym typeface="Inclusive Sans Bold"/>
              </a:rPr>
              <a:t>Analisis Kasus (Algoritmhic Management) </a:t>
            </a:r>
          </a:p>
        </p:txBody>
      </p:sp>
      <p:sp>
        <p:nvSpPr>
          <p:cNvPr name="TextBox 19" id="19"/>
          <p:cNvSpPr txBox="true"/>
          <p:nvPr/>
        </p:nvSpPr>
        <p:spPr>
          <a:xfrm rot="0">
            <a:off x="1822377" y="2078273"/>
            <a:ext cx="14552349" cy="1042670"/>
          </a:xfrm>
          <a:prstGeom prst="rect">
            <a:avLst/>
          </a:prstGeom>
        </p:spPr>
        <p:txBody>
          <a:bodyPr anchor="t" rtlCol="false" tIns="0" lIns="0" bIns="0" rIns="0">
            <a:spAutoFit/>
          </a:bodyPr>
          <a:lstStyle/>
          <a:p>
            <a:pPr algn="ctr">
              <a:lnSpc>
                <a:spcPts val="8319"/>
              </a:lnSpc>
            </a:pPr>
            <a:r>
              <a:rPr lang="en-US" b="true" sz="6399" spc="63">
                <a:solidFill>
                  <a:srgbClr val="2D892C"/>
                </a:solidFill>
                <a:latin typeface="Inclusive Sans Bold"/>
                <a:ea typeface="Inclusive Sans Bold"/>
                <a:cs typeface="Inclusive Sans Bold"/>
                <a:sym typeface="Inclusive Sans Bold"/>
              </a:rPr>
              <a:t>Lensa People</a:t>
            </a:r>
          </a:p>
        </p:txBody>
      </p:sp>
      <p:sp>
        <p:nvSpPr>
          <p:cNvPr name="TextBox 20" id="20"/>
          <p:cNvSpPr txBox="true"/>
          <p:nvPr/>
        </p:nvSpPr>
        <p:spPr>
          <a:xfrm rot="0">
            <a:off x="2355043" y="3931185"/>
            <a:ext cx="7712996" cy="2506980"/>
          </a:xfrm>
          <a:prstGeom prst="rect">
            <a:avLst/>
          </a:prstGeom>
        </p:spPr>
        <p:txBody>
          <a:bodyPr anchor="t" rtlCol="false" tIns="0" lIns="0" bIns="0" rIns="0">
            <a:spAutoFit/>
          </a:bodyPr>
          <a:lstStyle/>
          <a:p>
            <a:pPr algn="just">
              <a:lnSpc>
                <a:spcPts val="2520"/>
              </a:lnSpc>
            </a:pPr>
            <a:r>
              <a:rPr lang="en-US" sz="1800">
                <a:solidFill>
                  <a:srgbClr val="000000"/>
                </a:solidFill>
                <a:latin typeface="Inclusive Sans"/>
                <a:ea typeface="Inclusive Sans"/>
                <a:cs typeface="Inclusive Sans"/>
                <a:sym typeface="Inclusive Sans"/>
              </a:rPr>
              <a:t>Permasalahan ini menjadi </a:t>
            </a:r>
            <a:r>
              <a:rPr lang="en-US" sz="1800" i="true">
                <a:solidFill>
                  <a:srgbClr val="000000"/>
                </a:solidFill>
                <a:latin typeface="Inclusive Sans Italics"/>
                <a:ea typeface="Inclusive Sans Italics"/>
                <a:cs typeface="Inclusive Sans Italics"/>
                <a:sym typeface="Inclusive Sans Italics"/>
              </a:rPr>
              <a:t>concern </a:t>
            </a:r>
            <a:r>
              <a:rPr lang="en-US" sz="1800">
                <a:solidFill>
                  <a:srgbClr val="000000"/>
                </a:solidFill>
                <a:latin typeface="Inclusive Sans"/>
                <a:ea typeface="Inclusive Sans"/>
                <a:cs typeface="Inclusive Sans"/>
                <a:sym typeface="Inclusive Sans"/>
              </a:rPr>
              <a:t>dikarenakan mencerminkan ketidak adilan dalam ranah </a:t>
            </a:r>
            <a:r>
              <a:rPr lang="en-US" sz="1800" i="true">
                <a:solidFill>
                  <a:srgbClr val="000000"/>
                </a:solidFill>
                <a:latin typeface="Inclusive Sans Italics"/>
                <a:ea typeface="Inclusive Sans Italics"/>
                <a:cs typeface="Inclusive Sans Italics"/>
                <a:sym typeface="Inclusive Sans Italics"/>
              </a:rPr>
              <a:t>gig worker</a:t>
            </a:r>
            <a:r>
              <a:rPr lang="en-US" sz="1800">
                <a:solidFill>
                  <a:srgbClr val="000000"/>
                </a:solidFill>
                <a:latin typeface="Inclusive Sans"/>
                <a:ea typeface="Inclusive Sans"/>
                <a:cs typeface="Inclusive Sans"/>
                <a:sym typeface="Inclusive Sans"/>
              </a:rPr>
              <a:t> dimana, driver harus menerima setiap orderan yang masuk kedalam akunnya tanpa terkecuali. Jika orderan tersebut di cancel (oleh customer/driver/call center) maka akan ada penurunan peforma penyelesaian order pada akun driver yang mengakibatkan sepinya orderan yang akan masuk pada akun driver tersebut.</a:t>
            </a:r>
          </a:p>
          <a:p>
            <a:pPr algn="just">
              <a:lnSpc>
                <a:spcPts val="2520"/>
              </a:lnSpc>
              <a:spcBef>
                <a:spcPct val="0"/>
              </a:spcBef>
            </a:pPr>
          </a:p>
        </p:txBody>
      </p:sp>
      <p:sp>
        <p:nvSpPr>
          <p:cNvPr name="TextBox 21" id="21"/>
          <p:cNvSpPr txBox="true"/>
          <p:nvPr/>
        </p:nvSpPr>
        <p:spPr>
          <a:xfrm rot="0">
            <a:off x="2355043" y="6400065"/>
            <a:ext cx="7712996" cy="1249680"/>
          </a:xfrm>
          <a:prstGeom prst="rect">
            <a:avLst/>
          </a:prstGeom>
        </p:spPr>
        <p:txBody>
          <a:bodyPr anchor="t" rtlCol="false" tIns="0" lIns="0" bIns="0" rIns="0">
            <a:spAutoFit/>
          </a:bodyPr>
          <a:lstStyle/>
          <a:p>
            <a:pPr algn="just">
              <a:lnSpc>
                <a:spcPts val="2520"/>
              </a:lnSpc>
              <a:spcBef>
                <a:spcPct val="0"/>
              </a:spcBef>
            </a:pPr>
            <a:r>
              <a:rPr lang="en-US" sz="1800">
                <a:solidFill>
                  <a:srgbClr val="000000"/>
                </a:solidFill>
                <a:latin typeface="Inclusive Sans"/>
                <a:ea typeface="Inclusive Sans"/>
                <a:cs typeface="Inclusive Sans"/>
                <a:sym typeface="Inclusive Sans"/>
              </a:rPr>
              <a:t>Permasalahan ini menjadi concern dikarenakan  jika akun seorang driver tidak menerima orderan sampai batas waktu tertentu (tidak terlihat aktif) maka akan ada ancaman putus mitra oleh pihak perusahaan.</a:t>
            </a:r>
          </a:p>
        </p:txBody>
      </p:sp>
      <p:sp>
        <p:nvSpPr>
          <p:cNvPr name="TextBox 22" id="22"/>
          <p:cNvSpPr txBox="true"/>
          <p:nvPr/>
        </p:nvSpPr>
        <p:spPr>
          <a:xfrm rot="0">
            <a:off x="2355043" y="3368593"/>
            <a:ext cx="1816298" cy="365760"/>
          </a:xfrm>
          <a:prstGeom prst="rect">
            <a:avLst/>
          </a:prstGeom>
        </p:spPr>
        <p:txBody>
          <a:bodyPr anchor="t" rtlCol="false" tIns="0" lIns="0" bIns="0" rIns="0">
            <a:spAutoFit/>
          </a:bodyPr>
          <a:lstStyle/>
          <a:p>
            <a:pPr algn="ctr">
              <a:lnSpc>
                <a:spcPts val="2939"/>
              </a:lnSpc>
              <a:spcBef>
                <a:spcPct val="0"/>
              </a:spcBef>
            </a:pPr>
            <a:r>
              <a:rPr lang="en-US" b="true" sz="2099">
                <a:solidFill>
                  <a:srgbClr val="000000"/>
                </a:solidFill>
                <a:latin typeface="Inclusive Sans Bold"/>
                <a:ea typeface="Inclusive Sans Bold"/>
                <a:cs typeface="Inclusive Sans Bold"/>
                <a:sym typeface="Inclusive Sans Bold"/>
              </a:rPr>
              <a:t>Orderan Fiktif</a:t>
            </a:r>
          </a:p>
        </p:txBody>
      </p:sp>
      <p:sp>
        <p:nvSpPr>
          <p:cNvPr name="TextBox 23" id="23"/>
          <p:cNvSpPr txBox="true"/>
          <p:nvPr/>
        </p:nvSpPr>
        <p:spPr>
          <a:xfrm rot="0">
            <a:off x="2266183" y="7849770"/>
            <a:ext cx="7801855" cy="1249680"/>
          </a:xfrm>
          <a:prstGeom prst="rect">
            <a:avLst/>
          </a:prstGeom>
        </p:spPr>
        <p:txBody>
          <a:bodyPr anchor="t" rtlCol="false" tIns="0" lIns="0" bIns="0" rIns="0">
            <a:spAutoFit/>
          </a:bodyPr>
          <a:lstStyle/>
          <a:p>
            <a:pPr algn="l">
              <a:lnSpc>
                <a:spcPts val="2520"/>
              </a:lnSpc>
              <a:spcBef>
                <a:spcPct val="0"/>
              </a:spcBef>
            </a:pPr>
            <a:r>
              <a:rPr lang="en-US" b="true" sz="1800">
                <a:solidFill>
                  <a:srgbClr val="000000"/>
                </a:solidFill>
                <a:latin typeface="Inclusive Sans Bold"/>
                <a:ea typeface="Inclusive Sans Bold"/>
                <a:cs typeface="Inclusive Sans Bold"/>
                <a:sym typeface="Inclusive Sans Bold"/>
              </a:rPr>
              <a:t>permasalahan yang terjadi pada kasus ini adalah </a:t>
            </a:r>
            <a:r>
              <a:rPr lang="en-US" b="true" sz="1800">
                <a:solidFill>
                  <a:srgbClr val="000000"/>
                </a:solidFill>
                <a:latin typeface="Inclusive Sans Bold"/>
                <a:ea typeface="Inclusive Sans Bold"/>
                <a:cs typeface="Inclusive Sans Bold"/>
                <a:sym typeface="Inclusive Sans Bold"/>
              </a:rPr>
              <a:t>dimana perusahaan (melalui aplikasinya) memegang kekuasaan secara absolute sedangkan pekerja hanya bisa pasrah kepada keputusan algoritma sistem.</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12888" t="0" r="-12888" b="0"/>
            </a:stretch>
          </a:blipFill>
        </p:spPr>
      </p:sp>
      <p:sp>
        <p:nvSpPr>
          <p:cNvPr name="Freeform 3" id="3"/>
          <p:cNvSpPr/>
          <p:nvPr/>
        </p:nvSpPr>
        <p:spPr>
          <a:xfrm flipH="false" flipV="false" rot="-10800000">
            <a:off x="-891999" y="-783690"/>
            <a:ext cx="2782408" cy="2782408"/>
          </a:xfrm>
          <a:custGeom>
            <a:avLst/>
            <a:gdLst/>
            <a:ahLst/>
            <a:cxnLst/>
            <a:rect r="r" b="b" t="t" l="l"/>
            <a:pathLst>
              <a:path h="2782408" w="2782408">
                <a:moveTo>
                  <a:pt x="0" y="0"/>
                </a:moveTo>
                <a:lnTo>
                  <a:pt x="2782408" y="0"/>
                </a:lnTo>
                <a:lnTo>
                  <a:pt x="2782408" y="2782408"/>
                </a:lnTo>
                <a:lnTo>
                  <a:pt x="0" y="27824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5937396" y="-1688002"/>
            <a:ext cx="3237907" cy="4591031"/>
            <a:chOff x="0" y="0"/>
            <a:chExt cx="4317209" cy="6121375"/>
          </a:xfrm>
        </p:grpSpPr>
        <p:grpSp>
          <p:nvGrpSpPr>
            <p:cNvPr name="Group 5" id="5"/>
            <p:cNvGrpSpPr/>
            <p:nvPr/>
          </p:nvGrpSpPr>
          <p:grpSpPr>
            <a:xfrm rot="0">
              <a:off x="834410" y="1038800"/>
              <a:ext cx="2610701" cy="5082575"/>
              <a:chOff x="0" y="0"/>
              <a:chExt cx="585263" cy="1139404"/>
            </a:xfrm>
          </p:grpSpPr>
          <p:sp>
            <p:nvSpPr>
              <p:cNvPr name="Freeform 6" id="6"/>
              <p:cNvSpPr/>
              <p:nvPr/>
            </p:nvSpPr>
            <p:spPr>
              <a:xfrm flipH="false" flipV="false" rot="0">
                <a:off x="0" y="0"/>
                <a:ext cx="585263" cy="1139404"/>
              </a:xfrm>
              <a:custGeom>
                <a:avLst/>
                <a:gdLst/>
                <a:ahLst/>
                <a:cxnLst/>
                <a:rect r="r" b="b" t="t" l="l"/>
                <a:pathLst>
                  <a:path h="1139404" w="585263">
                    <a:moveTo>
                      <a:pt x="195193" y="1120335"/>
                    </a:moveTo>
                    <a:cubicBezTo>
                      <a:pt x="225198" y="1131849"/>
                      <a:pt x="259310" y="1139404"/>
                      <a:pt x="292789" y="1139404"/>
                    </a:cubicBezTo>
                    <a:cubicBezTo>
                      <a:pt x="326269" y="1139404"/>
                      <a:pt x="358486" y="1132927"/>
                      <a:pt x="388175" y="1121413"/>
                    </a:cubicBezTo>
                    <a:cubicBezTo>
                      <a:pt x="388807" y="1121054"/>
                      <a:pt x="389438" y="1121054"/>
                      <a:pt x="390070" y="1120694"/>
                    </a:cubicBezTo>
                    <a:cubicBezTo>
                      <a:pt x="501564" y="1074639"/>
                      <a:pt x="583684" y="953025"/>
                      <a:pt x="585263" y="803647"/>
                    </a:cubicBezTo>
                    <a:lnTo>
                      <a:pt x="585263" y="0"/>
                    </a:lnTo>
                    <a:lnTo>
                      <a:pt x="0" y="0"/>
                    </a:lnTo>
                    <a:lnTo>
                      <a:pt x="0" y="803051"/>
                    </a:lnTo>
                    <a:cubicBezTo>
                      <a:pt x="1579" y="953744"/>
                      <a:pt x="82436" y="1075359"/>
                      <a:pt x="195193" y="1120335"/>
                    </a:cubicBezTo>
                    <a:close/>
                  </a:path>
                </a:pathLst>
              </a:custGeom>
              <a:solidFill>
                <a:srgbClr val="153930"/>
              </a:solidFill>
            </p:spPr>
          </p:sp>
          <p:sp>
            <p:nvSpPr>
              <p:cNvPr name="TextBox 7" id="7"/>
              <p:cNvSpPr txBox="true"/>
              <p:nvPr/>
            </p:nvSpPr>
            <p:spPr>
              <a:xfrm>
                <a:off x="0" y="-47625"/>
                <a:ext cx="585263" cy="1060029"/>
              </a:xfrm>
              <a:prstGeom prst="rect">
                <a:avLst/>
              </a:prstGeom>
            </p:spPr>
            <p:txBody>
              <a:bodyPr anchor="ctr" rtlCol="false" tIns="50800" lIns="50800" bIns="50800" rIns="50800"/>
              <a:lstStyle/>
              <a:p>
                <a:pPr algn="ctr">
                  <a:lnSpc>
                    <a:spcPts val="2940"/>
                  </a:lnSpc>
                </a:pPr>
              </a:p>
            </p:txBody>
          </p:sp>
        </p:grpSp>
        <p:grpSp>
          <p:nvGrpSpPr>
            <p:cNvPr name="Group 8" id="8"/>
            <p:cNvGrpSpPr/>
            <p:nvPr/>
          </p:nvGrpSpPr>
          <p:grpSpPr>
            <a:xfrm rot="0">
              <a:off x="2251314" y="2774804"/>
              <a:ext cx="2065895" cy="206589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892C"/>
              </a:soli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360"/>
                  </a:lnSpc>
                </a:pPr>
              </a:p>
            </p:txBody>
          </p:sp>
        </p:grpSp>
        <p:grpSp>
          <p:nvGrpSpPr>
            <p:cNvPr name="Group 11" id="11"/>
            <p:cNvGrpSpPr/>
            <p:nvPr/>
          </p:nvGrpSpPr>
          <p:grpSpPr>
            <a:xfrm rot="0">
              <a:off x="0" y="0"/>
              <a:ext cx="1657891" cy="4141745"/>
              <a:chOff x="0" y="0"/>
              <a:chExt cx="456090" cy="1139404"/>
            </a:xfrm>
          </p:grpSpPr>
          <p:sp>
            <p:nvSpPr>
              <p:cNvPr name="Freeform 12" id="12"/>
              <p:cNvSpPr/>
              <p:nvPr/>
            </p:nvSpPr>
            <p:spPr>
              <a:xfrm flipH="false" flipV="false" rot="0">
                <a:off x="0" y="0"/>
                <a:ext cx="456090" cy="1139404"/>
              </a:xfrm>
              <a:custGeom>
                <a:avLst/>
                <a:gdLst/>
                <a:ahLst/>
                <a:cxnLst/>
                <a:rect r="r" b="b" t="t" l="l"/>
                <a:pathLst>
                  <a:path h="1139404" w="456090">
                    <a:moveTo>
                      <a:pt x="152112" y="1120335"/>
                    </a:moveTo>
                    <a:cubicBezTo>
                      <a:pt x="175495" y="1131849"/>
                      <a:pt x="202078" y="1139404"/>
                      <a:pt x="228168" y="1139404"/>
                    </a:cubicBezTo>
                    <a:cubicBezTo>
                      <a:pt x="254259" y="1139404"/>
                      <a:pt x="279365" y="1132927"/>
                      <a:pt x="302501" y="1121413"/>
                    </a:cubicBezTo>
                    <a:cubicBezTo>
                      <a:pt x="302994" y="1121054"/>
                      <a:pt x="303486" y="1121054"/>
                      <a:pt x="303978" y="1120694"/>
                    </a:cubicBezTo>
                    <a:cubicBezTo>
                      <a:pt x="390864" y="1074639"/>
                      <a:pt x="454859" y="953025"/>
                      <a:pt x="456090" y="803647"/>
                    </a:cubicBezTo>
                    <a:lnTo>
                      <a:pt x="456090" y="0"/>
                    </a:lnTo>
                    <a:lnTo>
                      <a:pt x="0" y="0"/>
                    </a:lnTo>
                    <a:lnTo>
                      <a:pt x="0" y="803051"/>
                    </a:lnTo>
                    <a:cubicBezTo>
                      <a:pt x="1231" y="953744"/>
                      <a:pt x="64241" y="1075359"/>
                      <a:pt x="152112" y="1120335"/>
                    </a:cubicBezTo>
                    <a:close/>
                  </a:path>
                </a:pathLst>
              </a:custGeom>
              <a:solidFill>
                <a:srgbClr val="2D892C">
                  <a:alpha val="83922"/>
                </a:srgbClr>
              </a:solidFill>
            </p:spPr>
          </p:sp>
          <p:sp>
            <p:nvSpPr>
              <p:cNvPr name="TextBox 13" id="13"/>
              <p:cNvSpPr txBox="true"/>
              <p:nvPr/>
            </p:nvSpPr>
            <p:spPr>
              <a:xfrm>
                <a:off x="0" y="-47625"/>
                <a:ext cx="456090" cy="1060029"/>
              </a:xfrm>
              <a:prstGeom prst="rect">
                <a:avLst/>
              </a:prstGeom>
            </p:spPr>
            <p:txBody>
              <a:bodyPr anchor="ctr" rtlCol="false" tIns="50800" lIns="50800" bIns="50800" rIns="50800"/>
              <a:lstStyle/>
              <a:p>
                <a:pPr algn="ctr">
                  <a:lnSpc>
                    <a:spcPts val="2940"/>
                  </a:lnSpc>
                </a:pPr>
              </a:p>
            </p:txBody>
          </p:sp>
        </p:grpSp>
      </p:grpSp>
      <p:sp>
        <p:nvSpPr>
          <p:cNvPr name="Freeform 14" id="14"/>
          <p:cNvSpPr/>
          <p:nvPr/>
        </p:nvSpPr>
        <p:spPr>
          <a:xfrm flipH="false" flipV="false" rot="2700000">
            <a:off x="-385230" y="9325747"/>
            <a:ext cx="1900826" cy="1026446"/>
          </a:xfrm>
          <a:custGeom>
            <a:avLst/>
            <a:gdLst/>
            <a:ahLst/>
            <a:cxnLst/>
            <a:rect r="r" b="b" t="t" l="l"/>
            <a:pathLst>
              <a:path h="1026446" w="1900826">
                <a:moveTo>
                  <a:pt x="0" y="0"/>
                </a:moveTo>
                <a:lnTo>
                  <a:pt x="1900826" y="0"/>
                </a:lnTo>
                <a:lnTo>
                  <a:pt x="1900826" y="1026447"/>
                </a:lnTo>
                <a:lnTo>
                  <a:pt x="0" y="102644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16895728" y="9619773"/>
            <a:ext cx="1321242" cy="667227"/>
          </a:xfrm>
          <a:custGeom>
            <a:avLst/>
            <a:gdLst/>
            <a:ahLst/>
            <a:cxnLst/>
            <a:rect r="r" b="b" t="t" l="l"/>
            <a:pathLst>
              <a:path h="667227" w="1321242">
                <a:moveTo>
                  <a:pt x="0" y="0"/>
                </a:moveTo>
                <a:lnTo>
                  <a:pt x="1321242" y="0"/>
                </a:lnTo>
                <a:lnTo>
                  <a:pt x="1321242" y="667227"/>
                </a:lnTo>
                <a:lnTo>
                  <a:pt x="0" y="667227"/>
                </a:lnTo>
                <a:lnTo>
                  <a:pt x="0" y="0"/>
                </a:lnTo>
                <a:close/>
              </a:path>
            </a:pathLst>
          </a:custGeom>
          <a:blipFill>
            <a:blip r:embed="rId7">
              <a:alphaModFix amt="40000"/>
              <a:extLst>
                <a:ext uri="{96DAC541-7B7A-43D3-8B79-37D633B846F1}">
                  <asvg:svgBlip xmlns:asvg="http://schemas.microsoft.com/office/drawing/2016/SVG/main" r:embed="rId8"/>
                </a:ext>
              </a:extLst>
            </a:blip>
            <a:stretch>
              <a:fillRect l="0" t="0" r="0" b="0"/>
            </a:stretch>
          </a:blipFill>
        </p:spPr>
      </p:sp>
      <p:sp>
        <p:nvSpPr>
          <p:cNvPr name="TextBox 16" id="16"/>
          <p:cNvSpPr txBox="true"/>
          <p:nvPr/>
        </p:nvSpPr>
        <p:spPr>
          <a:xfrm rot="0">
            <a:off x="3838456" y="1172884"/>
            <a:ext cx="10611088" cy="688975"/>
          </a:xfrm>
          <a:prstGeom prst="rect">
            <a:avLst/>
          </a:prstGeom>
        </p:spPr>
        <p:txBody>
          <a:bodyPr anchor="t" rtlCol="false" tIns="0" lIns="0" bIns="0" rIns="0">
            <a:spAutoFit/>
          </a:bodyPr>
          <a:lstStyle/>
          <a:p>
            <a:pPr algn="ctr">
              <a:lnSpc>
                <a:spcPts val="5599"/>
              </a:lnSpc>
              <a:spcBef>
                <a:spcPct val="0"/>
              </a:spcBef>
            </a:pPr>
            <a:r>
              <a:rPr lang="en-US" b="true" sz="3999" u="sng">
                <a:solidFill>
                  <a:srgbClr val="000000"/>
                </a:solidFill>
                <a:latin typeface="Inclusive Sans Bold"/>
                <a:ea typeface="Inclusive Sans Bold"/>
                <a:cs typeface="Inclusive Sans Bold"/>
                <a:sym typeface="Inclusive Sans Bold"/>
              </a:rPr>
              <a:t>Analisis Kasus (Algoritmhic Management) </a:t>
            </a:r>
          </a:p>
        </p:txBody>
      </p:sp>
      <p:sp>
        <p:nvSpPr>
          <p:cNvPr name="TextBox 17" id="17"/>
          <p:cNvSpPr txBox="true"/>
          <p:nvPr/>
        </p:nvSpPr>
        <p:spPr>
          <a:xfrm rot="0">
            <a:off x="1822377" y="2078273"/>
            <a:ext cx="14552349" cy="1042670"/>
          </a:xfrm>
          <a:prstGeom prst="rect">
            <a:avLst/>
          </a:prstGeom>
        </p:spPr>
        <p:txBody>
          <a:bodyPr anchor="t" rtlCol="false" tIns="0" lIns="0" bIns="0" rIns="0">
            <a:spAutoFit/>
          </a:bodyPr>
          <a:lstStyle/>
          <a:p>
            <a:pPr algn="ctr">
              <a:lnSpc>
                <a:spcPts val="8319"/>
              </a:lnSpc>
            </a:pPr>
            <a:r>
              <a:rPr lang="en-US" b="true" sz="6399" spc="63">
                <a:solidFill>
                  <a:srgbClr val="2D892C"/>
                </a:solidFill>
                <a:latin typeface="Inclusive Sans Bold"/>
                <a:ea typeface="Inclusive Sans Bold"/>
                <a:cs typeface="Inclusive Sans Bold"/>
                <a:sym typeface="Inclusive Sans Bold"/>
              </a:rPr>
              <a:t>Lensa Profit</a:t>
            </a:r>
          </a:p>
        </p:txBody>
      </p:sp>
      <p:sp>
        <p:nvSpPr>
          <p:cNvPr name="TextBox 18" id="18"/>
          <p:cNvSpPr txBox="true"/>
          <p:nvPr/>
        </p:nvSpPr>
        <p:spPr>
          <a:xfrm rot="0">
            <a:off x="2355043" y="3556635"/>
            <a:ext cx="6429879" cy="1249680"/>
          </a:xfrm>
          <a:prstGeom prst="rect">
            <a:avLst/>
          </a:prstGeom>
        </p:spPr>
        <p:txBody>
          <a:bodyPr anchor="t" rtlCol="false" tIns="0" lIns="0" bIns="0" rIns="0">
            <a:spAutoFit/>
          </a:bodyPr>
          <a:lstStyle/>
          <a:p>
            <a:pPr algn="just">
              <a:lnSpc>
                <a:spcPts val="2520"/>
              </a:lnSpc>
              <a:spcBef>
                <a:spcPct val="0"/>
              </a:spcBef>
            </a:pPr>
            <a:r>
              <a:rPr lang="en-US" sz="1800">
                <a:solidFill>
                  <a:srgbClr val="000000"/>
                </a:solidFill>
                <a:latin typeface="Inclusive Sans"/>
                <a:ea typeface="Inclusive Sans"/>
                <a:cs typeface="Inclusive Sans"/>
                <a:sym typeface="Inclusive Sans"/>
              </a:rPr>
              <a:t>Dampak dari perjanjian ini adalah driver tidak mempunyai jam pasti untuk bekerja sesuai yg diatur oleh perundang-undangan mengenai lamanya waktu bekerja (8 jam sehari)</a:t>
            </a:r>
          </a:p>
        </p:txBody>
      </p:sp>
      <p:grpSp>
        <p:nvGrpSpPr>
          <p:cNvPr name="Group 19" id="19"/>
          <p:cNvGrpSpPr/>
          <p:nvPr/>
        </p:nvGrpSpPr>
        <p:grpSpPr>
          <a:xfrm rot="0">
            <a:off x="11236944" y="3406895"/>
            <a:ext cx="5246370" cy="5246370"/>
            <a:chOff x="0" y="0"/>
            <a:chExt cx="6350000" cy="6350000"/>
          </a:xfrm>
        </p:grpSpPr>
        <p:sp>
          <p:nvSpPr>
            <p:cNvPr name="Freeform 20" id="20"/>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9"/>
              <a:stretch>
                <a:fillRect l="-24916" t="0" r="-24916" b="0"/>
              </a:stretch>
            </a:blipFill>
          </p:spPr>
        </p:sp>
      </p:grpSp>
      <p:sp>
        <p:nvSpPr>
          <p:cNvPr name="TextBox 21" id="21"/>
          <p:cNvSpPr txBox="true"/>
          <p:nvPr/>
        </p:nvSpPr>
        <p:spPr>
          <a:xfrm rot="0">
            <a:off x="2355043" y="3099988"/>
            <a:ext cx="6429879" cy="365760"/>
          </a:xfrm>
          <a:prstGeom prst="rect">
            <a:avLst/>
          </a:prstGeom>
        </p:spPr>
        <p:txBody>
          <a:bodyPr anchor="t" rtlCol="false" tIns="0" lIns="0" bIns="0" rIns="0">
            <a:spAutoFit/>
          </a:bodyPr>
          <a:lstStyle/>
          <a:p>
            <a:pPr algn="just">
              <a:lnSpc>
                <a:spcPts val="2939"/>
              </a:lnSpc>
              <a:spcBef>
                <a:spcPct val="0"/>
              </a:spcBef>
            </a:pPr>
            <a:r>
              <a:rPr lang="en-US" b="true" sz="2099">
                <a:solidFill>
                  <a:srgbClr val="000000"/>
                </a:solidFill>
                <a:latin typeface="Inclusive Sans Bold"/>
                <a:ea typeface="Inclusive Sans Bold"/>
                <a:cs typeface="Inclusive Sans Bold"/>
                <a:sym typeface="Inclusive Sans Bold"/>
              </a:rPr>
              <a:t>Perjanjian Kerja Kemitraan</a:t>
            </a:r>
          </a:p>
        </p:txBody>
      </p:sp>
      <p:sp>
        <p:nvSpPr>
          <p:cNvPr name="TextBox 22" id="22"/>
          <p:cNvSpPr txBox="true"/>
          <p:nvPr/>
        </p:nvSpPr>
        <p:spPr>
          <a:xfrm rot="0">
            <a:off x="2355043" y="5510612"/>
            <a:ext cx="6429879" cy="935355"/>
          </a:xfrm>
          <a:prstGeom prst="rect">
            <a:avLst/>
          </a:prstGeom>
        </p:spPr>
        <p:txBody>
          <a:bodyPr anchor="t" rtlCol="false" tIns="0" lIns="0" bIns="0" rIns="0">
            <a:spAutoFit/>
          </a:bodyPr>
          <a:lstStyle/>
          <a:p>
            <a:pPr algn="just">
              <a:lnSpc>
                <a:spcPts val="2520"/>
              </a:lnSpc>
              <a:spcBef>
                <a:spcPct val="0"/>
              </a:spcBef>
            </a:pPr>
            <a:r>
              <a:rPr lang="en-US" sz="1800">
                <a:solidFill>
                  <a:srgbClr val="000000"/>
                </a:solidFill>
                <a:latin typeface="Inclusive Sans"/>
                <a:ea typeface="Inclusive Sans"/>
                <a:cs typeface="Inclusive Sans"/>
                <a:sym typeface="Inclusive Sans"/>
              </a:rPr>
              <a:t>Dikarenakan tidak adanya waktu kerja yg diatur pada perjanjian kemitraan maka secara otomatis tidak ada upah minimum berdasarkan waktu kerja</a:t>
            </a:r>
          </a:p>
        </p:txBody>
      </p:sp>
      <p:sp>
        <p:nvSpPr>
          <p:cNvPr name="TextBox 23" id="23"/>
          <p:cNvSpPr txBox="true"/>
          <p:nvPr/>
        </p:nvSpPr>
        <p:spPr>
          <a:xfrm rot="0">
            <a:off x="2355043" y="5053965"/>
            <a:ext cx="6429879" cy="365760"/>
          </a:xfrm>
          <a:prstGeom prst="rect">
            <a:avLst/>
          </a:prstGeom>
        </p:spPr>
        <p:txBody>
          <a:bodyPr anchor="t" rtlCol="false" tIns="0" lIns="0" bIns="0" rIns="0">
            <a:spAutoFit/>
          </a:bodyPr>
          <a:lstStyle/>
          <a:p>
            <a:pPr algn="just">
              <a:lnSpc>
                <a:spcPts val="2939"/>
              </a:lnSpc>
              <a:spcBef>
                <a:spcPct val="0"/>
              </a:spcBef>
            </a:pPr>
            <a:r>
              <a:rPr lang="en-US" b="true" sz="2099">
                <a:solidFill>
                  <a:srgbClr val="000000"/>
                </a:solidFill>
                <a:latin typeface="Inclusive Sans Bold"/>
                <a:ea typeface="Inclusive Sans Bold"/>
                <a:cs typeface="Inclusive Sans Bold"/>
                <a:sym typeface="Inclusive Sans Bold"/>
              </a:rPr>
              <a:t>Tidak adanya upah minimum</a:t>
            </a:r>
          </a:p>
        </p:txBody>
      </p:sp>
      <p:sp>
        <p:nvSpPr>
          <p:cNvPr name="TextBox 24" id="24"/>
          <p:cNvSpPr txBox="true"/>
          <p:nvPr/>
        </p:nvSpPr>
        <p:spPr>
          <a:xfrm rot="0">
            <a:off x="2355043" y="7331239"/>
            <a:ext cx="6429879" cy="935355"/>
          </a:xfrm>
          <a:prstGeom prst="rect">
            <a:avLst/>
          </a:prstGeom>
        </p:spPr>
        <p:txBody>
          <a:bodyPr anchor="t" rtlCol="false" tIns="0" lIns="0" bIns="0" rIns="0">
            <a:spAutoFit/>
          </a:bodyPr>
          <a:lstStyle/>
          <a:p>
            <a:pPr algn="just">
              <a:lnSpc>
                <a:spcPts val="2520"/>
              </a:lnSpc>
              <a:spcBef>
                <a:spcPct val="0"/>
              </a:spcBef>
            </a:pPr>
            <a:r>
              <a:rPr lang="en-US" sz="1800">
                <a:solidFill>
                  <a:srgbClr val="000000"/>
                </a:solidFill>
                <a:latin typeface="Inclusive Sans"/>
                <a:ea typeface="Inclusive Sans"/>
                <a:cs typeface="Inclusive Sans"/>
                <a:sym typeface="Inclusive Sans"/>
              </a:rPr>
              <a:t>Hingga saat ini tidak ada jaminan bagi seorang driver saat perusahaan memutuskan kontrak kemitraan secara sepihak.</a:t>
            </a:r>
          </a:p>
        </p:txBody>
      </p:sp>
      <p:sp>
        <p:nvSpPr>
          <p:cNvPr name="TextBox 25" id="25"/>
          <p:cNvSpPr txBox="true"/>
          <p:nvPr/>
        </p:nvSpPr>
        <p:spPr>
          <a:xfrm rot="0">
            <a:off x="2355043" y="6874592"/>
            <a:ext cx="6429879" cy="365760"/>
          </a:xfrm>
          <a:prstGeom prst="rect">
            <a:avLst/>
          </a:prstGeom>
        </p:spPr>
        <p:txBody>
          <a:bodyPr anchor="t" rtlCol="false" tIns="0" lIns="0" bIns="0" rIns="0">
            <a:spAutoFit/>
          </a:bodyPr>
          <a:lstStyle/>
          <a:p>
            <a:pPr algn="just">
              <a:lnSpc>
                <a:spcPts val="2939"/>
              </a:lnSpc>
              <a:spcBef>
                <a:spcPct val="0"/>
              </a:spcBef>
            </a:pPr>
            <a:r>
              <a:rPr lang="en-US" b="true" sz="2099">
                <a:solidFill>
                  <a:srgbClr val="000000"/>
                </a:solidFill>
                <a:latin typeface="Inclusive Sans Bold"/>
                <a:ea typeface="Inclusive Sans Bold"/>
                <a:cs typeface="Inclusive Sans Bold"/>
                <a:sym typeface="Inclusive Sans Bold"/>
              </a:rPr>
              <a:t>Tidka adanya jaminan pemutusan kontrak</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12888" t="0" r="-12888" b="0"/>
            </a:stretch>
          </a:blipFill>
        </p:spPr>
      </p:sp>
      <p:sp>
        <p:nvSpPr>
          <p:cNvPr name="Freeform 3" id="3"/>
          <p:cNvSpPr/>
          <p:nvPr/>
        </p:nvSpPr>
        <p:spPr>
          <a:xfrm flipH="false" flipV="false" rot="-10800000">
            <a:off x="-891999" y="-783690"/>
            <a:ext cx="2782408" cy="2782408"/>
          </a:xfrm>
          <a:custGeom>
            <a:avLst/>
            <a:gdLst/>
            <a:ahLst/>
            <a:cxnLst/>
            <a:rect r="r" b="b" t="t" l="l"/>
            <a:pathLst>
              <a:path h="2782408" w="2782408">
                <a:moveTo>
                  <a:pt x="0" y="0"/>
                </a:moveTo>
                <a:lnTo>
                  <a:pt x="2782408" y="0"/>
                </a:lnTo>
                <a:lnTo>
                  <a:pt x="2782408" y="2782408"/>
                </a:lnTo>
                <a:lnTo>
                  <a:pt x="0" y="27824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5937396" y="-1688002"/>
            <a:ext cx="3237907" cy="4591031"/>
            <a:chOff x="0" y="0"/>
            <a:chExt cx="4317209" cy="6121375"/>
          </a:xfrm>
        </p:grpSpPr>
        <p:grpSp>
          <p:nvGrpSpPr>
            <p:cNvPr name="Group 5" id="5"/>
            <p:cNvGrpSpPr/>
            <p:nvPr/>
          </p:nvGrpSpPr>
          <p:grpSpPr>
            <a:xfrm rot="0">
              <a:off x="834410" y="1038800"/>
              <a:ext cx="2610701" cy="5082575"/>
              <a:chOff x="0" y="0"/>
              <a:chExt cx="585263" cy="1139404"/>
            </a:xfrm>
          </p:grpSpPr>
          <p:sp>
            <p:nvSpPr>
              <p:cNvPr name="Freeform 6" id="6"/>
              <p:cNvSpPr/>
              <p:nvPr/>
            </p:nvSpPr>
            <p:spPr>
              <a:xfrm flipH="false" flipV="false" rot="0">
                <a:off x="0" y="0"/>
                <a:ext cx="585263" cy="1139404"/>
              </a:xfrm>
              <a:custGeom>
                <a:avLst/>
                <a:gdLst/>
                <a:ahLst/>
                <a:cxnLst/>
                <a:rect r="r" b="b" t="t" l="l"/>
                <a:pathLst>
                  <a:path h="1139404" w="585263">
                    <a:moveTo>
                      <a:pt x="195193" y="1120335"/>
                    </a:moveTo>
                    <a:cubicBezTo>
                      <a:pt x="225198" y="1131849"/>
                      <a:pt x="259310" y="1139404"/>
                      <a:pt x="292789" y="1139404"/>
                    </a:cubicBezTo>
                    <a:cubicBezTo>
                      <a:pt x="326269" y="1139404"/>
                      <a:pt x="358486" y="1132927"/>
                      <a:pt x="388175" y="1121413"/>
                    </a:cubicBezTo>
                    <a:cubicBezTo>
                      <a:pt x="388807" y="1121054"/>
                      <a:pt x="389438" y="1121054"/>
                      <a:pt x="390070" y="1120694"/>
                    </a:cubicBezTo>
                    <a:cubicBezTo>
                      <a:pt x="501564" y="1074639"/>
                      <a:pt x="583684" y="953025"/>
                      <a:pt x="585263" y="803647"/>
                    </a:cubicBezTo>
                    <a:lnTo>
                      <a:pt x="585263" y="0"/>
                    </a:lnTo>
                    <a:lnTo>
                      <a:pt x="0" y="0"/>
                    </a:lnTo>
                    <a:lnTo>
                      <a:pt x="0" y="803051"/>
                    </a:lnTo>
                    <a:cubicBezTo>
                      <a:pt x="1579" y="953744"/>
                      <a:pt x="82436" y="1075359"/>
                      <a:pt x="195193" y="1120335"/>
                    </a:cubicBezTo>
                    <a:close/>
                  </a:path>
                </a:pathLst>
              </a:custGeom>
              <a:solidFill>
                <a:srgbClr val="153930"/>
              </a:solidFill>
            </p:spPr>
          </p:sp>
          <p:sp>
            <p:nvSpPr>
              <p:cNvPr name="TextBox 7" id="7"/>
              <p:cNvSpPr txBox="true"/>
              <p:nvPr/>
            </p:nvSpPr>
            <p:spPr>
              <a:xfrm>
                <a:off x="0" y="-47625"/>
                <a:ext cx="585263" cy="1060029"/>
              </a:xfrm>
              <a:prstGeom prst="rect">
                <a:avLst/>
              </a:prstGeom>
            </p:spPr>
            <p:txBody>
              <a:bodyPr anchor="ctr" rtlCol="false" tIns="50800" lIns="50800" bIns="50800" rIns="50800"/>
              <a:lstStyle/>
              <a:p>
                <a:pPr algn="ctr">
                  <a:lnSpc>
                    <a:spcPts val="2940"/>
                  </a:lnSpc>
                </a:pPr>
              </a:p>
            </p:txBody>
          </p:sp>
        </p:grpSp>
        <p:grpSp>
          <p:nvGrpSpPr>
            <p:cNvPr name="Group 8" id="8"/>
            <p:cNvGrpSpPr/>
            <p:nvPr/>
          </p:nvGrpSpPr>
          <p:grpSpPr>
            <a:xfrm rot="0">
              <a:off x="2251314" y="2774804"/>
              <a:ext cx="2065895" cy="206589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892C"/>
              </a:soli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360"/>
                  </a:lnSpc>
                </a:pPr>
              </a:p>
            </p:txBody>
          </p:sp>
        </p:grpSp>
        <p:grpSp>
          <p:nvGrpSpPr>
            <p:cNvPr name="Group 11" id="11"/>
            <p:cNvGrpSpPr/>
            <p:nvPr/>
          </p:nvGrpSpPr>
          <p:grpSpPr>
            <a:xfrm rot="0">
              <a:off x="0" y="0"/>
              <a:ext cx="1657891" cy="4141745"/>
              <a:chOff x="0" y="0"/>
              <a:chExt cx="456090" cy="1139404"/>
            </a:xfrm>
          </p:grpSpPr>
          <p:sp>
            <p:nvSpPr>
              <p:cNvPr name="Freeform 12" id="12"/>
              <p:cNvSpPr/>
              <p:nvPr/>
            </p:nvSpPr>
            <p:spPr>
              <a:xfrm flipH="false" flipV="false" rot="0">
                <a:off x="0" y="0"/>
                <a:ext cx="456090" cy="1139404"/>
              </a:xfrm>
              <a:custGeom>
                <a:avLst/>
                <a:gdLst/>
                <a:ahLst/>
                <a:cxnLst/>
                <a:rect r="r" b="b" t="t" l="l"/>
                <a:pathLst>
                  <a:path h="1139404" w="456090">
                    <a:moveTo>
                      <a:pt x="152112" y="1120335"/>
                    </a:moveTo>
                    <a:cubicBezTo>
                      <a:pt x="175495" y="1131849"/>
                      <a:pt x="202078" y="1139404"/>
                      <a:pt x="228168" y="1139404"/>
                    </a:cubicBezTo>
                    <a:cubicBezTo>
                      <a:pt x="254259" y="1139404"/>
                      <a:pt x="279365" y="1132927"/>
                      <a:pt x="302501" y="1121413"/>
                    </a:cubicBezTo>
                    <a:cubicBezTo>
                      <a:pt x="302994" y="1121054"/>
                      <a:pt x="303486" y="1121054"/>
                      <a:pt x="303978" y="1120694"/>
                    </a:cubicBezTo>
                    <a:cubicBezTo>
                      <a:pt x="390864" y="1074639"/>
                      <a:pt x="454859" y="953025"/>
                      <a:pt x="456090" y="803647"/>
                    </a:cubicBezTo>
                    <a:lnTo>
                      <a:pt x="456090" y="0"/>
                    </a:lnTo>
                    <a:lnTo>
                      <a:pt x="0" y="0"/>
                    </a:lnTo>
                    <a:lnTo>
                      <a:pt x="0" y="803051"/>
                    </a:lnTo>
                    <a:cubicBezTo>
                      <a:pt x="1231" y="953744"/>
                      <a:pt x="64241" y="1075359"/>
                      <a:pt x="152112" y="1120335"/>
                    </a:cubicBezTo>
                    <a:close/>
                  </a:path>
                </a:pathLst>
              </a:custGeom>
              <a:solidFill>
                <a:srgbClr val="2D892C">
                  <a:alpha val="83922"/>
                </a:srgbClr>
              </a:solidFill>
            </p:spPr>
          </p:sp>
          <p:sp>
            <p:nvSpPr>
              <p:cNvPr name="TextBox 13" id="13"/>
              <p:cNvSpPr txBox="true"/>
              <p:nvPr/>
            </p:nvSpPr>
            <p:spPr>
              <a:xfrm>
                <a:off x="0" y="-47625"/>
                <a:ext cx="456090" cy="1060029"/>
              </a:xfrm>
              <a:prstGeom prst="rect">
                <a:avLst/>
              </a:prstGeom>
            </p:spPr>
            <p:txBody>
              <a:bodyPr anchor="ctr" rtlCol="false" tIns="50800" lIns="50800" bIns="50800" rIns="50800"/>
              <a:lstStyle/>
              <a:p>
                <a:pPr algn="ctr">
                  <a:lnSpc>
                    <a:spcPts val="2940"/>
                  </a:lnSpc>
                </a:pPr>
              </a:p>
            </p:txBody>
          </p:sp>
        </p:grpSp>
      </p:grpSp>
      <p:sp>
        <p:nvSpPr>
          <p:cNvPr name="Freeform 14" id="14"/>
          <p:cNvSpPr/>
          <p:nvPr/>
        </p:nvSpPr>
        <p:spPr>
          <a:xfrm flipH="false" flipV="false" rot="2700000">
            <a:off x="-385230" y="9325747"/>
            <a:ext cx="1900826" cy="1026446"/>
          </a:xfrm>
          <a:custGeom>
            <a:avLst/>
            <a:gdLst/>
            <a:ahLst/>
            <a:cxnLst/>
            <a:rect r="r" b="b" t="t" l="l"/>
            <a:pathLst>
              <a:path h="1026446" w="1900826">
                <a:moveTo>
                  <a:pt x="0" y="0"/>
                </a:moveTo>
                <a:lnTo>
                  <a:pt x="1900826" y="0"/>
                </a:lnTo>
                <a:lnTo>
                  <a:pt x="1900826" y="1026447"/>
                </a:lnTo>
                <a:lnTo>
                  <a:pt x="0" y="102644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16895728" y="9619773"/>
            <a:ext cx="1321242" cy="667227"/>
          </a:xfrm>
          <a:custGeom>
            <a:avLst/>
            <a:gdLst/>
            <a:ahLst/>
            <a:cxnLst/>
            <a:rect r="r" b="b" t="t" l="l"/>
            <a:pathLst>
              <a:path h="667227" w="1321242">
                <a:moveTo>
                  <a:pt x="0" y="0"/>
                </a:moveTo>
                <a:lnTo>
                  <a:pt x="1321242" y="0"/>
                </a:lnTo>
                <a:lnTo>
                  <a:pt x="1321242" y="667227"/>
                </a:lnTo>
                <a:lnTo>
                  <a:pt x="0" y="667227"/>
                </a:lnTo>
                <a:lnTo>
                  <a:pt x="0" y="0"/>
                </a:lnTo>
                <a:close/>
              </a:path>
            </a:pathLst>
          </a:custGeom>
          <a:blipFill>
            <a:blip r:embed="rId7">
              <a:alphaModFix amt="40000"/>
              <a:extLst>
                <a:ext uri="{96DAC541-7B7A-43D3-8B79-37D633B846F1}">
                  <asvg:svgBlip xmlns:asvg="http://schemas.microsoft.com/office/drawing/2016/SVG/main" r:embed="rId8"/>
                </a:ext>
              </a:extLst>
            </a:blip>
            <a:stretch>
              <a:fillRect l="0" t="0" r="0" b="0"/>
            </a:stretch>
          </a:blipFill>
        </p:spPr>
      </p:sp>
      <p:sp>
        <p:nvSpPr>
          <p:cNvPr name="TextBox 16" id="16"/>
          <p:cNvSpPr txBox="true"/>
          <p:nvPr/>
        </p:nvSpPr>
        <p:spPr>
          <a:xfrm rot="0">
            <a:off x="3838456" y="1172884"/>
            <a:ext cx="10611088" cy="688975"/>
          </a:xfrm>
          <a:prstGeom prst="rect">
            <a:avLst/>
          </a:prstGeom>
        </p:spPr>
        <p:txBody>
          <a:bodyPr anchor="t" rtlCol="false" tIns="0" lIns="0" bIns="0" rIns="0">
            <a:spAutoFit/>
          </a:bodyPr>
          <a:lstStyle/>
          <a:p>
            <a:pPr algn="ctr">
              <a:lnSpc>
                <a:spcPts val="5599"/>
              </a:lnSpc>
              <a:spcBef>
                <a:spcPct val="0"/>
              </a:spcBef>
            </a:pPr>
            <a:r>
              <a:rPr lang="en-US" b="true" sz="3999" u="sng">
                <a:solidFill>
                  <a:srgbClr val="000000"/>
                </a:solidFill>
                <a:latin typeface="Inclusive Sans Bold"/>
                <a:ea typeface="Inclusive Sans Bold"/>
                <a:cs typeface="Inclusive Sans Bold"/>
                <a:sym typeface="Inclusive Sans Bold"/>
              </a:rPr>
              <a:t>Analisis Kasus (Algoritmhic Management) </a:t>
            </a:r>
          </a:p>
        </p:txBody>
      </p:sp>
      <p:sp>
        <p:nvSpPr>
          <p:cNvPr name="TextBox 17" id="17"/>
          <p:cNvSpPr txBox="true"/>
          <p:nvPr/>
        </p:nvSpPr>
        <p:spPr>
          <a:xfrm rot="0">
            <a:off x="1822377" y="2078273"/>
            <a:ext cx="14552349" cy="1042670"/>
          </a:xfrm>
          <a:prstGeom prst="rect">
            <a:avLst/>
          </a:prstGeom>
        </p:spPr>
        <p:txBody>
          <a:bodyPr anchor="t" rtlCol="false" tIns="0" lIns="0" bIns="0" rIns="0">
            <a:spAutoFit/>
          </a:bodyPr>
          <a:lstStyle/>
          <a:p>
            <a:pPr algn="ctr">
              <a:lnSpc>
                <a:spcPts val="8319"/>
              </a:lnSpc>
            </a:pPr>
            <a:r>
              <a:rPr lang="en-US" b="true" sz="6399" spc="63">
                <a:solidFill>
                  <a:srgbClr val="2D892C"/>
                </a:solidFill>
                <a:latin typeface="Inclusive Sans Bold"/>
                <a:ea typeface="Inclusive Sans Bold"/>
                <a:cs typeface="Inclusive Sans Bold"/>
                <a:sym typeface="Inclusive Sans Bold"/>
              </a:rPr>
              <a:t>Lensa Profit</a:t>
            </a:r>
          </a:p>
        </p:txBody>
      </p:sp>
      <p:sp>
        <p:nvSpPr>
          <p:cNvPr name="TextBox 18" id="18"/>
          <p:cNvSpPr txBox="true"/>
          <p:nvPr/>
        </p:nvSpPr>
        <p:spPr>
          <a:xfrm rot="0">
            <a:off x="2355043" y="3556635"/>
            <a:ext cx="6429879" cy="935355"/>
          </a:xfrm>
          <a:prstGeom prst="rect">
            <a:avLst/>
          </a:prstGeom>
        </p:spPr>
        <p:txBody>
          <a:bodyPr anchor="t" rtlCol="false" tIns="0" lIns="0" bIns="0" rIns="0">
            <a:spAutoFit/>
          </a:bodyPr>
          <a:lstStyle/>
          <a:p>
            <a:pPr algn="just">
              <a:lnSpc>
                <a:spcPts val="2520"/>
              </a:lnSpc>
              <a:spcBef>
                <a:spcPct val="0"/>
              </a:spcBef>
            </a:pPr>
            <a:r>
              <a:rPr lang="en-US" sz="1800">
                <a:solidFill>
                  <a:srgbClr val="000000"/>
                </a:solidFill>
                <a:latin typeface="Inclusive Sans"/>
                <a:ea typeface="Inclusive Sans"/>
                <a:cs typeface="Inclusive Sans"/>
                <a:sym typeface="Inclusive Sans"/>
              </a:rPr>
              <a:t>Sistem dirancang untuk bagi hasil antara perusahaan dan driver, sementara biaya operasional dan biaya perawatan kendaraan sepenuhnya ditanggung oleh driver itu sendiri</a:t>
            </a:r>
          </a:p>
        </p:txBody>
      </p:sp>
      <p:grpSp>
        <p:nvGrpSpPr>
          <p:cNvPr name="Group 19" id="19"/>
          <p:cNvGrpSpPr/>
          <p:nvPr/>
        </p:nvGrpSpPr>
        <p:grpSpPr>
          <a:xfrm rot="0">
            <a:off x="11236944" y="3406895"/>
            <a:ext cx="5246370" cy="5246370"/>
            <a:chOff x="0" y="0"/>
            <a:chExt cx="6350000" cy="6350000"/>
          </a:xfrm>
        </p:grpSpPr>
        <p:sp>
          <p:nvSpPr>
            <p:cNvPr name="Freeform 20" id="20"/>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9"/>
              <a:stretch>
                <a:fillRect l="-24916" t="0" r="-24916" b="0"/>
              </a:stretch>
            </a:blipFill>
          </p:spPr>
        </p:sp>
      </p:grpSp>
      <p:sp>
        <p:nvSpPr>
          <p:cNvPr name="TextBox 21" id="21"/>
          <p:cNvSpPr txBox="true"/>
          <p:nvPr/>
        </p:nvSpPr>
        <p:spPr>
          <a:xfrm rot="0">
            <a:off x="2355043" y="3099988"/>
            <a:ext cx="6429879" cy="365760"/>
          </a:xfrm>
          <a:prstGeom prst="rect">
            <a:avLst/>
          </a:prstGeom>
        </p:spPr>
        <p:txBody>
          <a:bodyPr anchor="t" rtlCol="false" tIns="0" lIns="0" bIns="0" rIns="0">
            <a:spAutoFit/>
          </a:bodyPr>
          <a:lstStyle/>
          <a:p>
            <a:pPr algn="just">
              <a:lnSpc>
                <a:spcPts val="2939"/>
              </a:lnSpc>
              <a:spcBef>
                <a:spcPct val="0"/>
              </a:spcBef>
            </a:pPr>
            <a:r>
              <a:rPr lang="en-US" b="true" sz="2099">
                <a:solidFill>
                  <a:srgbClr val="000000"/>
                </a:solidFill>
                <a:latin typeface="Inclusive Sans Bold"/>
                <a:ea typeface="Inclusive Sans Bold"/>
                <a:cs typeface="Inclusive Sans Bold"/>
                <a:sym typeface="Inclusive Sans Bold"/>
              </a:rPr>
              <a:t>Kurangnya Transparansi Algoritma</a:t>
            </a:r>
          </a:p>
        </p:txBody>
      </p:sp>
      <p:sp>
        <p:nvSpPr>
          <p:cNvPr name="TextBox 22" id="22"/>
          <p:cNvSpPr txBox="true"/>
          <p:nvPr/>
        </p:nvSpPr>
        <p:spPr>
          <a:xfrm rot="0">
            <a:off x="2355043" y="4806315"/>
            <a:ext cx="6429879" cy="935355"/>
          </a:xfrm>
          <a:prstGeom prst="rect">
            <a:avLst/>
          </a:prstGeom>
        </p:spPr>
        <p:txBody>
          <a:bodyPr anchor="t" rtlCol="false" tIns="0" lIns="0" bIns="0" rIns="0">
            <a:spAutoFit/>
          </a:bodyPr>
          <a:lstStyle/>
          <a:p>
            <a:pPr algn="just">
              <a:lnSpc>
                <a:spcPts val="2520"/>
              </a:lnSpc>
              <a:spcBef>
                <a:spcPct val="0"/>
              </a:spcBef>
            </a:pPr>
            <a:r>
              <a:rPr lang="en-US" b="true" sz="1800">
                <a:solidFill>
                  <a:srgbClr val="000000"/>
                </a:solidFill>
                <a:latin typeface="Inclusive Sans Bold"/>
                <a:ea typeface="Inclusive Sans Bold"/>
                <a:cs typeface="Inclusive Sans Bold"/>
                <a:sym typeface="Inclusive Sans Bold"/>
              </a:rPr>
              <a:t>Munculnya permasalahan-permasalahan tersebut memperlihatkan bahwa sebenarnya seorang driver berada pada posisi yang lebih lemah dari perushaan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12888" t="0" r="-12888" b="0"/>
            </a:stretch>
          </a:blipFill>
        </p:spPr>
      </p:sp>
      <p:sp>
        <p:nvSpPr>
          <p:cNvPr name="Freeform 3" id="3"/>
          <p:cNvSpPr/>
          <p:nvPr/>
        </p:nvSpPr>
        <p:spPr>
          <a:xfrm flipH="false" flipV="false" rot="-10800000">
            <a:off x="-891999" y="-783690"/>
            <a:ext cx="2782408" cy="2782408"/>
          </a:xfrm>
          <a:custGeom>
            <a:avLst/>
            <a:gdLst/>
            <a:ahLst/>
            <a:cxnLst/>
            <a:rect r="r" b="b" t="t" l="l"/>
            <a:pathLst>
              <a:path h="2782408" w="2782408">
                <a:moveTo>
                  <a:pt x="0" y="0"/>
                </a:moveTo>
                <a:lnTo>
                  <a:pt x="2782408" y="0"/>
                </a:lnTo>
                <a:lnTo>
                  <a:pt x="2782408" y="2782408"/>
                </a:lnTo>
                <a:lnTo>
                  <a:pt x="0" y="27824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5937396" y="-1688002"/>
            <a:ext cx="3237907" cy="4591031"/>
            <a:chOff x="0" y="0"/>
            <a:chExt cx="4317209" cy="6121375"/>
          </a:xfrm>
        </p:grpSpPr>
        <p:grpSp>
          <p:nvGrpSpPr>
            <p:cNvPr name="Group 5" id="5"/>
            <p:cNvGrpSpPr/>
            <p:nvPr/>
          </p:nvGrpSpPr>
          <p:grpSpPr>
            <a:xfrm rot="0">
              <a:off x="834410" y="1038800"/>
              <a:ext cx="2610701" cy="5082575"/>
              <a:chOff x="0" y="0"/>
              <a:chExt cx="585263" cy="1139404"/>
            </a:xfrm>
          </p:grpSpPr>
          <p:sp>
            <p:nvSpPr>
              <p:cNvPr name="Freeform 6" id="6"/>
              <p:cNvSpPr/>
              <p:nvPr/>
            </p:nvSpPr>
            <p:spPr>
              <a:xfrm flipH="false" flipV="false" rot="0">
                <a:off x="0" y="0"/>
                <a:ext cx="585263" cy="1139404"/>
              </a:xfrm>
              <a:custGeom>
                <a:avLst/>
                <a:gdLst/>
                <a:ahLst/>
                <a:cxnLst/>
                <a:rect r="r" b="b" t="t" l="l"/>
                <a:pathLst>
                  <a:path h="1139404" w="585263">
                    <a:moveTo>
                      <a:pt x="195193" y="1120335"/>
                    </a:moveTo>
                    <a:cubicBezTo>
                      <a:pt x="225198" y="1131849"/>
                      <a:pt x="259310" y="1139404"/>
                      <a:pt x="292789" y="1139404"/>
                    </a:cubicBezTo>
                    <a:cubicBezTo>
                      <a:pt x="326269" y="1139404"/>
                      <a:pt x="358486" y="1132927"/>
                      <a:pt x="388175" y="1121413"/>
                    </a:cubicBezTo>
                    <a:cubicBezTo>
                      <a:pt x="388807" y="1121054"/>
                      <a:pt x="389438" y="1121054"/>
                      <a:pt x="390070" y="1120694"/>
                    </a:cubicBezTo>
                    <a:cubicBezTo>
                      <a:pt x="501564" y="1074639"/>
                      <a:pt x="583684" y="953025"/>
                      <a:pt x="585263" y="803647"/>
                    </a:cubicBezTo>
                    <a:lnTo>
                      <a:pt x="585263" y="0"/>
                    </a:lnTo>
                    <a:lnTo>
                      <a:pt x="0" y="0"/>
                    </a:lnTo>
                    <a:lnTo>
                      <a:pt x="0" y="803051"/>
                    </a:lnTo>
                    <a:cubicBezTo>
                      <a:pt x="1579" y="953744"/>
                      <a:pt x="82436" y="1075359"/>
                      <a:pt x="195193" y="1120335"/>
                    </a:cubicBezTo>
                    <a:close/>
                  </a:path>
                </a:pathLst>
              </a:custGeom>
              <a:solidFill>
                <a:srgbClr val="153930"/>
              </a:solidFill>
            </p:spPr>
          </p:sp>
          <p:sp>
            <p:nvSpPr>
              <p:cNvPr name="TextBox 7" id="7"/>
              <p:cNvSpPr txBox="true"/>
              <p:nvPr/>
            </p:nvSpPr>
            <p:spPr>
              <a:xfrm>
                <a:off x="0" y="-47625"/>
                <a:ext cx="585263" cy="1060029"/>
              </a:xfrm>
              <a:prstGeom prst="rect">
                <a:avLst/>
              </a:prstGeom>
            </p:spPr>
            <p:txBody>
              <a:bodyPr anchor="ctr" rtlCol="false" tIns="50800" lIns="50800" bIns="50800" rIns="50800"/>
              <a:lstStyle/>
              <a:p>
                <a:pPr algn="ctr">
                  <a:lnSpc>
                    <a:spcPts val="2940"/>
                  </a:lnSpc>
                </a:pPr>
              </a:p>
            </p:txBody>
          </p:sp>
        </p:grpSp>
        <p:grpSp>
          <p:nvGrpSpPr>
            <p:cNvPr name="Group 8" id="8"/>
            <p:cNvGrpSpPr/>
            <p:nvPr/>
          </p:nvGrpSpPr>
          <p:grpSpPr>
            <a:xfrm rot="0">
              <a:off x="2251314" y="2774804"/>
              <a:ext cx="2065895" cy="206589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892C"/>
              </a:soli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360"/>
                  </a:lnSpc>
                </a:pPr>
              </a:p>
            </p:txBody>
          </p:sp>
        </p:grpSp>
        <p:grpSp>
          <p:nvGrpSpPr>
            <p:cNvPr name="Group 11" id="11"/>
            <p:cNvGrpSpPr/>
            <p:nvPr/>
          </p:nvGrpSpPr>
          <p:grpSpPr>
            <a:xfrm rot="0">
              <a:off x="0" y="0"/>
              <a:ext cx="1657891" cy="4141745"/>
              <a:chOff x="0" y="0"/>
              <a:chExt cx="456090" cy="1139404"/>
            </a:xfrm>
          </p:grpSpPr>
          <p:sp>
            <p:nvSpPr>
              <p:cNvPr name="Freeform 12" id="12"/>
              <p:cNvSpPr/>
              <p:nvPr/>
            </p:nvSpPr>
            <p:spPr>
              <a:xfrm flipH="false" flipV="false" rot="0">
                <a:off x="0" y="0"/>
                <a:ext cx="456090" cy="1139404"/>
              </a:xfrm>
              <a:custGeom>
                <a:avLst/>
                <a:gdLst/>
                <a:ahLst/>
                <a:cxnLst/>
                <a:rect r="r" b="b" t="t" l="l"/>
                <a:pathLst>
                  <a:path h="1139404" w="456090">
                    <a:moveTo>
                      <a:pt x="152112" y="1120335"/>
                    </a:moveTo>
                    <a:cubicBezTo>
                      <a:pt x="175495" y="1131849"/>
                      <a:pt x="202078" y="1139404"/>
                      <a:pt x="228168" y="1139404"/>
                    </a:cubicBezTo>
                    <a:cubicBezTo>
                      <a:pt x="254259" y="1139404"/>
                      <a:pt x="279365" y="1132927"/>
                      <a:pt x="302501" y="1121413"/>
                    </a:cubicBezTo>
                    <a:cubicBezTo>
                      <a:pt x="302994" y="1121054"/>
                      <a:pt x="303486" y="1121054"/>
                      <a:pt x="303978" y="1120694"/>
                    </a:cubicBezTo>
                    <a:cubicBezTo>
                      <a:pt x="390864" y="1074639"/>
                      <a:pt x="454859" y="953025"/>
                      <a:pt x="456090" y="803647"/>
                    </a:cubicBezTo>
                    <a:lnTo>
                      <a:pt x="456090" y="0"/>
                    </a:lnTo>
                    <a:lnTo>
                      <a:pt x="0" y="0"/>
                    </a:lnTo>
                    <a:lnTo>
                      <a:pt x="0" y="803051"/>
                    </a:lnTo>
                    <a:cubicBezTo>
                      <a:pt x="1231" y="953744"/>
                      <a:pt x="64241" y="1075359"/>
                      <a:pt x="152112" y="1120335"/>
                    </a:cubicBezTo>
                    <a:close/>
                  </a:path>
                </a:pathLst>
              </a:custGeom>
              <a:solidFill>
                <a:srgbClr val="2D892C">
                  <a:alpha val="83922"/>
                </a:srgbClr>
              </a:solidFill>
            </p:spPr>
          </p:sp>
          <p:sp>
            <p:nvSpPr>
              <p:cNvPr name="TextBox 13" id="13"/>
              <p:cNvSpPr txBox="true"/>
              <p:nvPr/>
            </p:nvSpPr>
            <p:spPr>
              <a:xfrm>
                <a:off x="0" y="-47625"/>
                <a:ext cx="456090" cy="1060029"/>
              </a:xfrm>
              <a:prstGeom prst="rect">
                <a:avLst/>
              </a:prstGeom>
            </p:spPr>
            <p:txBody>
              <a:bodyPr anchor="ctr" rtlCol="false" tIns="50800" lIns="50800" bIns="50800" rIns="50800"/>
              <a:lstStyle/>
              <a:p>
                <a:pPr algn="ctr">
                  <a:lnSpc>
                    <a:spcPts val="2940"/>
                  </a:lnSpc>
                </a:pPr>
              </a:p>
            </p:txBody>
          </p:sp>
        </p:grpSp>
      </p:grpSp>
      <p:sp>
        <p:nvSpPr>
          <p:cNvPr name="Freeform 14" id="14"/>
          <p:cNvSpPr/>
          <p:nvPr/>
        </p:nvSpPr>
        <p:spPr>
          <a:xfrm flipH="false" flipV="false" rot="2700000">
            <a:off x="-385230" y="9325747"/>
            <a:ext cx="1900826" cy="1026446"/>
          </a:xfrm>
          <a:custGeom>
            <a:avLst/>
            <a:gdLst/>
            <a:ahLst/>
            <a:cxnLst/>
            <a:rect r="r" b="b" t="t" l="l"/>
            <a:pathLst>
              <a:path h="1026446" w="1900826">
                <a:moveTo>
                  <a:pt x="0" y="0"/>
                </a:moveTo>
                <a:lnTo>
                  <a:pt x="1900826" y="0"/>
                </a:lnTo>
                <a:lnTo>
                  <a:pt x="1900826" y="1026447"/>
                </a:lnTo>
                <a:lnTo>
                  <a:pt x="0" y="102644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16895728" y="9619773"/>
            <a:ext cx="1321242" cy="667227"/>
          </a:xfrm>
          <a:custGeom>
            <a:avLst/>
            <a:gdLst/>
            <a:ahLst/>
            <a:cxnLst/>
            <a:rect r="r" b="b" t="t" l="l"/>
            <a:pathLst>
              <a:path h="667227" w="1321242">
                <a:moveTo>
                  <a:pt x="0" y="0"/>
                </a:moveTo>
                <a:lnTo>
                  <a:pt x="1321242" y="0"/>
                </a:lnTo>
                <a:lnTo>
                  <a:pt x="1321242" y="667227"/>
                </a:lnTo>
                <a:lnTo>
                  <a:pt x="0" y="667227"/>
                </a:lnTo>
                <a:lnTo>
                  <a:pt x="0" y="0"/>
                </a:lnTo>
                <a:close/>
              </a:path>
            </a:pathLst>
          </a:custGeom>
          <a:blipFill>
            <a:blip r:embed="rId7">
              <a:alphaModFix amt="40000"/>
              <a:extLst>
                <a:ext uri="{96DAC541-7B7A-43D3-8B79-37D633B846F1}">
                  <asvg:svgBlip xmlns:asvg="http://schemas.microsoft.com/office/drawing/2016/SVG/main" r:embed="rId8"/>
                </a:ext>
              </a:extLst>
            </a:blip>
            <a:stretch>
              <a:fillRect l="0" t="0" r="0" b="0"/>
            </a:stretch>
          </a:blipFill>
        </p:spPr>
      </p:sp>
      <p:sp>
        <p:nvSpPr>
          <p:cNvPr name="TextBox 16" id="16"/>
          <p:cNvSpPr txBox="true"/>
          <p:nvPr/>
        </p:nvSpPr>
        <p:spPr>
          <a:xfrm rot="0">
            <a:off x="3838456" y="1172884"/>
            <a:ext cx="10611088" cy="688975"/>
          </a:xfrm>
          <a:prstGeom prst="rect">
            <a:avLst/>
          </a:prstGeom>
        </p:spPr>
        <p:txBody>
          <a:bodyPr anchor="t" rtlCol="false" tIns="0" lIns="0" bIns="0" rIns="0">
            <a:spAutoFit/>
          </a:bodyPr>
          <a:lstStyle/>
          <a:p>
            <a:pPr algn="ctr">
              <a:lnSpc>
                <a:spcPts val="5599"/>
              </a:lnSpc>
              <a:spcBef>
                <a:spcPct val="0"/>
              </a:spcBef>
            </a:pPr>
            <a:r>
              <a:rPr lang="en-US" b="true" sz="3999" u="sng">
                <a:solidFill>
                  <a:srgbClr val="000000"/>
                </a:solidFill>
                <a:latin typeface="Inclusive Sans Bold"/>
                <a:ea typeface="Inclusive Sans Bold"/>
                <a:cs typeface="Inclusive Sans Bold"/>
                <a:sym typeface="Inclusive Sans Bold"/>
              </a:rPr>
              <a:t>Analisis Kasus (Algoritmhic Management) </a:t>
            </a:r>
          </a:p>
        </p:txBody>
      </p:sp>
      <p:sp>
        <p:nvSpPr>
          <p:cNvPr name="TextBox 17" id="17"/>
          <p:cNvSpPr txBox="true"/>
          <p:nvPr/>
        </p:nvSpPr>
        <p:spPr>
          <a:xfrm rot="0">
            <a:off x="1822377" y="2078273"/>
            <a:ext cx="14552349" cy="1042670"/>
          </a:xfrm>
          <a:prstGeom prst="rect">
            <a:avLst/>
          </a:prstGeom>
        </p:spPr>
        <p:txBody>
          <a:bodyPr anchor="t" rtlCol="false" tIns="0" lIns="0" bIns="0" rIns="0">
            <a:spAutoFit/>
          </a:bodyPr>
          <a:lstStyle/>
          <a:p>
            <a:pPr algn="ctr">
              <a:lnSpc>
                <a:spcPts val="8319"/>
              </a:lnSpc>
            </a:pPr>
            <a:r>
              <a:rPr lang="en-US" b="true" sz="6399" spc="63">
                <a:solidFill>
                  <a:srgbClr val="2D892C"/>
                </a:solidFill>
                <a:latin typeface="Inclusive Sans Bold"/>
                <a:ea typeface="Inclusive Sans Bold"/>
                <a:cs typeface="Inclusive Sans Bold"/>
                <a:sym typeface="Inclusive Sans Bold"/>
              </a:rPr>
              <a:t>Lensa Planet</a:t>
            </a:r>
          </a:p>
        </p:txBody>
      </p:sp>
      <p:sp>
        <p:nvSpPr>
          <p:cNvPr name="TextBox 18" id="18"/>
          <p:cNvSpPr txBox="true"/>
          <p:nvPr/>
        </p:nvSpPr>
        <p:spPr>
          <a:xfrm rot="0">
            <a:off x="2355043" y="3368593"/>
            <a:ext cx="5762163" cy="737235"/>
          </a:xfrm>
          <a:prstGeom prst="rect">
            <a:avLst/>
          </a:prstGeom>
        </p:spPr>
        <p:txBody>
          <a:bodyPr anchor="t" rtlCol="false" tIns="0" lIns="0" bIns="0" rIns="0">
            <a:spAutoFit/>
          </a:bodyPr>
          <a:lstStyle/>
          <a:p>
            <a:pPr algn="just">
              <a:lnSpc>
                <a:spcPts val="2939"/>
              </a:lnSpc>
              <a:spcBef>
                <a:spcPct val="0"/>
              </a:spcBef>
            </a:pPr>
            <a:r>
              <a:rPr lang="en-US" b="true" sz="2099">
                <a:solidFill>
                  <a:srgbClr val="000000"/>
                </a:solidFill>
                <a:latin typeface="Inclusive Sans Bold"/>
                <a:ea typeface="Inclusive Sans Bold"/>
                <a:cs typeface="Inclusive Sans Bold"/>
                <a:sym typeface="Inclusive Sans Bold"/>
              </a:rPr>
              <a:t>Fitur Go Green yang Kian Terasa Seperti Pencitraan</a:t>
            </a:r>
          </a:p>
        </p:txBody>
      </p:sp>
      <p:sp>
        <p:nvSpPr>
          <p:cNvPr name="TextBox 19" id="19"/>
          <p:cNvSpPr txBox="true"/>
          <p:nvPr/>
        </p:nvSpPr>
        <p:spPr>
          <a:xfrm rot="0">
            <a:off x="2355043" y="4260335"/>
            <a:ext cx="6285077" cy="2821305"/>
          </a:xfrm>
          <a:prstGeom prst="rect">
            <a:avLst/>
          </a:prstGeom>
        </p:spPr>
        <p:txBody>
          <a:bodyPr anchor="t" rtlCol="false" tIns="0" lIns="0" bIns="0" rIns="0">
            <a:spAutoFit/>
          </a:bodyPr>
          <a:lstStyle/>
          <a:p>
            <a:pPr algn="just">
              <a:lnSpc>
                <a:spcPts val="2520"/>
              </a:lnSpc>
              <a:spcBef>
                <a:spcPct val="0"/>
              </a:spcBef>
            </a:pPr>
            <a:r>
              <a:rPr lang="en-US" sz="1800">
                <a:solidFill>
                  <a:srgbClr val="000000"/>
                </a:solidFill>
                <a:latin typeface="Inclusive Sans"/>
                <a:ea typeface="Inclusive Sans"/>
                <a:cs typeface="Inclusive Sans"/>
                <a:sym typeface="Inclusive Sans"/>
              </a:rPr>
              <a:t>Pada aplikasi Gojek dan Grab, terdapat fitur donasi untuk penghijauan yg di klaim sudah berhasil menanam lebih dari 340.000 pohon. Kasus seorang driver yg tidak mempunyai jam kerja pasti dan masalah terhadap transparansi algoritma membuat fitur ini terasa seperti pencitraan saja, dikarenakan sebab dari adanya masalah  pada lensa-lenda sebelumnya membuat driver terus menerus bekerja tanpa adanya batasan yang berdampak terhadap peningkatan emisi karbon yang ada di bumi.</a:t>
            </a:r>
          </a:p>
        </p:txBody>
      </p:sp>
      <p:grpSp>
        <p:nvGrpSpPr>
          <p:cNvPr name="Group 20" id="20"/>
          <p:cNvGrpSpPr/>
          <p:nvPr/>
        </p:nvGrpSpPr>
        <p:grpSpPr>
          <a:xfrm rot="0">
            <a:off x="11236944" y="3406895"/>
            <a:ext cx="5246370" cy="5246370"/>
            <a:chOff x="0" y="0"/>
            <a:chExt cx="6350000" cy="6350000"/>
          </a:xfrm>
        </p:grpSpPr>
        <p:sp>
          <p:nvSpPr>
            <p:cNvPr name="Freeform 21" id="21"/>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9"/>
              <a:stretch>
                <a:fillRect l="-8168" t="0" r="-41895" b="0"/>
              </a:stretch>
            </a:blip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12888" t="0" r="-12888" b="0"/>
            </a:stretch>
          </a:blipFill>
        </p:spPr>
      </p:sp>
      <p:grpSp>
        <p:nvGrpSpPr>
          <p:cNvPr name="Group 3" id="3"/>
          <p:cNvGrpSpPr/>
          <p:nvPr/>
        </p:nvGrpSpPr>
        <p:grpSpPr>
          <a:xfrm rot="5400000">
            <a:off x="15521828" y="-1061985"/>
            <a:ext cx="1997154" cy="3888106"/>
            <a:chOff x="0" y="0"/>
            <a:chExt cx="585263" cy="1139404"/>
          </a:xfrm>
        </p:grpSpPr>
        <p:sp>
          <p:nvSpPr>
            <p:cNvPr name="Freeform 4" id="4"/>
            <p:cNvSpPr/>
            <p:nvPr/>
          </p:nvSpPr>
          <p:spPr>
            <a:xfrm flipH="false" flipV="false" rot="0">
              <a:off x="0" y="0"/>
              <a:ext cx="585263" cy="1139404"/>
            </a:xfrm>
            <a:custGeom>
              <a:avLst/>
              <a:gdLst/>
              <a:ahLst/>
              <a:cxnLst/>
              <a:rect r="r" b="b" t="t" l="l"/>
              <a:pathLst>
                <a:path h="1139404" w="585263">
                  <a:moveTo>
                    <a:pt x="195193" y="1120335"/>
                  </a:moveTo>
                  <a:cubicBezTo>
                    <a:pt x="225198" y="1131849"/>
                    <a:pt x="259310" y="1139404"/>
                    <a:pt x="292789" y="1139404"/>
                  </a:cubicBezTo>
                  <a:cubicBezTo>
                    <a:pt x="326269" y="1139404"/>
                    <a:pt x="358486" y="1132927"/>
                    <a:pt x="388175" y="1121413"/>
                  </a:cubicBezTo>
                  <a:cubicBezTo>
                    <a:pt x="388807" y="1121054"/>
                    <a:pt x="389438" y="1121054"/>
                    <a:pt x="390070" y="1120694"/>
                  </a:cubicBezTo>
                  <a:cubicBezTo>
                    <a:pt x="501564" y="1074639"/>
                    <a:pt x="583684" y="953025"/>
                    <a:pt x="585263" y="803647"/>
                  </a:cubicBezTo>
                  <a:lnTo>
                    <a:pt x="585263" y="0"/>
                  </a:lnTo>
                  <a:lnTo>
                    <a:pt x="0" y="0"/>
                  </a:lnTo>
                  <a:lnTo>
                    <a:pt x="0" y="803051"/>
                  </a:lnTo>
                  <a:cubicBezTo>
                    <a:pt x="1579" y="953744"/>
                    <a:pt x="82436" y="1075359"/>
                    <a:pt x="195193" y="1120335"/>
                  </a:cubicBezTo>
                  <a:close/>
                </a:path>
              </a:pathLst>
            </a:custGeom>
            <a:solidFill>
              <a:srgbClr val="153930"/>
            </a:solidFill>
          </p:spPr>
        </p:sp>
        <p:sp>
          <p:nvSpPr>
            <p:cNvPr name="TextBox 5" id="5"/>
            <p:cNvSpPr txBox="true"/>
            <p:nvPr/>
          </p:nvSpPr>
          <p:spPr>
            <a:xfrm>
              <a:off x="0" y="-47625"/>
              <a:ext cx="585263" cy="1060029"/>
            </a:xfrm>
            <a:prstGeom prst="rect">
              <a:avLst/>
            </a:prstGeom>
          </p:spPr>
          <p:txBody>
            <a:bodyPr anchor="ctr" rtlCol="false" tIns="21673" lIns="21673" bIns="21673" rIns="21673"/>
            <a:lstStyle/>
            <a:p>
              <a:pPr algn="ctr">
                <a:lnSpc>
                  <a:spcPts val="2940"/>
                </a:lnSpc>
              </a:pPr>
            </a:p>
          </p:txBody>
        </p:sp>
      </p:grpSp>
      <p:grpSp>
        <p:nvGrpSpPr>
          <p:cNvPr name="Group 6" id="6"/>
          <p:cNvGrpSpPr/>
          <p:nvPr/>
        </p:nvGrpSpPr>
        <p:grpSpPr>
          <a:xfrm rot="5400000">
            <a:off x="15226714" y="-906701"/>
            <a:ext cx="1580383" cy="158038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892C"/>
            </a:solidFill>
          </p:spPr>
        </p:sp>
        <p:sp>
          <p:nvSpPr>
            <p:cNvPr name="TextBox 8" id="8"/>
            <p:cNvSpPr txBox="true"/>
            <p:nvPr/>
          </p:nvSpPr>
          <p:spPr>
            <a:xfrm>
              <a:off x="76200" y="19050"/>
              <a:ext cx="660400" cy="717550"/>
            </a:xfrm>
            <a:prstGeom prst="rect">
              <a:avLst/>
            </a:prstGeom>
          </p:spPr>
          <p:txBody>
            <a:bodyPr anchor="ctr" rtlCol="false" tIns="21673" lIns="21673" bIns="21673" rIns="21673"/>
            <a:lstStyle/>
            <a:p>
              <a:pPr algn="ctr">
                <a:lnSpc>
                  <a:spcPts val="3359"/>
                </a:lnSpc>
              </a:pPr>
            </a:p>
          </p:txBody>
        </p:sp>
      </p:grpSp>
      <p:grpSp>
        <p:nvGrpSpPr>
          <p:cNvPr name="Group 9" id="9"/>
          <p:cNvGrpSpPr/>
          <p:nvPr/>
        </p:nvGrpSpPr>
        <p:grpSpPr>
          <a:xfrm rot="5400000">
            <a:off x="17040803" y="88068"/>
            <a:ext cx="1268266" cy="3168383"/>
            <a:chOff x="0" y="0"/>
            <a:chExt cx="456090" cy="1139404"/>
          </a:xfrm>
        </p:grpSpPr>
        <p:sp>
          <p:nvSpPr>
            <p:cNvPr name="Freeform 10" id="10"/>
            <p:cNvSpPr/>
            <p:nvPr/>
          </p:nvSpPr>
          <p:spPr>
            <a:xfrm flipH="false" flipV="false" rot="0">
              <a:off x="0" y="0"/>
              <a:ext cx="456090" cy="1139404"/>
            </a:xfrm>
            <a:custGeom>
              <a:avLst/>
              <a:gdLst/>
              <a:ahLst/>
              <a:cxnLst/>
              <a:rect r="r" b="b" t="t" l="l"/>
              <a:pathLst>
                <a:path h="1139404" w="456090">
                  <a:moveTo>
                    <a:pt x="152112" y="1120335"/>
                  </a:moveTo>
                  <a:cubicBezTo>
                    <a:pt x="175495" y="1131849"/>
                    <a:pt x="202078" y="1139404"/>
                    <a:pt x="228168" y="1139404"/>
                  </a:cubicBezTo>
                  <a:cubicBezTo>
                    <a:pt x="254259" y="1139404"/>
                    <a:pt x="279365" y="1132927"/>
                    <a:pt x="302501" y="1121413"/>
                  </a:cubicBezTo>
                  <a:cubicBezTo>
                    <a:pt x="302994" y="1121054"/>
                    <a:pt x="303486" y="1121054"/>
                    <a:pt x="303978" y="1120694"/>
                  </a:cubicBezTo>
                  <a:cubicBezTo>
                    <a:pt x="390864" y="1074639"/>
                    <a:pt x="454859" y="953025"/>
                    <a:pt x="456090" y="803647"/>
                  </a:cubicBezTo>
                  <a:lnTo>
                    <a:pt x="456090" y="0"/>
                  </a:lnTo>
                  <a:lnTo>
                    <a:pt x="0" y="0"/>
                  </a:lnTo>
                  <a:lnTo>
                    <a:pt x="0" y="803051"/>
                  </a:lnTo>
                  <a:cubicBezTo>
                    <a:pt x="1231" y="953744"/>
                    <a:pt x="64241" y="1075359"/>
                    <a:pt x="152112" y="1120335"/>
                  </a:cubicBezTo>
                  <a:close/>
                </a:path>
              </a:pathLst>
            </a:custGeom>
            <a:solidFill>
              <a:srgbClr val="2D892C">
                <a:alpha val="83922"/>
              </a:srgbClr>
            </a:solidFill>
          </p:spPr>
        </p:sp>
        <p:sp>
          <p:nvSpPr>
            <p:cNvPr name="TextBox 11" id="11"/>
            <p:cNvSpPr txBox="true"/>
            <p:nvPr/>
          </p:nvSpPr>
          <p:spPr>
            <a:xfrm>
              <a:off x="0" y="-47625"/>
              <a:ext cx="456090" cy="1060029"/>
            </a:xfrm>
            <a:prstGeom prst="rect">
              <a:avLst/>
            </a:prstGeom>
          </p:spPr>
          <p:txBody>
            <a:bodyPr anchor="ctr" rtlCol="false" tIns="21673" lIns="21673" bIns="21673" rIns="21673"/>
            <a:lstStyle/>
            <a:p>
              <a:pPr algn="ctr">
                <a:lnSpc>
                  <a:spcPts val="2940"/>
                </a:lnSpc>
              </a:pPr>
            </a:p>
          </p:txBody>
        </p:sp>
      </p:grpSp>
      <p:sp>
        <p:nvSpPr>
          <p:cNvPr name="Freeform 12" id="12"/>
          <p:cNvSpPr/>
          <p:nvPr/>
        </p:nvSpPr>
        <p:spPr>
          <a:xfrm flipH="false" flipV="false" rot="0">
            <a:off x="15815031" y="7666502"/>
            <a:ext cx="3802624" cy="3802624"/>
          </a:xfrm>
          <a:custGeom>
            <a:avLst/>
            <a:gdLst/>
            <a:ahLst/>
            <a:cxnLst/>
            <a:rect r="r" b="b" t="t" l="l"/>
            <a:pathLst>
              <a:path h="3802624" w="3802624">
                <a:moveTo>
                  <a:pt x="0" y="0"/>
                </a:moveTo>
                <a:lnTo>
                  <a:pt x="3802624" y="0"/>
                </a:lnTo>
                <a:lnTo>
                  <a:pt x="3802624" y="3802624"/>
                </a:lnTo>
                <a:lnTo>
                  <a:pt x="0" y="38026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1356862" y="8815108"/>
            <a:ext cx="2713724" cy="2713724"/>
          </a:xfrm>
          <a:custGeom>
            <a:avLst/>
            <a:gdLst/>
            <a:ahLst/>
            <a:cxnLst/>
            <a:rect r="r" b="b" t="t" l="l"/>
            <a:pathLst>
              <a:path h="2713724" w="2713724">
                <a:moveTo>
                  <a:pt x="0" y="0"/>
                </a:moveTo>
                <a:lnTo>
                  <a:pt x="2713724" y="0"/>
                </a:lnTo>
                <a:lnTo>
                  <a:pt x="2713724" y="2713724"/>
                </a:lnTo>
                <a:lnTo>
                  <a:pt x="0" y="2713724"/>
                </a:lnTo>
                <a:lnTo>
                  <a:pt x="0" y="0"/>
                </a:lnTo>
                <a:close/>
              </a:path>
            </a:pathLst>
          </a:custGeom>
          <a:blipFill>
            <a:blip r:embed="rId5">
              <a:alphaModFix amt="6000"/>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10800000">
            <a:off x="-1543050" y="-436397"/>
            <a:ext cx="3086100" cy="3086100"/>
          </a:xfrm>
          <a:custGeom>
            <a:avLst/>
            <a:gdLst/>
            <a:ahLst/>
            <a:cxnLst/>
            <a:rect r="r" b="b" t="t" l="l"/>
            <a:pathLst>
              <a:path h="3086100" w="3086100">
                <a:moveTo>
                  <a:pt x="0" y="0"/>
                </a:moveTo>
                <a:lnTo>
                  <a:pt x="3086100" y="0"/>
                </a:lnTo>
                <a:lnTo>
                  <a:pt x="3086100" y="3086100"/>
                </a:lnTo>
                <a:lnTo>
                  <a:pt x="0" y="30861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5" id="15"/>
          <p:cNvGrpSpPr/>
          <p:nvPr/>
        </p:nvGrpSpPr>
        <p:grpSpPr>
          <a:xfrm rot="0">
            <a:off x="1466528" y="4084242"/>
            <a:ext cx="15264048" cy="1589801"/>
            <a:chOff x="0" y="0"/>
            <a:chExt cx="20352064" cy="2119734"/>
          </a:xfrm>
        </p:grpSpPr>
        <p:sp>
          <p:nvSpPr>
            <p:cNvPr name="Freeform 16" id="16"/>
            <p:cNvSpPr/>
            <p:nvPr/>
          </p:nvSpPr>
          <p:spPr>
            <a:xfrm flipH="false" flipV="false" rot="0">
              <a:off x="0" y="0"/>
              <a:ext cx="933396" cy="933396"/>
            </a:xfrm>
            <a:custGeom>
              <a:avLst/>
              <a:gdLst/>
              <a:ahLst/>
              <a:cxnLst/>
              <a:rect r="r" b="b" t="t" l="l"/>
              <a:pathLst>
                <a:path h="933396" w="933396">
                  <a:moveTo>
                    <a:pt x="0" y="0"/>
                  </a:moveTo>
                  <a:lnTo>
                    <a:pt x="933396" y="0"/>
                  </a:lnTo>
                  <a:lnTo>
                    <a:pt x="933396" y="933396"/>
                  </a:lnTo>
                  <a:lnTo>
                    <a:pt x="0" y="93339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7" id="17"/>
            <p:cNvSpPr txBox="true"/>
            <p:nvPr/>
          </p:nvSpPr>
          <p:spPr>
            <a:xfrm rot="0">
              <a:off x="1441908" y="-57150"/>
              <a:ext cx="14719749" cy="534670"/>
            </a:xfrm>
            <a:prstGeom prst="rect">
              <a:avLst/>
            </a:prstGeom>
          </p:spPr>
          <p:txBody>
            <a:bodyPr anchor="t" rtlCol="false" tIns="0" lIns="0" bIns="0" rIns="0">
              <a:spAutoFit/>
            </a:bodyPr>
            <a:lstStyle/>
            <a:p>
              <a:pPr algn="l">
                <a:lnSpc>
                  <a:spcPts val="3359"/>
                </a:lnSpc>
                <a:spcBef>
                  <a:spcPct val="0"/>
                </a:spcBef>
              </a:pPr>
              <a:r>
                <a:rPr lang="en-US" b="true" sz="2400" spc="24">
                  <a:solidFill>
                    <a:srgbClr val="000000"/>
                  </a:solidFill>
                  <a:latin typeface="Inclusive Sans Bold"/>
                  <a:ea typeface="Inclusive Sans Bold"/>
                  <a:cs typeface="Inclusive Sans Bold"/>
                  <a:sym typeface="Inclusive Sans Bold"/>
                </a:rPr>
                <a:t>Kasus Ordera</a:t>
              </a:r>
              <a:r>
                <a:rPr lang="en-US" b="true" sz="2400" spc="24">
                  <a:solidFill>
                    <a:srgbClr val="000000"/>
                  </a:solidFill>
                  <a:latin typeface="Inclusive Sans Bold"/>
                  <a:ea typeface="Inclusive Sans Bold"/>
                  <a:cs typeface="Inclusive Sans Bold"/>
                  <a:sym typeface="Inclusive Sans Bold"/>
                </a:rPr>
                <a:t>n Fiktif dan Kegagalan Mitigasi Kerugian (Analisis ACM):</a:t>
              </a:r>
            </a:p>
          </p:txBody>
        </p:sp>
        <p:sp>
          <p:nvSpPr>
            <p:cNvPr name="TextBox 18" id="18"/>
            <p:cNvSpPr txBox="true"/>
            <p:nvPr/>
          </p:nvSpPr>
          <p:spPr>
            <a:xfrm rot="0">
              <a:off x="1441908" y="657329"/>
              <a:ext cx="18910156" cy="1462405"/>
            </a:xfrm>
            <a:prstGeom prst="rect">
              <a:avLst/>
            </a:prstGeom>
          </p:spPr>
          <p:txBody>
            <a:bodyPr anchor="t" rtlCol="false" tIns="0" lIns="0" bIns="0" rIns="0">
              <a:spAutoFit/>
            </a:bodyPr>
            <a:lstStyle/>
            <a:p>
              <a:pPr algn="l">
                <a:lnSpc>
                  <a:spcPts val="2940"/>
                </a:lnSpc>
              </a:pPr>
              <a:r>
                <a:rPr lang="en-US" sz="2100">
                  <a:solidFill>
                    <a:srgbClr val="545454"/>
                  </a:solidFill>
                  <a:latin typeface="Inclusive Sans"/>
                  <a:ea typeface="Inclusive Sans"/>
                  <a:cs typeface="Inclusive Sans"/>
                  <a:sym typeface="Inclusive Sans"/>
                </a:rPr>
                <a:t>Algoritma dapat memutus mitra secara otomatis akibat penipuan pihak ketiga seperti orderan fiktif. Hal ini menunjukkan sistem gagal melindungi mitra dan melanggar prinsip etis untuk menghindari kerugian pengguna.</a:t>
              </a:r>
            </a:p>
          </p:txBody>
        </p:sp>
      </p:grpSp>
      <p:grpSp>
        <p:nvGrpSpPr>
          <p:cNvPr name="Group 19" id="19"/>
          <p:cNvGrpSpPr/>
          <p:nvPr/>
        </p:nvGrpSpPr>
        <p:grpSpPr>
          <a:xfrm rot="0">
            <a:off x="1488363" y="6295660"/>
            <a:ext cx="15220377" cy="1190625"/>
            <a:chOff x="0" y="0"/>
            <a:chExt cx="20293836" cy="1587500"/>
          </a:xfrm>
        </p:grpSpPr>
        <p:sp>
          <p:nvSpPr>
            <p:cNvPr name="Freeform 20" id="20"/>
            <p:cNvSpPr/>
            <p:nvPr/>
          </p:nvSpPr>
          <p:spPr>
            <a:xfrm flipH="false" flipV="false" rot="0">
              <a:off x="0" y="0"/>
              <a:ext cx="933396" cy="933396"/>
            </a:xfrm>
            <a:custGeom>
              <a:avLst/>
              <a:gdLst/>
              <a:ahLst/>
              <a:cxnLst/>
              <a:rect r="r" b="b" t="t" l="l"/>
              <a:pathLst>
                <a:path h="933396" w="933396">
                  <a:moveTo>
                    <a:pt x="0" y="0"/>
                  </a:moveTo>
                  <a:lnTo>
                    <a:pt x="933396" y="0"/>
                  </a:lnTo>
                  <a:lnTo>
                    <a:pt x="933396" y="933396"/>
                  </a:lnTo>
                  <a:lnTo>
                    <a:pt x="0" y="93339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1" id="21"/>
            <p:cNvSpPr txBox="true"/>
            <p:nvPr/>
          </p:nvSpPr>
          <p:spPr>
            <a:xfrm rot="0">
              <a:off x="1383680" y="-57150"/>
              <a:ext cx="15306344" cy="534670"/>
            </a:xfrm>
            <a:prstGeom prst="rect">
              <a:avLst/>
            </a:prstGeom>
          </p:spPr>
          <p:txBody>
            <a:bodyPr anchor="t" rtlCol="false" tIns="0" lIns="0" bIns="0" rIns="0">
              <a:spAutoFit/>
            </a:bodyPr>
            <a:lstStyle/>
            <a:p>
              <a:pPr algn="l">
                <a:lnSpc>
                  <a:spcPts val="3359"/>
                </a:lnSpc>
                <a:spcBef>
                  <a:spcPct val="0"/>
                </a:spcBef>
              </a:pPr>
              <a:r>
                <a:rPr lang="en-US" b="true" sz="2400" spc="24">
                  <a:solidFill>
                    <a:srgbClr val="000000"/>
                  </a:solidFill>
                  <a:latin typeface="Inclusive Sans Bold"/>
                  <a:ea typeface="Inclusive Sans Bold"/>
                  <a:cs typeface="Inclusive Sans Bold"/>
                  <a:sym typeface="Inclusive Sans Bold"/>
                </a:rPr>
                <a:t>Asimetri Informasi dan Tanggung Jawab Kesejahteraan (Analisis IEEE):</a:t>
              </a:r>
            </a:p>
          </p:txBody>
        </p:sp>
        <p:sp>
          <p:nvSpPr>
            <p:cNvPr name="TextBox 22" id="22"/>
            <p:cNvSpPr txBox="true"/>
            <p:nvPr/>
          </p:nvSpPr>
          <p:spPr>
            <a:xfrm rot="0">
              <a:off x="1383680" y="620395"/>
              <a:ext cx="18910156" cy="967105"/>
            </a:xfrm>
            <a:prstGeom prst="rect">
              <a:avLst/>
            </a:prstGeom>
          </p:spPr>
          <p:txBody>
            <a:bodyPr anchor="t" rtlCol="false" tIns="0" lIns="0" bIns="0" rIns="0">
              <a:spAutoFit/>
            </a:bodyPr>
            <a:lstStyle/>
            <a:p>
              <a:pPr algn="l">
                <a:lnSpc>
                  <a:spcPts val="2940"/>
                </a:lnSpc>
              </a:pPr>
              <a:r>
                <a:rPr lang="en-US" sz="2100">
                  <a:solidFill>
                    <a:srgbClr val="545454"/>
                  </a:solidFill>
                  <a:latin typeface="Inclusive Sans"/>
                  <a:ea typeface="Inclusive Sans"/>
                  <a:cs typeface="Inclusive Sans"/>
                  <a:sym typeface="Inclusive Sans"/>
                </a:rPr>
                <a:t>Dynamic pricing yang tidak transparan menciptakan ketimpangan informasi dan lebih menguntungkan platform, sehingga mitra tidak mendapatkan kepastian ekonomi.</a:t>
              </a:r>
            </a:p>
          </p:txBody>
        </p:sp>
      </p:grpSp>
      <p:grpSp>
        <p:nvGrpSpPr>
          <p:cNvPr name="Group 23" id="23"/>
          <p:cNvGrpSpPr/>
          <p:nvPr/>
        </p:nvGrpSpPr>
        <p:grpSpPr>
          <a:xfrm rot="0">
            <a:off x="1466528" y="8107902"/>
            <a:ext cx="13366993" cy="1150398"/>
            <a:chOff x="0" y="0"/>
            <a:chExt cx="17822657" cy="1533864"/>
          </a:xfrm>
        </p:grpSpPr>
        <p:sp>
          <p:nvSpPr>
            <p:cNvPr name="Freeform 24" id="24"/>
            <p:cNvSpPr/>
            <p:nvPr/>
          </p:nvSpPr>
          <p:spPr>
            <a:xfrm flipH="false" flipV="false" rot="0">
              <a:off x="0" y="0"/>
              <a:ext cx="933396" cy="933396"/>
            </a:xfrm>
            <a:custGeom>
              <a:avLst/>
              <a:gdLst/>
              <a:ahLst/>
              <a:cxnLst/>
              <a:rect r="r" b="b" t="t" l="l"/>
              <a:pathLst>
                <a:path h="933396" w="933396">
                  <a:moveTo>
                    <a:pt x="0" y="0"/>
                  </a:moveTo>
                  <a:lnTo>
                    <a:pt x="933396" y="0"/>
                  </a:lnTo>
                  <a:lnTo>
                    <a:pt x="933396" y="933396"/>
                  </a:lnTo>
                  <a:lnTo>
                    <a:pt x="0" y="93339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25" id="25"/>
            <p:cNvSpPr txBox="true"/>
            <p:nvPr/>
          </p:nvSpPr>
          <p:spPr>
            <a:xfrm rot="0">
              <a:off x="1441908" y="-57150"/>
              <a:ext cx="5755810" cy="534670"/>
            </a:xfrm>
            <a:prstGeom prst="rect">
              <a:avLst/>
            </a:prstGeom>
          </p:spPr>
          <p:txBody>
            <a:bodyPr anchor="t" rtlCol="false" tIns="0" lIns="0" bIns="0" rIns="0">
              <a:spAutoFit/>
            </a:bodyPr>
            <a:lstStyle/>
            <a:p>
              <a:pPr algn="l">
                <a:lnSpc>
                  <a:spcPts val="3359"/>
                </a:lnSpc>
                <a:spcBef>
                  <a:spcPct val="0"/>
                </a:spcBef>
              </a:pPr>
              <a:r>
                <a:rPr lang="en-US" b="true" sz="2400" spc="24">
                  <a:solidFill>
                    <a:srgbClr val="000000"/>
                  </a:solidFill>
                  <a:latin typeface="Inclusive Sans Bold"/>
                  <a:ea typeface="Inclusive Sans Bold"/>
                  <a:cs typeface="Inclusive Sans Bold"/>
                  <a:sym typeface="Inclusive Sans Bold"/>
                </a:rPr>
                <a:t>Solar Energy Development</a:t>
              </a:r>
            </a:p>
          </p:txBody>
        </p:sp>
        <p:sp>
          <p:nvSpPr>
            <p:cNvPr name="TextBox 26" id="26"/>
            <p:cNvSpPr txBox="true"/>
            <p:nvPr/>
          </p:nvSpPr>
          <p:spPr>
            <a:xfrm rot="0">
              <a:off x="1441908" y="566759"/>
              <a:ext cx="16380749" cy="967105"/>
            </a:xfrm>
            <a:prstGeom prst="rect">
              <a:avLst/>
            </a:prstGeom>
          </p:spPr>
          <p:txBody>
            <a:bodyPr anchor="t" rtlCol="false" tIns="0" lIns="0" bIns="0" rIns="0">
              <a:spAutoFit/>
            </a:bodyPr>
            <a:lstStyle/>
            <a:p>
              <a:pPr algn="l">
                <a:lnSpc>
                  <a:spcPts val="2940"/>
                </a:lnSpc>
              </a:pPr>
              <a:r>
                <a:rPr lang="en-US" sz="2100">
                  <a:solidFill>
                    <a:srgbClr val="737373"/>
                  </a:solidFill>
                  <a:latin typeface="Inclusive Sans"/>
                  <a:ea typeface="Inclusive Sans"/>
                  <a:cs typeface="Inclusive Sans"/>
                  <a:sym typeface="Inclusive Sans"/>
                </a:rPr>
                <a:t>Mitra terlihat fleksibel, tetapi tetap terikat target algoritma. Hal ini menunjukkan kurangnya perlindungan kerja dan mengabaikan kesejahteraan mitra.</a:t>
              </a:r>
            </a:p>
          </p:txBody>
        </p:sp>
      </p:grpSp>
      <p:sp>
        <p:nvSpPr>
          <p:cNvPr name="TextBox 27" id="27"/>
          <p:cNvSpPr txBox="true"/>
          <p:nvPr/>
        </p:nvSpPr>
        <p:spPr>
          <a:xfrm rot="0">
            <a:off x="1543050" y="3144232"/>
            <a:ext cx="15264048" cy="737235"/>
          </a:xfrm>
          <a:prstGeom prst="rect">
            <a:avLst/>
          </a:prstGeom>
        </p:spPr>
        <p:txBody>
          <a:bodyPr anchor="t" rtlCol="false" tIns="0" lIns="0" bIns="0" rIns="0">
            <a:spAutoFit/>
          </a:bodyPr>
          <a:lstStyle/>
          <a:p>
            <a:pPr algn="l">
              <a:lnSpc>
                <a:spcPts val="2940"/>
              </a:lnSpc>
            </a:pPr>
            <a:r>
              <a:rPr lang="en-US" sz="2100">
                <a:solidFill>
                  <a:srgbClr val="545454"/>
                </a:solidFill>
                <a:latin typeface="Inclusive Sans"/>
                <a:ea typeface="Inclusive Sans"/>
                <a:cs typeface="Inclusive Sans"/>
                <a:sym typeface="Inclusive Sans"/>
              </a:rPr>
              <a:t>Analisis terhadap manajemen algoritmik menggunakan standar etika ACM dan IEEE untuk mengevaluasi tanggung jawab sistem terhadap mitra pengemudi:</a:t>
            </a:r>
          </a:p>
        </p:txBody>
      </p:sp>
      <p:sp>
        <p:nvSpPr>
          <p:cNvPr name="TextBox 28" id="28"/>
          <p:cNvSpPr txBox="true"/>
          <p:nvPr/>
        </p:nvSpPr>
        <p:spPr>
          <a:xfrm rot="0">
            <a:off x="6042660" y="1172884"/>
            <a:ext cx="6202680" cy="688975"/>
          </a:xfrm>
          <a:prstGeom prst="rect">
            <a:avLst/>
          </a:prstGeom>
        </p:spPr>
        <p:txBody>
          <a:bodyPr anchor="t" rtlCol="false" tIns="0" lIns="0" bIns="0" rIns="0">
            <a:spAutoFit/>
          </a:bodyPr>
          <a:lstStyle/>
          <a:p>
            <a:pPr algn="ctr">
              <a:lnSpc>
                <a:spcPts val="5599"/>
              </a:lnSpc>
              <a:spcBef>
                <a:spcPct val="0"/>
              </a:spcBef>
            </a:pPr>
            <a:r>
              <a:rPr lang="en-US" b="true" sz="3999" u="sng">
                <a:solidFill>
                  <a:srgbClr val="000000"/>
                </a:solidFill>
                <a:latin typeface="Inclusive Sans Bold"/>
                <a:ea typeface="Inclusive Sans Bold"/>
                <a:cs typeface="Inclusive Sans Bold"/>
                <a:sym typeface="Inclusive Sans Bold"/>
              </a:rPr>
              <a:t>Pembahasan dan Solusi </a:t>
            </a:r>
          </a:p>
        </p:txBody>
      </p:sp>
      <p:sp>
        <p:nvSpPr>
          <p:cNvPr name="TextBox 29" id="29"/>
          <p:cNvSpPr txBox="true"/>
          <p:nvPr/>
        </p:nvSpPr>
        <p:spPr>
          <a:xfrm rot="0">
            <a:off x="1822377" y="2078273"/>
            <a:ext cx="14552349" cy="1042670"/>
          </a:xfrm>
          <a:prstGeom prst="rect">
            <a:avLst/>
          </a:prstGeom>
        </p:spPr>
        <p:txBody>
          <a:bodyPr anchor="t" rtlCol="false" tIns="0" lIns="0" bIns="0" rIns="0">
            <a:spAutoFit/>
          </a:bodyPr>
          <a:lstStyle/>
          <a:p>
            <a:pPr algn="ctr">
              <a:lnSpc>
                <a:spcPts val="8319"/>
              </a:lnSpc>
            </a:pPr>
            <a:r>
              <a:rPr lang="en-US" b="true" sz="6399" spc="63">
                <a:solidFill>
                  <a:srgbClr val="2D892C"/>
                </a:solidFill>
                <a:latin typeface="Inclusive Sans Bold"/>
                <a:ea typeface="Inclusive Sans Bold"/>
                <a:cs typeface="Inclusive Sans Bold"/>
                <a:sym typeface="Inclusive Sans Bold"/>
              </a:rPr>
              <a:t>Dampak Etis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12888" t="0" r="-12888" b="0"/>
            </a:stretch>
          </a:blipFill>
        </p:spPr>
      </p:sp>
      <p:sp>
        <p:nvSpPr>
          <p:cNvPr name="Freeform 3" id="3"/>
          <p:cNvSpPr/>
          <p:nvPr/>
        </p:nvSpPr>
        <p:spPr>
          <a:xfrm flipH="false" flipV="false" rot="0">
            <a:off x="1356862" y="4123650"/>
            <a:ext cx="700047" cy="700047"/>
          </a:xfrm>
          <a:custGeom>
            <a:avLst/>
            <a:gdLst/>
            <a:ahLst/>
            <a:cxnLst/>
            <a:rect r="r" b="b" t="t" l="l"/>
            <a:pathLst>
              <a:path h="700047" w="700047">
                <a:moveTo>
                  <a:pt x="0" y="0"/>
                </a:moveTo>
                <a:lnTo>
                  <a:pt x="700047" y="0"/>
                </a:lnTo>
                <a:lnTo>
                  <a:pt x="700047" y="700047"/>
                </a:lnTo>
                <a:lnTo>
                  <a:pt x="0" y="70004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56862" y="6288374"/>
            <a:ext cx="700047" cy="700047"/>
          </a:xfrm>
          <a:custGeom>
            <a:avLst/>
            <a:gdLst/>
            <a:ahLst/>
            <a:cxnLst/>
            <a:rect r="r" b="b" t="t" l="l"/>
            <a:pathLst>
              <a:path h="700047" w="700047">
                <a:moveTo>
                  <a:pt x="0" y="0"/>
                </a:moveTo>
                <a:lnTo>
                  <a:pt x="700047" y="0"/>
                </a:lnTo>
                <a:lnTo>
                  <a:pt x="700047" y="700048"/>
                </a:lnTo>
                <a:lnTo>
                  <a:pt x="0" y="70004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5400000">
            <a:off x="15521828" y="-1061985"/>
            <a:ext cx="1997154" cy="3888106"/>
            <a:chOff x="0" y="0"/>
            <a:chExt cx="585263" cy="1139404"/>
          </a:xfrm>
        </p:grpSpPr>
        <p:sp>
          <p:nvSpPr>
            <p:cNvPr name="Freeform 6" id="6"/>
            <p:cNvSpPr/>
            <p:nvPr/>
          </p:nvSpPr>
          <p:spPr>
            <a:xfrm flipH="false" flipV="false" rot="0">
              <a:off x="0" y="0"/>
              <a:ext cx="585263" cy="1139404"/>
            </a:xfrm>
            <a:custGeom>
              <a:avLst/>
              <a:gdLst/>
              <a:ahLst/>
              <a:cxnLst/>
              <a:rect r="r" b="b" t="t" l="l"/>
              <a:pathLst>
                <a:path h="1139404" w="585263">
                  <a:moveTo>
                    <a:pt x="195193" y="1120335"/>
                  </a:moveTo>
                  <a:cubicBezTo>
                    <a:pt x="225198" y="1131849"/>
                    <a:pt x="259310" y="1139404"/>
                    <a:pt x="292789" y="1139404"/>
                  </a:cubicBezTo>
                  <a:cubicBezTo>
                    <a:pt x="326269" y="1139404"/>
                    <a:pt x="358486" y="1132927"/>
                    <a:pt x="388175" y="1121413"/>
                  </a:cubicBezTo>
                  <a:cubicBezTo>
                    <a:pt x="388807" y="1121054"/>
                    <a:pt x="389438" y="1121054"/>
                    <a:pt x="390070" y="1120694"/>
                  </a:cubicBezTo>
                  <a:cubicBezTo>
                    <a:pt x="501564" y="1074639"/>
                    <a:pt x="583684" y="953025"/>
                    <a:pt x="585263" y="803647"/>
                  </a:cubicBezTo>
                  <a:lnTo>
                    <a:pt x="585263" y="0"/>
                  </a:lnTo>
                  <a:lnTo>
                    <a:pt x="0" y="0"/>
                  </a:lnTo>
                  <a:lnTo>
                    <a:pt x="0" y="803051"/>
                  </a:lnTo>
                  <a:cubicBezTo>
                    <a:pt x="1579" y="953744"/>
                    <a:pt x="82436" y="1075359"/>
                    <a:pt x="195193" y="1120335"/>
                  </a:cubicBezTo>
                  <a:close/>
                </a:path>
              </a:pathLst>
            </a:custGeom>
            <a:solidFill>
              <a:srgbClr val="153930"/>
            </a:solidFill>
          </p:spPr>
        </p:sp>
        <p:sp>
          <p:nvSpPr>
            <p:cNvPr name="TextBox 7" id="7"/>
            <p:cNvSpPr txBox="true"/>
            <p:nvPr/>
          </p:nvSpPr>
          <p:spPr>
            <a:xfrm>
              <a:off x="0" y="-47625"/>
              <a:ext cx="585263" cy="1060029"/>
            </a:xfrm>
            <a:prstGeom prst="rect">
              <a:avLst/>
            </a:prstGeom>
          </p:spPr>
          <p:txBody>
            <a:bodyPr anchor="ctr" rtlCol="false" tIns="21673" lIns="21673" bIns="21673" rIns="21673"/>
            <a:lstStyle/>
            <a:p>
              <a:pPr algn="ctr">
                <a:lnSpc>
                  <a:spcPts val="2940"/>
                </a:lnSpc>
              </a:pPr>
            </a:p>
          </p:txBody>
        </p:sp>
      </p:grpSp>
      <p:grpSp>
        <p:nvGrpSpPr>
          <p:cNvPr name="Group 8" id="8"/>
          <p:cNvGrpSpPr/>
          <p:nvPr/>
        </p:nvGrpSpPr>
        <p:grpSpPr>
          <a:xfrm rot="5400000">
            <a:off x="15226714" y="-906701"/>
            <a:ext cx="1580383" cy="158038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892C"/>
            </a:solidFill>
          </p:spPr>
        </p:sp>
        <p:sp>
          <p:nvSpPr>
            <p:cNvPr name="TextBox 10" id="10"/>
            <p:cNvSpPr txBox="true"/>
            <p:nvPr/>
          </p:nvSpPr>
          <p:spPr>
            <a:xfrm>
              <a:off x="76200" y="19050"/>
              <a:ext cx="660400" cy="717550"/>
            </a:xfrm>
            <a:prstGeom prst="rect">
              <a:avLst/>
            </a:prstGeom>
          </p:spPr>
          <p:txBody>
            <a:bodyPr anchor="ctr" rtlCol="false" tIns="21673" lIns="21673" bIns="21673" rIns="21673"/>
            <a:lstStyle/>
            <a:p>
              <a:pPr algn="ctr">
                <a:lnSpc>
                  <a:spcPts val="3359"/>
                </a:lnSpc>
              </a:pPr>
            </a:p>
          </p:txBody>
        </p:sp>
      </p:grpSp>
      <p:grpSp>
        <p:nvGrpSpPr>
          <p:cNvPr name="Group 11" id="11"/>
          <p:cNvGrpSpPr/>
          <p:nvPr/>
        </p:nvGrpSpPr>
        <p:grpSpPr>
          <a:xfrm rot="5400000">
            <a:off x="17040803" y="88068"/>
            <a:ext cx="1268266" cy="3168383"/>
            <a:chOff x="0" y="0"/>
            <a:chExt cx="456090" cy="1139404"/>
          </a:xfrm>
        </p:grpSpPr>
        <p:sp>
          <p:nvSpPr>
            <p:cNvPr name="Freeform 12" id="12"/>
            <p:cNvSpPr/>
            <p:nvPr/>
          </p:nvSpPr>
          <p:spPr>
            <a:xfrm flipH="false" flipV="false" rot="0">
              <a:off x="0" y="0"/>
              <a:ext cx="456090" cy="1139404"/>
            </a:xfrm>
            <a:custGeom>
              <a:avLst/>
              <a:gdLst/>
              <a:ahLst/>
              <a:cxnLst/>
              <a:rect r="r" b="b" t="t" l="l"/>
              <a:pathLst>
                <a:path h="1139404" w="456090">
                  <a:moveTo>
                    <a:pt x="152112" y="1120335"/>
                  </a:moveTo>
                  <a:cubicBezTo>
                    <a:pt x="175495" y="1131849"/>
                    <a:pt x="202078" y="1139404"/>
                    <a:pt x="228168" y="1139404"/>
                  </a:cubicBezTo>
                  <a:cubicBezTo>
                    <a:pt x="254259" y="1139404"/>
                    <a:pt x="279365" y="1132927"/>
                    <a:pt x="302501" y="1121413"/>
                  </a:cubicBezTo>
                  <a:cubicBezTo>
                    <a:pt x="302994" y="1121054"/>
                    <a:pt x="303486" y="1121054"/>
                    <a:pt x="303978" y="1120694"/>
                  </a:cubicBezTo>
                  <a:cubicBezTo>
                    <a:pt x="390864" y="1074639"/>
                    <a:pt x="454859" y="953025"/>
                    <a:pt x="456090" y="803647"/>
                  </a:cubicBezTo>
                  <a:lnTo>
                    <a:pt x="456090" y="0"/>
                  </a:lnTo>
                  <a:lnTo>
                    <a:pt x="0" y="0"/>
                  </a:lnTo>
                  <a:lnTo>
                    <a:pt x="0" y="803051"/>
                  </a:lnTo>
                  <a:cubicBezTo>
                    <a:pt x="1231" y="953744"/>
                    <a:pt x="64241" y="1075359"/>
                    <a:pt x="152112" y="1120335"/>
                  </a:cubicBezTo>
                  <a:close/>
                </a:path>
              </a:pathLst>
            </a:custGeom>
            <a:solidFill>
              <a:srgbClr val="2D892C">
                <a:alpha val="83922"/>
              </a:srgbClr>
            </a:solidFill>
          </p:spPr>
        </p:sp>
        <p:sp>
          <p:nvSpPr>
            <p:cNvPr name="TextBox 13" id="13"/>
            <p:cNvSpPr txBox="true"/>
            <p:nvPr/>
          </p:nvSpPr>
          <p:spPr>
            <a:xfrm>
              <a:off x="0" y="-47625"/>
              <a:ext cx="456090" cy="1060029"/>
            </a:xfrm>
            <a:prstGeom prst="rect">
              <a:avLst/>
            </a:prstGeom>
          </p:spPr>
          <p:txBody>
            <a:bodyPr anchor="ctr" rtlCol="false" tIns="21673" lIns="21673" bIns="21673" rIns="21673"/>
            <a:lstStyle/>
            <a:p>
              <a:pPr algn="ctr">
                <a:lnSpc>
                  <a:spcPts val="2940"/>
                </a:lnSpc>
              </a:pPr>
            </a:p>
          </p:txBody>
        </p:sp>
      </p:grpSp>
      <p:sp>
        <p:nvSpPr>
          <p:cNvPr name="Freeform 14" id="14"/>
          <p:cNvSpPr/>
          <p:nvPr/>
        </p:nvSpPr>
        <p:spPr>
          <a:xfrm flipH="false" flipV="false" rot="0">
            <a:off x="15815031" y="7666502"/>
            <a:ext cx="3802624" cy="3802624"/>
          </a:xfrm>
          <a:custGeom>
            <a:avLst/>
            <a:gdLst/>
            <a:ahLst/>
            <a:cxnLst/>
            <a:rect r="r" b="b" t="t" l="l"/>
            <a:pathLst>
              <a:path h="3802624" w="3802624">
                <a:moveTo>
                  <a:pt x="0" y="0"/>
                </a:moveTo>
                <a:lnTo>
                  <a:pt x="3802624" y="0"/>
                </a:lnTo>
                <a:lnTo>
                  <a:pt x="3802624" y="3802624"/>
                </a:lnTo>
                <a:lnTo>
                  <a:pt x="0" y="380262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1356862" y="8815108"/>
            <a:ext cx="2713724" cy="2713724"/>
          </a:xfrm>
          <a:custGeom>
            <a:avLst/>
            <a:gdLst/>
            <a:ahLst/>
            <a:cxnLst/>
            <a:rect r="r" b="b" t="t" l="l"/>
            <a:pathLst>
              <a:path h="2713724" w="2713724">
                <a:moveTo>
                  <a:pt x="0" y="0"/>
                </a:moveTo>
                <a:lnTo>
                  <a:pt x="2713724" y="0"/>
                </a:lnTo>
                <a:lnTo>
                  <a:pt x="2713724" y="2713724"/>
                </a:lnTo>
                <a:lnTo>
                  <a:pt x="0" y="2713724"/>
                </a:lnTo>
                <a:lnTo>
                  <a:pt x="0" y="0"/>
                </a:lnTo>
                <a:close/>
              </a:path>
            </a:pathLst>
          </a:custGeom>
          <a:blipFill>
            <a:blip r:embed="rId7">
              <a:alphaModFix amt="6000"/>
              <a:extLst>
                <a:ext uri="{96DAC541-7B7A-43D3-8B79-37D633B846F1}">
                  <asvg:svgBlip xmlns:asvg="http://schemas.microsoft.com/office/drawing/2016/SVG/main" r:embed="rId8"/>
                </a:ext>
              </a:extLst>
            </a:blip>
            <a:stretch>
              <a:fillRect l="0" t="0" r="0" b="0"/>
            </a:stretch>
          </a:blipFill>
        </p:spPr>
      </p:sp>
      <p:sp>
        <p:nvSpPr>
          <p:cNvPr name="Freeform 16" id="16"/>
          <p:cNvSpPr/>
          <p:nvPr/>
        </p:nvSpPr>
        <p:spPr>
          <a:xfrm flipH="false" flipV="false" rot="-10800000">
            <a:off x="-1543050" y="-436397"/>
            <a:ext cx="3086100" cy="3086100"/>
          </a:xfrm>
          <a:custGeom>
            <a:avLst/>
            <a:gdLst/>
            <a:ahLst/>
            <a:cxnLst/>
            <a:rect r="r" b="b" t="t" l="l"/>
            <a:pathLst>
              <a:path h="3086100" w="3086100">
                <a:moveTo>
                  <a:pt x="0" y="0"/>
                </a:moveTo>
                <a:lnTo>
                  <a:pt x="3086100" y="0"/>
                </a:lnTo>
                <a:lnTo>
                  <a:pt x="3086100" y="3086100"/>
                </a:lnTo>
                <a:lnTo>
                  <a:pt x="0" y="30861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7" id="17"/>
          <p:cNvSpPr txBox="true"/>
          <p:nvPr/>
        </p:nvSpPr>
        <p:spPr>
          <a:xfrm rot="0">
            <a:off x="2386870" y="4058384"/>
            <a:ext cx="9202614" cy="415290"/>
          </a:xfrm>
          <a:prstGeom prst="rect">
            <a:avLst/>
          </a:prstGeom>
        </p:spPr>
        <p:txBody>
          <a:bodyPr anchor="t" rtlCol="false" tIns="0" lIns="0" bIns="0" rIns="0">
            <a:spAutoFit/>
          </a:bodyPr>
          <a:lstStyle/>
          <a:p>
            <a:pPr algn="l">
              <a:lnSpc>
                <a:spcPts val="3359"/>
              </a:lnSpc>
              <a:spcBef>
                <a:spcPct val="0"/>
              </a:spcBef>
            </a:pPr>
            <a:r>
              <a:rPr lang="en-US" b="true" sz="2400" spc="24">
                <a:solidFill>
                  <a:srgbClr val="000000"/>
                </a:solidFill>
                <a:latin typeface="Inclusive Sans Bold"/>
                <a:ea typeface="Inclusive Sans Bold"/>
                <a:cs typeface="Inclusive Sans Bold"/>
                <a:sym typeface="Inclusive Sans Bold"/>
              </a:rPr>
              <a:t>Ke</a:t>
            </a:r>
            <a:r>
              <a:rPr lang="en-US" b="true" sz="2400" spc="24">
                <a:solidFill>
                  <a:srgbClr val="000000"/>
                </a:solidFill>
                <a:latin typeface="Inclusive Sans Bold"/>
                <a:ea typeface="Inclusive Sans Bold"/>
                <a:cs typeface="Inclusive Sans Bold"/>
                <a:sym typeface="Inclusive Sans Bold"/>
              </a:rPr>
              <a:t>tidakjelasan Transparansi Algoritmik:</a:t>
            </a:r>
          </a:p>
        </p:txBody>
      </p:sp>
      <p:sp>
        <p:nvSpPr>
          <p:cNvPr name="TextBox 18" id="18"/>
          <p:cNvSpPr txBox="true"/>
          <p:nvPr/>
        </p:nvSpPr>
        <p:spPr>
          <a:xfrm rot="0">
            <a:off x="2386870" y="4565333"/>
            <a:ext cx="14420228" cy="1108710"/>
          </a:xfrm>
          <a:prstGeom prst="rect">
            <a:avLst/>
          </a:prstGeom>
        </p:spPr>
        <p:txBody>
          <a:bodyPr anchor="t" rtlCol="false" tIns="0" lIns="0" bIns="0" rIns="0">
            <a:spAutoFit/>
          </a:bodyPr>
          <a:lstStyle/>
          <a:p>
            <a:pPr algn="just">
              <a:lnSpc>
                <a:spcPts val="2940"/>
              </a:lnSpc>
            </a:pPr>
            <a:r>
              <a:rPr lang="en-US" sz="2100">
                <a:solidFill>
                  <a:srgbClr val="545454"/>
                </a:solidFill>
                <a:latin typeface="Inclusive Sans"/>
                <a:ea typeface="Inclusive Sans"/>
                <a:cs typeface="Inclusive Sans"/>
                <a:sym typeface="Inclusive Sans"/>
              </a:rPr>
              <a:t>Sistem pengambilan keputusan otomatis tanpa penjelasan memadai melanggar hak transparansi informasi bagi mitra. Kondisi ini menciptakan ketidakadilan hukum karena mitra tidak memiliki posisi tawar untuk menguji validitas sanksi yang diberikan oleh sistem.</a:t>
            </a:r>
          </a:p>
        </p:txBody>
      </p:sp>
      <p:grpSp>
        <p:nvGrpSpPr>
          <p:cNvPr name="Group 19" id="19"/>
          <p:cNvGrpSpPr/>
          <p:nvPr/>
        </p:nvGrpSpPr>
        <p:grpSpPr>
          <a:xfrm rot="0">
            <a:off x="2343199" y="6288374"/>
            <a:ext cx="14082112" cy="1543050"/>
            <a:chOff x="0" y="0"/>
            <a:chExt cx="18776149" cy="2057400"/>
          </a:xfrm>
        </p:grpSpPr>
        <p:sp>
          <p:nvSpPr>
            <p:cNvPr name="TextBox 20" id="20"/>
            <p:cNvSpPr txBox="true"/>
            <p:nvPr/>
          </p:nvSpPr>
          <p:spPr>
            <a:xfrm rot="0">
              <a:off x="0" y="-57150"/>
              <a:ext cx="12270153" cy="534670"/>
            </a:xfrm>
            <a:prstGeom prst="rect">
              <a:avLst/>
            </a:prstGeom>
          </p:spPr>
          <p:txBody>
            <a:bodyPr anchor="t" rtlCol="false" tIns="0" lIns="0" bIns="0" rIns="0">
              <a:spAutoFit/>
            </a:bodyPr>
            <a:lstStyle/>
            <a:p>
              <a:pPr algn="l">
                <a:lnSpc>
                  <a:spcPts val="3359"/>
                </a:lnSpc>
                <a:spcBef>
                  <a:spcPct val="0"/>
                </a:spcBef>
              </a:pPr>
              <a:r>
                <a:rPr lang="en-US" b="true" sz="2400" spc="24">
                  <a:solidFill>
                    <a:srgbClr val="000000"/>
                  </a:solidFill>
                  <a:latin typeface="Inclusive Sans Bold"/>
                  <a:ea typeface="Inclusive Sans Bold"/>
                  <a:cs typeface="Inclusive Sans Bold"/>
                  <a:sym typeface="Inclusive Sans Bold"/>
                </a:rPr>
                <a:t>Kekosongan Perlindungan Jaminan Sosial:</a:t>
              </a:r>
            </a:p>
          </p:txBody>
        </p:sp>
        <p:sp>
          <p:nvSpPr>
            <p:cNvPr name="TextBox 21" id="21"/>
            <p:cNvSpPr txBox="true"/>
            <p:nvPr/>
          </p:nvSpPr>
          <p:spPr>
            <a:xfrm rot="0">
              <a:off x="0" y="594995"/>
              <a:ext cx="18776149" cy="1462405"/>
            </a:xfrm>
            <a:prstGeom prst="rect">
              <a:avLst/>
            </a:prstGeom>
          </p:spPr>
          <p:txBody>
            <a:bodyPr anchor="t" rtlCol="false" tIns="0" lIns="0" bIns="0" rIns="0">
              <a:spAutoFit/>
            </a:bodyPr>
            <a:lstStyle/>
            <a:p>
              <a:pPr algn="l">
                <a:lnSpc>
                  <a:spcPts val="2940"/>
                </a:lnSpc>
              </a:pPr>
              <a:r>
                <a:rPr lang="en-US" sz="2100">
                  <a:solidFill>
                    <a:srgbClr val="545454"/>
                  </a:solidFill>
                  <a:latin typeface="Inclusive Sans"/>
                  <a:ea typeface="Inclusive Sans"/>
                  <a:cs typeface="Inclusive Sans"/>
                  <a:sym typeface="Inclusive Sans"/>
                </a:rPr>
                <a:t>Status "mitra" sering dijadikan celah untuk menghindari kewajiban jaminan sosial. Hal ini menciptakan ketidakpastian bagi pekerja di era ekonomi gig, di mana risiko pekerjaan sepenuhnya ditanggung oleh pengemudi tanpa jaminan perlindungan memadai dari platform.</a:t>
              </a:r>
            </a:p>
          </p:txBody>
        </p:sp>
      </p:grpSp>
      <p:sp>
        <p:nvSpPr>
          <p:cNvPr name="TextBox 22" id="22"/>
          <p:cNvSpPr txBox="true"/>
          <p:nvPr/>
        </p:nvSpPr>
        <p:spPr>
          <a:xfrm rot="0">
            <a:off x="6042660" y="1172884"/>
            <a:ext cx="6202680" cy="688975"/>
          </a:xfrm>
          <a:prstGeom prst="rect">
            <a:avLst/>
          </a:prstGeom>
        </p:spPr>
        <p:txBody>
          <a:bodyPr anchor="t" rtlCol="false" tIns="0" lIns="0" bIns="0" rIns="0">
            <a:spAutoFit/>
          </a:bodyPr>
          <a:lstStyle/>
          <a:p>
            <a:pPr algn="ctr">
              <a:lnSpc>
                <a:spcPts val="5599"/>
              </a:lnSpc>
              <a:spcBef>
                <a:spcPct val="0"/>
              </a:spcBef>
            </a:pPr>
            <a:r>
              <a:rPr lang="en-US" b="true" sz="3999" u="sng">
                <a:solidFill>
                  <a:srgbClr val="000000"/>
                </a:solidFill>
                <a:latin typeface="Inclusive Sans Bold"/>
                <a:ea typeface="Inclusive Sans Bold"/>
                <a:cs typeface="Inclusive Sans Bold"/>
                <a:sym typeface="Inclusive Sans Bold"/>
              </a:rPr>
              <a:t>Pembahasan dan Solusi </a:t>
            </a:r>
          </a:p>
        </p:txBody>
      </p:sp>
      <p:sp>
        <p:nvSpPr>
          <p:cNvPr name="TextBox 23" id="23"/>
          <p:cNvSpPr txBox="true"/>
          <p:nvPr/>
        </p:nvSpPr>
        <p:spPr>
          <a:xfrm rot="0">
            <a:off x="1867825" y="2078273"/>
            <a:ext cx="14552349" cy="1042670"/>
          </a:xfrm>
          <a:prstGeom prst="rect">
            <a:avLst/>
          </a:prstGeom>
        </p:spPr>
        <p:txBody>
          <a:bodyPr anchor="t" rtlCol="false" tIns="0" lIns="0" bIns="0" rIns="0">
            <a:spAutoFit/>
          </a:bodyPr>
          <a:lstStyle/>
          <a:p>
            <a:pPr algn="ctr">
              <a:lnSpc>
                <a:spcPts val="8319"/>
              </a:lnSpc>
            </a:pPr>
            <a:r>
              <a:rPr lang="en-US" b="true" sz="6399" spc="63">
                <a:solidFill>
                  <a:srgbClr val="2D892C"/>
                </a:solidFill>
                <a:latin typeface="Inclusive Sans Bold"/>
                <a:ea typeface="Inclusive Sans Bold"/>
                <a:cs typeface="Inclusive Sans Bold"/>
                <a:sym typeface="Inclusive Sans Bold"/>
              </a:rPr>
              <a:t>Dampak Hukum</a:t>
            </a:r>
          </a:p>
        </p:txBody>
      </p:sp>
      <p:sp>
        <p:nvSpPr>
          <p:cNvPr name="TextBox 24" id="24"/>
          <p:cNvSpPr txBox="true"/>
          <p:nvPr/>
        </p:nvSpPr>
        <p:spPr>
          <a:xfrm rot="0">
            <a:off x="1511976" y="3144232"/>
            <a:ext cx="15264048" cy="365760"/>
          </a:xfrm>
          <a:prstGeom prst="rect">
            <a:avLst/>
          </a:prstGeom>
        </p:spPr>
        <p:txBody>
          <a:bodyPr anchor="t" rtlCol="false" tIns="0" lIns="0" bIns="0" rIns="0">
            <a:spAutoFit/>
          </a:bodyPr>
          <a:lstStyle/>
          <a:p>
            <a:pPr algn="ctr">
              <a:lnSpc>
                <a:spcPts val="2940"/>
              </a:lnSpc>
            </a:pPr>
            <a:r>
              <a:rPr lang="en-US" sz="2100">
                <a:solidFill>
                  <a:srgbClr val="545454"/>
                </a:solidFill>
                <a:latin typeface="Inclusive Sans"/>
                <a:ea typeface="Inclusive Sans"/>
                <a:cs typeface="Inclusive Sans"/>
                <a:sym typeface="Inclusive Sans"/>
              </a:rPr>
              <a:t>Secara yuridis, sistem ini menimbulkan persoalan hukum di Indonesia:</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12888" t="0" r="-12888" b="0"/>
            </a:stretch>
          </a:blipFill>
        </p:spPr>
      </p:sp>
      <p:grpSp>
        <p:nvGrpSpPr>
          <p:cNvPr name="Group 3" id="3"/>
          <p:cNvGrpSpPr/>
          <p:nvPr/>
        </p:nvGrpSpPr>
        <p:grpSpPr>
          <a:xfrm rot="5400000">
            <a:off x="15521828" y="-1061985"/>
            <a:ext cx="1997154" cy="3888106"/>
            <a:chOff x="0" y="0"/>
            <a:chExt cx="585263" cy="1139404"/>
          </a:xfrm>
        </p:grpSpPr>
        <p:sp>
          <p:nvSpPr>
            <p:cNvPr name="Freeform 4" id="4"/>
            <p:cNvSpPr/>
            <p:nvPr/>
          </p:nvSpPr>
          <p:spPr>
            <a:xfrm flipH="false" flipV="false" rot="0">
              <a:off x="0" y="0"/>
              <a:ext cx="585263" cy="1139404"/>
            </a:xfrm>
            <a:custGeom>
              <a:avLst/>
              <a:gdLst/>
              <a:ahLst/>
              <a:cxnLst/>
              <a:rect r="r" b="b" t="t" l="l"/>
              <a:pathLst>
                <a:path h="1139404" w="585263">
                  <a:moveTo>
                    <a:pt x="195193" y="1120335"/>
                  </a:moveTo>
                  <a:cubicBezTo>
                    <a:pt x="225198" y="1131849"/>
                    <a:pt x="259310" y="1139404"/>
                    <a:pt x="292789" y="1139404"/>
                  </a:cubicBezTo>
                  <a:cubicBezTo>
                    <a:pt x="326269" y="1139404"/>
                    <a:pt x="358486" y="1132927"/>
                    <a:pt x="388175" y="1121413"/>
                  </a:cubicBezTo>
                  <a:cubicBezTo>
                    <a:pt x="388807" y="1121054"/>
                    <a:pt x="389438" y="1121054"/>
                    <a:pt x="390070" y="1120694"/>
                  </a:cubicBezTo>
                  <a:cubicBezTo>
                    <a:pt x="501564" y="1074639"/>
                    <a:pt x="583684" y="953025"/>
                    <a:pt x="585263" y="803647"/>
                  </a:cubicBezTo>
                  <a:lnTo>
                    <a:pt x="585263" y="0"/>
                  </a:lnTo>
                  <a:lnTo>
                    <a:pt x="0" y="0"/>
                  </a:lnTo>
                  <a:lnTo>
                    <a:pt x="0" y="803051"/>
                  </a:lnTo>
                  <a:cubicBezTo>
                    <a:pt x="1579" y="953744"/>
                    <a:pt x="82436" y="1075359"/>
                    <a:pt x="195193" y="1120335"/>
                  </a:cubicBezTo>
                  <a:close/>
                </a:path>
              </a:pathLst>
            </a:custGeom>
            <a:solidFill>
              <a:srgbClr val="153930"/>
            </a:solidFill>
          </p:spPr>
        </p:sp>
        <p:sp>
          <p:nvSpPr>
            <p:cNvPr name="TextBox 5" id="5"/>
            <p:cNvSpPr txBox="true"/>
            <p:nvPr/>
          </p:nvSpPr>
          <p:spPr>
            <a:xfrm>
              <a:off x="0" y="-47625"/>
              <a:ext cx="585263" cy="1060029"/>
            </a:xfrm>
            <a:prstGeom prst="rect">
              <a:avLst/>
            </a:prstGeom>
          </p:spPr>
          <p:txBody>
            <a:bodyPr anchor="ctr" rtlCol="false" tIns="21673" lIns="21673" bIns="21673" rIns="21673"/>
            <a:lstStyle/>
            <a:p>
              <a:pPr algn="ctr">
                <a:lnSpc>
                  <a:spcPts val="2940"/>
                </a:lnSpc>
              </a:pPr>
            </a:p>
          </p:txBody>
        </p:sp>
      </p:grpSp>
      <p:grpSp>
        <p:nvGrpSpPr>
          <p:cNvPr name="Group 6" id="6"/>
          <p:cNvGrpSpPr/>
          <p:nvPr/>
        </p:nvGrpSpPr>
        <p:grpSpPr>
          <a:xfrm rot="5400000">
            <a:off x="15226714" y="-906701"/>
            <a:ext cx="1580383" cy="158038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892C"/>
            </a:solidFill>
          </p:spPr>
        </p:sp>
        <p:sp>
          <p:nvSpPr>
            <p:cNvPr name="TextBox 8" id="8"/>
            <p:cNvSpPr txBox="true"/>
            <p:nvPr/>
          </p:nvSpPr>
          <p:spPr>
            <a:xfrm>
              <a:off x="76200" y="19050"/>
              <a:ext cx="660400" cy="717550"/>
            </a:xfrm>
            <a:prstGeom prst="rect">
              <a:avLst/>
            </a:prstGeom>
          </p:spPr>
          <p:txBody>
            <a:bodyPr anchor="ctr" rtlCol="false" tIns="21673" lIns="21673" bIns="21673" rIns="21673"/>
            <a:lstStyle/>
            <a:p>
              <a:pPr algn="ctr">
                <a:lnSpc>
                  <a:spcPts val="3359"/>
                </a:lnSpc>
              </a:pPr>
            </a:p>
          </p:txBody>
        </p:sp>
      </p:grpSp>
      <p:grpSp>
        <p:nvGrpSpPr>
          <p:cNvPr name="Group 9" id="9"/>
          <p:cNvGrpSpPr/>
          <p:nvPr/>
        </p:nvGrpSpPr>
        <p:grpSpPr>
          <a:xfrm rot="5400000">
            <a:off x="17040803" y="88068"/>
            <a:ext cx="1268266" cy="3168383"/>
            <a:chOff x="0" y="0"/>
            <a:chExt cx="456090" cy="1139404"/>
          </a:xfrm>
        </p:grpSpPr>
        <p:sp>
          <p:nvSpPr>
            <p:cNvPr name="Freeform 10" id="10"/>
            <p:cNvSpPr/>
            <p:nvPr/>
          </p:nvSpPr>
          <p:spPr>
            <a:xfrm flipH="false" flipV="false" rot="0">
              <a:off x="0" y="0"/>
              <a:ext cx="456090" cy="1139404"/>
            </a:xfrm>
            <a:custGeom>
              <a:avLst/>
              <a:gdLst/>
              <a:ahLst/>
              <a:cxnLst/>
              <a:rect r="r" b="b" t="t" l="l"/>
              <a:pathLst>
                <a:path h="1139404" w="456090">
                  <a:moveTo>
                    <a:pt x="152112" y="1120335"/>
                  </a:moveTo>
                  <a:cubicBezTo>
                    <a:pt x="175495" y="1131849"/>
                    <a:pt x="202078" y="1139404"/>
                    <a:pt x="228168" y="1139404"/>
                  </a:cubicBezTo>
                  <a:cubicBezTo>
                    <a:pt x="254259" y="1139404"/>
                    <a:pt x="279365" y="1132927"/>
                    <a:pt x="302501" y="1121413"/>
                  </a:cubicBezTo>
                  <a:cubicBezTo>
                    <a:pt x="302994" y="1121054"/>
                    <a:pt x="303486" y="1121054"/>
                    <a:pt x="303978" y="1120694"/>
                  </a:cubicBezTo>
                  <a:cubicBezTo>
                    <a:pt x="390864" y="1074639"/>
                    <a:pt x="454859" y="953025"/>
                    <a:pt x="456090" y="803647"/>
                  </a:cubicBezTo>
                  <a:lnTo>
                    <a:pt x="456090" y="0"/>
                  </a:lnTo>
                  <a:lnTo>
                    <a:pt x="0" y="0"/>
                  </a:lnTo>
                  <a:lnTo>
                    <a:pt x="0" y="803051"/>
                  </a:lnTo>
                  <a:cubicBezTo>
                    <a:pt x="1231" y="953744"/>
                    <a:pt x="64241" y="1075359"/>
                    <a:pt x="152112" y="1120335"/>
                  </a:cubicBezTo>
                  <a:close/>
                </a:path>
              </a:pathLst>
            </a:custGeom>
            <a:solidFill>
              <a:srgbClr val="2D892C">
                <a:alpha val="83922"/>
              </a:srgbClr>
            </a:solidFill>
          </p:spPr>
        </p:sp>
        <p:sp>
          <p:nvSpPr>
            <p:cNvPr name="TextBox 11" id="11"/>
            <p:cNvSpPr txBox="true"/>
            <p:nvPr/>
          </p:nvSpPr>
          <p:spPr>
            <a:xfrm>
              <a:off x="0" y="-47625"/>
              <a:ext cx="456090" cy="1060029"/>
            </a:xfrm>
            <a:prstGeom prst="rect">
              <a:avLst/>
            </a:prstGeom>
          </p:spPr>
          <p:txBody>
            <a:bodyPr anchor="ctr" rtlCol="false" tIns="21673" lIns="21673" bIns="21673" rIns="21673"/>
            <a:lstStyle/>
            <a:p>
              <a:pPr algn="ctr">
                <a:lnSpc>
                  <a:spcPts val="2940"/>
                </a:lnSpc>
              </a:pPr>
            </a:p>
          </p:txBody>
        </p:sp>
      </p:grpSp>
      <p:sp>
        <p:nvSpPr>
          <p:cNvPr name="Freeform 12" id="12"/>
          <p:cNvSpPr/>
          <p:nvPr/>
        </p:nvSpPr>
        <p:spPr>
          <a:xfrm flipH="false" flipV="false" rot="0">
            <a:off x="15815031" y="7666502"/>
            <a:ext cx="3802624" cy="3802624"/>
          </a:xfrm>
          <a:custGeom>
            <a:avLst/>
            <a:gdLst/>
            <a:ahLst/>
            <a:cxnLst/>
            <a:rect r="r" b="b" t="t" l="l"/>
            <a:pathLst>
              <a:path h="3802624" w="3802624">
                <a:moveTo>
                  <a:pt x="0" y="0"/>
                </a:moveTo>
                <a:lnTo>
                  <a:pt x="3802624" y="0"/>
                </a:lnTo>
                <a:lnTo>
                  <a:pt x="3802624" y="3802624"/>
                </a:lnTo>
                <a:lnTo>
                  <a:pt x="0" y="38026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1356862" y="8815108"/>
            <a:ext cx="2713724" cy="2713724"/>
          </a:xfrm>
          <a:custGeom>
            <a:avLst/>
            <a:gdLst/>
            <a:ahLst/>
            <a:cxnLst/>
            <a:rect r="r" b="b" t="t" l="l"/>
            <a:pathLst>
              <a:path h="2713724" w="2713724">
                <a:moveTo>
                  <a:pt x="0" y="0"/>
                </a:moveTo>
                <a:lnTo>
                  <a:pt x="2713724" y="0"/>
                </a:lnTo>
                <a:lnTo>
                  <a:pt x="2713724" y="2713724"/>
                </a:lnTo>
                <a:lnTo>
                  <a:pt x="0" y="2713724"/>
                </a:lnTo>
                <a:lnTo>
                  <a:pt x="0" y="0"/>
                </a:lnTo>
                <a:close/>
              </a:path>
            </a:pathLst>
          </a:custGeom>
          <a:blipFill>
            <a:blip r:embed="rId5">
              <a:alphaModFix amt="6000"/>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10800000">
            <a:off x="-1543050" y="-436397"/>
            <a:ext cx="3086100" cy="3086100"/>
          </a:xfrm>
          <a:custGeom>
            <a:avLst/>
            <a:gdLst/>
            <a:ahLst/>
            <a:cxnLst/>
            <a:rect r="r" b="b" t="t" l="l"/>
            <a:pathLst>
              <a:path h="3086100" w="3086100">
                <a:moveTo>
                  <a:pt x="0" y="0"/>
                </a:moveTo>
                <a:lnTo>
                  <a:pt x="3086100" y="0"/>
                </a:lnTo>
                <a:lnTo>
                  <a:pt x="3086100" y="3086100"/>
                </a:lnTo>
                <a:lnTo>
                  <a:pt x="0" y="30861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5" id="15"/>
          <p:cNvGrpSpPr/>
          <p:nvPr/>
        </p:nvGrpSpPr>
        <p:grpSpPr>
          <a:xfrm rot="0">
            <a:off x="1543050" y="4111475"/>
            <a:ext cx="15168954" cy="1198683"/>
            <a:chOff x="0" y="0"/>
            <a:chExt cx="20225272" cy="1598244"/>
          </a:xfrm>
        </p:grpSpPr>
        <p:sp>
          <p:nvSpPr>
            <p:cNvPr name="Freeform 16" id="16"/>
            <p:cNvSpPr/>
            <p:nvPr/>
          </p:nvSpPr>
          <p:spPr>
            <a:xfrm flipH="false" flipV="false" rot="0">
              <a:off x="0" y="0"/>
              <a:ext cx="933396" cy="933396"/>
            </a:xfrm>
            <a:custGeom>
              <a:avLst/>
              <a:gdLst/>
              <a:ahLst/>
              <a:cxnLst/>
              <a:rect r="r" b="b" t="t" l="l"/>
              <a:pathLst>
                <a:path h="933396" w="933396">
                  <a:moveTo>
                    <a:pt x="0" y="0"/>
                  </a:moveTo>
                  <a:lnTo>
                    <a:pt x="933396" y="0"/>
                  </a:lnTo>
                  <a:lnTo>
                    <a:pt x="933396" y="933396"/>
                  </a:lnTo>
                  <a:lnTo>
                    <a:pt x="0" y="93339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7" id="17"/>
            <p:cNvSpPr txBox="true"/>
            <p:nvPr/>
          </p:nvSpPr>
          <p:spPr>
            <a:xfrm rot="0">
              <a:off x="1246552" y="-57150"/>
              <a:ext cx="12270153" cy="534670"/>
            </a:xfrm>
            <a:prstGeom prst="rect">
              <a:avLst/>
            </a:prstGeom>
          </p:spPr>
          <p:txBody>
            <a:bodyPr anchor="t" rtlCol="false" tIns="0" lIns="0" bIns="0" rIns="0">
              <a:spAutoFit/>
            </a:bodyPr>
            <a:lstStyle/>
            <a:p>
              <a:pPr algn="l">
                <a:lnSpc>
                  <a:spcPts val="3359"/>
                </a:lnSpc>
                <a:spcBef>
                  <a:spcPct val="0"/>
                </a:spcBef>
              </a:pPr>
              <a:r>
                <a:rPr lang="en-US" b="true" sz="2400" spc="24">
                  <a:solidFill>
                    <a:srgbClr val="000000"/>
                  </a:solidFill>
                  <a:latin typeface="Inclusive Sans Bold"/>
                  <a:ea typeface="Inclusive Sans Bold"/>
                  <a:cs typeface="Inclusive Sans Bold"/>
                  <a:sym typeface="Inclusive Sans Bold"/>
                </a:rPr>
                <a:t>Verif</a:t>
              </a:r>
              <a:r>
                <a:rPr lang="en-US" b="true" sz="2400" spc="24">
                  <a:solidFill>
                    <a:srgbClr val="000000"/>
                  </a:solidFill>
                  <a:latin typeface="Inclusive Sans Bold"/>
                  <a:ea typeface="Inclusive Sans Bold"/>
                  <a:cs typeface="Inclusive Sans Bold"/>
                  <a:sym typeface="Inclusive Sans Bold"/>
                </a:rPr>
                <a:t>ikasi Manual (Human-in-the-Loop):</a:t>
              </a:r>
            </a:p>
          </p:txBody>
        </p:sp>
        <p:sp>
          <p:nvSpPr>
            <p:cNvPr name="TextBox 18" id="18"/>
            <p:cNvSpPr txBox="true"/>
            <p:nvPr/>
          </p:nvSpPr>
          <p:spPr>
            <a:xfrm rot="0">
              <a:off x="1246552" y="631139"/>
              <a:ext cx="18978720" cy="967105"/>
            </a:xfrm>
            <a:prstGeom prst="rect">
              <a:avLst/>
            </a:prstGeom>
          </p:spPr>
          <p:txBody>
            <a:bodyPr anchor="t" rtlCol="false" tIns="0" lIns="0" bIns="0" rIns="0">
              <a:spAutoFit/>
            </a:bodyPr>
            <a:lstStyle/>
            <a:p>
              <a:pPr algn="just">
                <a:lnSpc>
                  <a:spcPts val="2940"/>
                </a:lnSpc>
              </a:pPr>
              <a:r>
                <a:rPr lang="en-US" sz="2100">
                  <a:solidFill>
                    <a:srgbClr val="545454"/>
                  </a:solidFill>
                  <a:latin typeface="Inclusive Sans"/>
                  <a:ea typeface="Inclusive Sans"/>
                  <a:cs typeface="Inclusive Sans"/>
                  <a:sym typeface="Inclusive Sans"/>
                </a:rPr>
                <a:t>Wajib melibatkan manusia dalam proses pengambilan keputusan berat seperti pemutusan kemitraan untuk menjamin keadilan bagi mitra yang menjadi korban kegagalan sistem.</a:t>
              </a:r>
            </a:p>
          </p:txBody>
        </p:sp>
      </p:grpSp>
      <p:grpSp>
        <p:nvGrpSpPr>
          <p:cNvPr name="Group 19" id="19"/>
          <p:cNvGrpSpPr/>
          <p:nvPr/>
        </p:nvGrpSpPr>
        <p:grpSpPr>
          <a:xfrm rot="0">
            <a:off x="1543050" y="6091705"/>
            <a:ext cx="15168954" cy="1161554"/>
            <a:chOff x="0" y="0"/>
            <a:chExt cx="20225272" cy="1548738"/>
          </a:xfrm>
        </p:grpSpPr>
        <p:sp>
          <p:nvSpPr>
            <p:cNvPr name="Freeform 20" id="20"/>
            <p:cNvSpPr/>
            <p:nvPr/>
          </p:nvSpPr>
          <p:spPr>
            <a:xfrm flipH="false" flipV="false" rot="0">
              <a:off x="0" y="0"/>
              <a:ext cx="933396" cy="933396"/>
            </a:xfrm>
            <a:custGeom>
              <a:avLst/>
              <a:gdLst/>
              <a:ahLst/>
              <a:cxnLst/>
              <a:rect r="r" b="b" t="t" l="l"/>
              <a:pathLst>
                <a:path h="933396" w="933396">
                  <a:moveTo>
                    <a:pt x="0" y="0"/>
                  </a:moveTo>
                  <a:lnTo>
                    <a:pt x="933396" y="0"/>
                  </a:lnTo>
                  <a:lnTo>
                    <a:pt x="933396" y="933396"/>
                  </a:lnTo>
                  <a:lnTo>
                    <a:pt x="0" y="93339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1" id="21"/>
            <p:cNvSpPr txBox="true"/>
            <p:nvPr/>
          </p:nvSpPr>
          <p:spPr>
            <a:xfrm rot="0">
              <a:off x="1246552" y="-57150"/>
              <a:ext cx="12270153" cy="534670"/>
            </a:xfrm>
            <a:prstGeom prst="rect">
              <a:avLst/>
            </a:prstGeom>
          </p:spPr>
          <p:txBody>
            <a:bodyPr anchor="t" rtlCol="false" tIns="0" lIns="0" bIns="0" rIns="0">
              <a:spAutoFit/>
            </a:bodyPr>
            <a:lstStyle/>
            <a:p>
              <a:pPr algn="l">
                <a:lnSpc>
                  <a:spcPts val="3359"/>
                </a:lnSpc>
                <a:spcBef>
                  <a:spcPct val="0"/>
                </a:spcBef>
              </a:pPr>
              <a:r>
                <a:rPr lang="en-US" b="true" sz="2400" spc="24">
                  <a:solidFill>
                    <a:srgbClr val="000000"/>
                  </a:solidFill>
                  <a:latin typeface="Inclusive Sans Bold"/>
                  <a:ea typeface="Inclusive Sans Bold"/>
                  <a:cs typeface="Inclusive Sans Bold"/>
                  <a:sym typeface="Inclusive Sans Bold"/>
                </a:rPr>
                <a:t>Peningkatan Transparansi:</a:t>
              </a:r>
            </a:p>
          </p:txBody>
        </p:sp>
        <p:sp>
          <p:nvSpPr>
            <p:cNvPr name="TextBox 22" id="22"/>
            <p:cNvSpPr txBox="true"/>
            <p:nvPr/>
          </p:nvSpPr>
          <p:spPr>
            <a:xfrm rot="0">
              <a:off x="1246552" y="581633"/>
              <a:ext cx="18978720" cy="967105"/>
            </a:xfrm>
            <a:prstGeom prst="rect">
              <a:avLst/>
            </a:prstGeom>
          </p:spPr>
          <p:txBody>
            <a:bodyPr anchor="t" rtlCol="false" tIns="0" lIns="0" bIns="0" rIns="0">
              <a:spAutoFit/>
            </a:bodyPr>
            <a:lstStyle/>
            <a:p>
              <a:pPr algn="l">
                <a:lnSpc>
                  <a:spcPts val="2940"/>
                </a:lnSpc>
              </a:pPr>
              <a:r>
                <a:rPr lang="en-US" sz="2100">
                  <a:solidFill>
                    <a:srgbClr val="545454"/>
                  </a:solidFill>
                  <a:latin typeface="Inclusive Sans"/>
                  <a:ea typeface="Inclusive Sans"/>
                  <a:cs typeface="Inclusive Sans"/>
                  <a:sym typeface="Inclusive Sans"/>
                </a:rPr>
                <a:t>Profesional TI perlu merancang sistem yang lebih terbuka terkait metode perhitungan tarif dan distribusi pesanan guna membangun kepercayaan sesuai standar IEEE.</a:t>
              </a:r>
            </a:p>
          </p:txBody>
        </p:sp>
      </p:grpSp>
      <p:grpSp>
        <p:nvGrpSpPr>
          <p:cNvPr name="Group 23" id="23"/>
          <p:cNvGrpSpPr/>
          <p:nvPr/>
        </p:nvGrpSpPr>
        <p:grpSpPr>
          <a:xfrm rot="0">
            <a:off x="1543050" y="8034805"/>
            <a:ext cx="14075948" cy="1143000"/>
            <a:chOff x="0" y="0"/>
            <a:chExt cx="18767931" cy="1524000"/>
          </a:xfrm>
        </p:grpSpPr>
        <p:sp>
          <p:nvSpPr>
            <p:cNvPr name="Freeform 24" id="24"/>
            <p:cNvSpPr/>
            <p:nvPr/>
          </p:nvSpPr>
          <p:spPr>
            <a:xfrm flipH="false" flipV="false" rot="0">
              <a:off x="0" y="0"/>
              <a:ext cx="933396" cy="933396"/>
            </a:xfrm>
            <a:custGeom>
              <a:avLst/>
              <a:gdLst/>
              <a:ahLst/>
              <a:cxnLst/>
              <a:rect r="r" b="b" t="t" l="l"/>
              <a:pathLst>
                <a:path h="933396" w="933396">
                  <a:moveTo>
                    <a:pt x="0" y="0"/>
                  </a:moveTo>
                  <a:lnTo>
                    <a:pt x="933396" y="0"/>
                  </a:lnTo>
                  <a:lnTo>
                    <a:pt x="933396" y="933396"/>
                  </a:lnTo>
                  <a:lnTo>
                    <a:pt x="0" y="93339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5" id="25"/>
            <p:cNvSpPr txBox="true"/>
            <p:nvPr/>
          </p:nvSpPr>
          <p:spPr>
            <a:xfrm rot="0">
              <a:off x="1246552" y="-57150"/>
              <a:ext cx="12270153" cy="534670"/>
            </a:xfrm>
            <a:prstGeom prst="rect">
              <a:avLst/>
            </a:prstGeom>
          </p:spPr>
          <p:txBody>
            <a:bodyPr anchor="t" rtlCol="false" tIns="0" lIns="0" bIns="0" rIns="0">
              <a:spAutoFit/>
            </a:bodyPr>
            <a:lstStyle/>
            <a:p>
              <a:pPr algn="l">
                <a:lnSpc>
                  <a:spcPts val="3359"/>
                </a:lnSpc>
                <a:spcBef>
                  <a:spcPct val="0"/>
                </a:spcBef>
              </a:pPr>
              <a:r>
                <a:rPr lang="en-US" b="true" sz="2400" spc="24">
                  <a:solidFill>
                    <a:srgbClr val="000000"/>
                  </a:solidFill>
                  <a:latin typeface="Inclusive Sans Bold"/>
                  <a:ea typeface="Inclusive Sans Bold"/>
                  <a:cs typeface="Inclusive Sans Bold"/>
                  <a:sym typeface="Inclusive Sans Bold"/>
                </a:rPr>
                <a:t>Jaminan Kesejahteraan:</a:t>
              </a:r>
            </a:p>
          </p:txBody>
        </p:sp>
        <p:sp>
          <p:nvSpPr>
            <p:cNvPr name="TextBox 26" id="26"/>
            <p:cNvSpPr txBox="true"/>
            <p:nvPr/>
          </p:nvSpPr>
          <p:spPr>
            <a:xfrm rot="0">
              <a:off x="1246552" y="556895"/>
              <a:ext cx="17521379" cy="967105"/>
            </a:xfrm>
            <a:prstGeom prst="rect">
              <a:avLst/>
            </a:prstGeom>
          </p:spPr>
          <p:txBody>
            <a:bodyPr anchor="t" rtlCol="false" tIns="0" lIns="0" bIns="0" rIns="0">
              <a:spAutoFit/>
            </a:bodyPr>
            <a:lstStyle/>
            <a:p>
              <a:pPr algn="l">
                <a:lnSpc>
                  <a:spcPts val="2940"/>
                </a:lnSpc>
              </a:pPr>
              <a:r>
                <a:rPr lang="en-US" sz="2100">
                  <a:solidFill>
                    <a:srgbClr val="545454"/>
                  </a:solidFill>
                  <a:latin typeface="Inclusive Sans"/>
                  <a:ea typeface="Inclusive Sans"/>
                  <a:cs typeface="Inclusive Sans"/>
                  <a:sym typeface="Inclusive Sans"/>
                </a:rPr>
                <a:t>Mendorong regulasi yang lebih tegas untuk menjamin perlindungan sosial bagi pekerja gig agar beban risiko tidak hanya ditanggung oleh pihak pengemudi.</a:t>
              </a:r>
            </a:p>
          </p:txBody>
        </p:sp>
      </p:grpSp>
      <p:sp>
        <p:nvSpPr>
          <p:cNvPr name="TextBox 27" id="27"/>
          <p:cNvSpPr txBox="true"/>
          <p:nvPr/>
        </p:nvSpPr>
        <p:spPr>
          <a:xfrm rot="0">
            <a:off x="5997212" y="1172884"/>
            <a:ext cx="6202680" cy="688975"/>
          </a:xfrm>
          <a:prstGeom prst="rect">
            <a:avLst/>
          </a:prstGeom>
        </p:spPr>
        <p:txBody>
          <a:bodyPr anchor="t" rtlCol="false" tIns="0" lIns="0" bIns="0" rIns="0">
            <a:spAutoFit/>
          </a:bodyPr>
          <a:lstStyle/>
          <a:p>
            <a:pPr algn="ctr">
              <a:lnSpc>
                <a:spcPts val="5599"/>
              </a:lnSpc>
              <a:spcBef>
                <a:spcPct val="0"/>
              </a:spcBef>
            </a:pPr>
            <a:r>
              <a:rPr lang="en-US" b="true" sz="3999" u="sng">
                <a:solidFill>
                  <a:srgbClr val="000000"/>
                </a:solidFill>
                <a:latin typeface="Inclusive Sans Bold"/>
                <a:ea typeface="Inclusive Sans Bold"/>
                <a:cs typeface="Inclusive Sans Bold"/>
                <a:sym typeface="Inclusive Sans Bold"/>
              </a:rPr>
              <a:t>Pembahasan dan Solusi </a:t>
            </a:r>
          </a:p>
        </p:txBody>
      </p:sp>
      <p:sp>
        <p:nvSpPr>
          <p:cNvPr name="TextBox 28" id="28"/>
          <p:cNvSpPr txBox="true"/>
          <p:nvPr/>
        </p:nvSpPr>
        <p:spPr>
          <a:xfrm rot="0">
            <a:off x="1822377" y="2078273"/>
            <a:ext cx="14552349" cy="1042670"/>
          </a:xfrm>
          <a:prstGeom prst="rect">
            <a:avLst/>
          </a:prstGeom>
        </p:spPr>
        <p:txBody>
          <a:bodyPr anchor="t" rtlCol="false" tIns="0" lIns="0" bIns="0" rIns="0">
            <a:spAutoFit/>
          </a:bodyPr>
          <a:lstStyle/>
          <a:p>
            <a:pPr algn="ctr">
              <a:lnSpc>
                <a:spcPts val="8319"/>
              </a:lnSpc>
            </a:pPr>
            <a:r>
              <a:rPr lang="en-US" b="true" sz="6399" spc="63">
                <a:solidFill>
                  <a:srgbClr val="2D892C"/>
                </a:solidFill>
                <a:latin typeface="Inclusive Sans Bold"/>
                <a:ea typeface="Inclusive Sans Bold"/>
                <a:cs typeface="Inclusive Sans Bold"/>
                <a:sym typeface="Inclusive Sans Bold"/>
              </a:rPr>
              <a:t>Rekomendasi</a:t>
            </a:r>
          </a:p>
        </p:txBody>
      </p:sp>
      <p:sp>
        <p:nvSpPr>
          <p:cNvPr name="TextBox 29" id="29"/>
          <p:cNvSpPr txBox="true"/>
          <p:nvPr/>
        </p:nvSpPr>
        <p:spPr>
          <a:xfrm rot="0">
            <a:off x="1543050" y="3144232"/>
            <a:ext cx="15264048" cy="365760"/>
          </a:xfrm>
          <a:prstGeom prst="rect">
            <a:avLst/>
          </a:prstGeom>
        </p:spPr>
        <p:txBody>
          <a:bodyPr anchor="t" rtlCol="false" tIns="0" lIns="0" bIns="0" rIns="0">
            <a:spAutoFit/>
          </a:bodyPr>
          <a:lstStyle/>
          <a:p>
            <a:pPr algn="ctr">
              <a:lnSpc>
                <a:spcPts val="2940"/>
              </a:lnSpc>
            </a:pPr>
            <a:r>
              <a:rPr lang="en-US" sz="2100">
                <a:solidFill>
                  <a:srgbClr val="545454"/>
                </a:solidFill>
                <a:latin typeface="Inclusive Sans"/>
                <a:ea typeface="Inclusive Sans"/>
                <a:cs typeface="Inclusive Sans"/>
                <a:sym typeface="Inclusive Sans"/>
              </a:rPr>
              <a:t>Sebagai solusi berbasis etika profesi, berikut adalah beberapa rekomendasi strategis: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12888" t="0" r="-12888" b="0"/>
            </a:stretch>
          </a:blipFill>
        </p:spPr>
      </p:sp>
      <p:grpSp>
        <p:nvGrpSpPr>
          <p:cNvPr name="Group 3" id="3"/>
          <p:cNvGrpSpPr/>
          <p:nvPr/>
        </p:nvGrpSpPr>
        <p:grpSpPr>
          <a:xfrm rot="5400000">
            <a:off x="15521828" y="-1061985"/>
            <a:ext cx="1997154" cy="3888106"/>
            <a:chOff x="0" y="0"/>
            <a:chExt cx="585263" cy="1139404"/>
          </a:xfrm>
        </p:grpSpPr>
        <p:sp>
          <p:nvSpPr>
            <p:cNvPr name="Freeform 4" id="4"/>
            <p:cNvSpPr/>
            <p:nvPr/>
          </p:nvSpPr>
          <p:spPr>
            <a:xfrm flipH="false" flipV="false" rot="0">
              <a:off x="0" y="0"/>
              <a:ext cx="585263" cy="1139404"/>
            </a:xfrm>
            <a:custGeom>
              <a:avLst/>
              <a:gdLst/>
              <a:ahLst/>
              <a:cxnLst/>
              <a:rect r="r" b="b" t="t" l="l"/>
              <a:pathLst>
                <a:path h="1139404" w="585263">
                  <a:moveTo>
                    <a:pt x="195193" y="1120335"/>
                  </a:moveTo>
                  <a:cubicBezTo>
                    <a:pt x="225198" y="1131849"/>
                    <a:pt x="259310" y="1139404"/>
                    <a:pt x="292789" y="1139404"/>
                  </a:cubicBezTo>
                  <a:cubicBezTo>
                    <a:pt x="326269" y="1139404"/>
                    <a:pt x="358486" y="1132927"/>
                    <a:pt x="388175" y="1121413"/>
                  </a:cubicBezTo>
                  <a:cubicBezTo>
                    <a:pt x="388807" y="1121054"/>
                    <a:pt x="389438" y="1121054"/>
                    <a:pt x="390070" y="1120694"/>
                  </a:cubicBezTo>
                  <a:cubicBezTo>
                    <a:pt x="501564" y="1074639"/>
                    <a:pt x="583684" y="953025"/>
                    <a:pt x="585263" y="803647"/>
                  </a:cubicBezTo>
                  <a:lnTo>
                    <a:pt x="585263" y="0"/>
                  </a:lnTo>
                  <a:lnTo>
                    <a:pt x="0" y="0"/>
                  </a:lnTo>
                  <a:lnTo>
                    <a:pt x="0" y="803051"/>
                  </a:lnTo>
                  <a:cubicBezTo>
                    <a:pt x="1579" y="953744"/>
                    <a:pt x="82436" y="1075359"/>
                    <a:pt x="195193" y="1120335"/>
                  </a:cubicBezTo>
                  <a:close/>
                </a:path>
              </a:pathLst>
            </a:custGeom>
            <a:solidFill>
              <a:srgbClr val="153930"/>
            </a:solidFill>
          </p:spPr>
        </p:sp>
        <p:sp>
          <p:nvSpPr>
            <p:cNvPr name="TextBox 5" id="5"/>
            <p:cNvSpPr txBox="true"/>
            <p:nvPr/>
          </p:nvSpPr>
          <p:spPr>
            <a:xfrm>
              <a:off x="0" y="-47625"/>
              <a:ext cx="585263" cy="1060029"/>
            </a:xfrm>
            <a:prstGeom prst="rect">
              <a:avLst/>
            </a:prstGeom>
          </p:spPr>
          <p:txBody>
            <a:bodyPr anchor="ctr" rtlCol="false" tIns="21673" lIns="21673" bIns="21673" rIns="21673"/>
            <a:lstStyle/>
            <a:p>
              <a:pPr algn="ctr">
                <a:lnSpc>
                  <a:spcPts val="2940"/>
                </a:lnSpc>
              </a:pPr>
            </a:p>
          </p:txBody>
        </p:sp>
      </p:grpSp>
      <p:grpSp>
        <p:nvGrpSpPr>
          <p:cNvPr name="Group 6" id="6"/>
          <p:cNvGrpSpPr/>
          <p:nvPr/>
        </p:nvGrpSpPr>
        <p:grpSpPr>
          <a:xfrm rot="5400000">
            <a:off x="15226714" y="-906701"/>
            <a:ext cx="1580383" cy="158038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892C"/>
            </a:solidFill>
          </p:spPr>
        </p:sp>
        <p:sp>
          <p:nvSpPr>
            <p:cNvPr name="TextBox 8" id="8"/>
            <p:cNvSpPr txBox="true"/>
            <p:nvPr/>
          </p:nvSpPr>
          <p:spPr>
            <a:xfrm>
              <a:off x="76200" y="19050"/>
              <a:ext cx="660400" cy="717550"/>
            </a:xfrm>
            <a:prstGeom prst="rect">
              <a:avLst/>
            </a:prstGeom>
          </p:spPr>
          <p:txBody>
            <a:bodyPr anchor="ctr" rtlCol="false" tIns="21673" lIns="21673" bIns="21673" rIns="21673"/>
            <a:lstStyle/>
            <a:p>
              <a:pPr algn="ctr">
                <a:lnSpc>
                  <a:spcPts val="3359"/>
                </a:lnSpc>
              </a:pPr>
            </a:p>
          </p:txBody>
        </p:sp>
      </p:grpSp>
      <p:grpSp>
        <p:nvGrpSpPr>
          <p:cNvPr name="Group 9" id="9"/>
          <p:cNvGrpSpPr/>
          <p:nvPr/>
        </p:nvGrpSpPr>
        <p:grpSpPr>
          <a:xfrm rot="5400000">
            <a:off x="17040803" y="88068"/>
            <a:ext cx="1268266" cy="3168383"/>
            <a:chOff x="0" y="0"/>
            <a:chExt cx="456090" cy="1139404"/>
          </a:xfrm>
        </p:grpSpPr>
        <p:sp>
          <p:nvSpPr>
            <p:cNvPr name="Freeform 10" id="10"/>
            <p:cNvSpPr/>
            <p:nvPr/>
          </p:nvSpPr>
          <p:spPr>
            <a:xfrm flipH="false" flipV="false" rot="0">
              <a:off x="0" y="0"/>
              <a:ext cx="456090" cy="1139404"/>
            </a:xfrm>
            <a:custGeom>
              <a:avLst/>
              <a:gdLst/>
              <a:ahLst/>
              <a:cxnLst/>
              <a:rect r="r" b="b" t="t" l="l"/>
              <a:pathLst>
                <a:path h="1139404" w="456090">
                  <a:moveTo>
                    <a:pt x="152112" y="1120335"/>
                  </a:moveTo>
                  <a:cubicBezTo>
                    <a:pt x="175495" y="1131849"/>
                    <a:pt x="202078" y="1139404"/>
                    <a:pt x="228168" y="1139404"/>
                  </a:cubicBezTo>
                  <a:cubicBezTo>
                    <a:pt x="254259" y="1139404"/>
                    <a:pt x="279365" y="1132927"/>
                    <a:pt x="302501" y="1121413"/>
                  </a:cubicBezTo>
                  <a:cubicBezTo>
                    <a:pt x="302994" y="1121054"/>
                    <a:pt x="303486" y="1121054"/>
                    <a:pt x="303978" y="1120694"/>
                  </a:cubicBezTo>
                  <a:cubicBezTo>
                    <a:pt x="390864" y="1074639"/>
                    <a:pt x="454859" y="953025"/>
                    <a:pt x="456090" y="803647"/>
                  </a:cubicBezTo>
                  <a:lnTo>
                    <a:pt x="456090" y="0"/>
                  </a:lnTo>
                  <a:lnTo>
                    <a:pt x="0" y="0"/>
                  </a:lnTo>
                  <a:lnTo>
                    <a:pt x="0" y="803051"/>
                  </a:lnTo>
                  <a:cubicBezTo>
                    <a:pt x="1231" y="953744"/>
                    <a:pt x="64241" y="1075359"/>
                    <a:pt x="152112" y="1120335"/>
                  </a:cubicBezTo>
                  <a:close/>
                </a:path>
              </a:pathLst>
            </a:custGeom>
            <a:solidFill>
              <a:srgbClr val="2D892C">
                <a:alpha val="83922"/>
              </a:srgbClr>
            </a:solidFill>
          </p:spPr>
        </p:sp>
        <p:sp>
          <p:nvSpPr>
            <p:cNvPr name="TextBox 11" id="11"/>
            <p:cNvSpPr txBox="true"/>
            <p:nvPr/>
          </p:nvSpPr>
          <p:spPr>
            <a:xfrm>
              <a:off x="0" y="-47625"/>
              <a:ext cx="456090" cy="1060029"/>
            </a:xfrm>
            <a:prstGeom prst="rect">
              <a:avLst/>
            </a:prstGeom>
          </p:spPr>
          <p:txBody>
            <a:bodyPr anchor="ctr" rtlCol="false" tIns="21673" lIns="21673" bIns="21673" rIns="21673"/>
            <a:lstStyle/>
            <a:p>
              <a:pPr algn="ctr">
                <a:lnSpc>
                  <a:spcPts val="2940"/>
                </a:lnSpc>
              </a:pPr>
            </a:p>
          </p:txBody>
        </p:sp>
      </p:grpSp>
      <p:sp>
        <p:nvSpPr>
          <p:cNvPr name="Freeform 12" id="12"/>
          <p:cNvSpPr/>
          <p:nvPr/>
        </p:nvSpPr>
        <p:spPr>
          <a:xfrm flipH="false" flipV="false" rot="0">
            <a:off x="16374726" y="8226197"/>
            <a:ext cx="3242929" cy="3242929"/>
          </a:xfrm>
          <a:custGeom>
            <a:avLst/>
            <a:gdLst/>
            <a:ahLst/>
            <a:cxnLst/>
            <a:rect r="r" b="b" t="t" l="l"/>
            <a:pathLst>
              <a:path h="3242929" w="3242929">
                <a:moveTo>
                  <a:pt x="0" y="0"/>
                </a:moveTo>
                <a:lnTo>
                  <a:pt x="3242929" y="0"/>
                </a:lnTo>
                <a:lnTo>
                  <a:pt x="3242929" y="3242929"/>
                </a:lnTo>
                <a:lnTo>
                  <a:pt x="0" y="32429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1356862" y="8815108"/>
            <a:ext cx="2713724" cy="2713724"/>
          </a:xfrm>
          <a:custGeom>
            <a:avLst/>
            <a:gdLst/>
            <a:ahLst/>
            <a:cxnLst/>
            <a:rect r="r" b="b" t="t" l="l"/>
            <a:pathLst>
              <a:path h="2713724" w="2713724">
                <a:moveTo>
                  <a:pt x="0" y="0"/>
                </a:moveTo>
                <a:lnTo>
                  <a:pt x="2713724" y="0"/>
                </a:lnTo>
                <a:lnTo>
                  <a:pt x="2713724" y="2713724"/>
                </a:lnTo>
                <a:lnTo>
                  <a:pt x="0" y="2713724"/>
                </a:lnTo>
                <a:lnTo>
                  <a:pt x="0" y="0"/>
                </a:lnTo>
                <a:close/>
              </a:path>
            </a:pathLst>
          </a:custGeom>
          <a:blipFill>
            <a:blip r:embed="rId5">
              <a:alphaModFix amt="6000"/>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10800000">
            <a:off x="-1543050" y="-436397"/>
            <a:ext cx="3086100" cy="3086100"/>
          </a:xfrm>
          <a:custGeom>
            <a:avLst/>
            <a:gdLst/>
            <a:ahLst/>
            <a:cxnLst/>
            <a:rect r="r" b="b" t="t" l="l"/>
            <a:pathLst>
              <a:path h="3086100" w="3086100">
                <a:moveTo>
                  <a:pt x="0" y="0"/>
                </a:moveTo>
                <a:lnTo>
                  <a:pt x="3086100" y="0"/>
                </a:lnTo>
                <a:lnTo>
                  <a:pt x="3086100" y="3086100"/>
                </a:lnTo>
                <a:lnTo>
                  <a:pt x="0" y="30861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5" id="15"/>
          <p:cNvSpPr txBox="true"/>
          <p:nvPr/>
        </p:nvSpPr>
        <p:spPr>
          <a:xfrm rot="0">
            <a:off x="8057722" y="1172884"/>
            <a:ext cx="2081659" cy="688975"/>
          </a:xfrm>
          <a:prstGeom prst="rect">
            <a:avLst/>
          </a:prstGeom>
        </p:spPr>
        <p:txBody>
          <a:bodyPr anchor="t" rtlCol="false" tIns="0" lIns="0" bIns="0" rIns="0">
            <a:spAutoFit/>
          </a:bodyPr>
          <a:lstStyle/>
          <a:p>
            <a:pPr algn="ctr">
              <a:lnSpc>
                <a:spcPts val="5599"/>
              </a:lnSpc>
              <a:spcBef>
                <a:spcPct val="0"/>
              </a:spcBef>
            </a:pPr>
            <a:r>
              <a:rPr lang="en-US" b="true" sz="3999" u="sng">
                <a:solidFill>
                  <a:srgbClr val="000000"/>
                </a:solidFill>
                <a:latin typeface="Inclusive Sans Bold"/>
                <a:ea typeface="Inclusive Sans Bold"/>
                <a:cs typeface="Inclusive Sans Bold"/>
                <a:sym typeface="Inclusive Sans Bold"/>
              </a:rPr>
              <a:t>Penutup</a:t>
            </a:r>
          </a:p>
        </p:txBody>
      </p:sp>
      <p:sp>
        <p:nvSpPr>
          <p:cNvPr name="TextBox 16" id="16"/>
          <p:cNvSpPr txBox="true"/>
          <p:nvPr/>
        </p:nvSpPr>
        <p:spPr>
          <a:xfrm rot="0">
            <a:off x="1822377" y="2078273"/>
            <a:ext cx="14552349" cy="1042670"/>
          </a:xfrm>
          <a:prstGeom prst="rect">
            <a:avLst/>
          </a:prstGeom>
        </p:spPr>
        <p:txBody>
          <a:bodyPr anchor="t" rtlCol="false" tIns="0" lIns="0" bIns="0" rIns="0">
            <a:spAutoFit/>
          </a:bodyPr>
          <a:lstStyle/>
          <a:p>
            <a:pPr algn="ctr">
              <a:lnSpc>
                <a:spcPts val="8319"/>
              </a:lnSpc>
            </a:pPr>
            <a:r>
              <a:rPr lang="en-US" b="true" sz="6399" spc="63">
                <a:solidFill>
                  <a:srgbClr val="2D892C"/>
                </a:solidFill>
                <a:latin typeface="Inclusive Sans Bold"/>
                <a:ea typeface="Inclusive Sans Bold"/>
                <a:cs typeface="Inclusive Sans Bold"/>
                <a:sym typeface="Inclusive Sans Bold"/>
              </a:rPr>
              <a:t>Kesimpulan</a:t>
            </a:r>
          </a:p>
        </p:txBody>
      </p:sp>
      <p:grpSp>
        <p:nvGrpSpPr>
          <p:cNvPr name="Group 17" id="17"/>
          <p:cNvGrpSpPr/>
          <p:nvPr/>
        </p:nvGrpSpPr>
        <p:grpSpPr>
          <a:xfrm rot="0">
            <a:off x="1705386" y="4072845"/>
            <a:ext cx="7024933" cy="4742263"/>
            <a:chOff x="0" y="0"/>
            <a:chExt cx="1265011" cy="853960"/>
          </a:xfrm>
        </p:grpSpPr>
        <p:sp>
          <p:nvSpPr>
            <p:cNvPr name="Freeform 18" id="18"/>
            <p:cNvSpPr/>
            <p:nvPr/>
          </p:nvSpPr>
          <p:spPr>
            <a:xfrm flipH="false" flipV="false" rot="0">
              <a:off x="0" y="0"/>
              <a:ext cx="1265011" cy="853960"/>
            </a:xfrm>
            <a:custGeom>
              <a:avLst/>
              <a:gdLst/>
              <a:ahLst/>
              <a:cxnLst/>
              <a:rect r="r" b="b" t="t" l="l"/>
              <a:pathLst>
                <a:path h="853960" w="1265011">
                  <a:moveTo>
                    <a:pt x="56205" y="0"/>
                  </a:moveTo>
                  <a:lnTo>
                    <a:pt x="1208806" y="0"/>
                  </a:lnTo>
                  <a:cubicBezTo>
                    <a:pt x="1223712" y="0"/>
                    <a:pt x="1238008" y="5922"/>
                    <a:pt x="1248549" y="16462"/>
                  </a:cubicBezTo>
                  <a:cubicBezTo>
                    <a:pt x="1259089" y="27003"/>
                    <a:pt x="1265011" y="41299"/>
                    <a:pt x="1265011" y="56205"/>
                  </a:cubicBezTo>
                  <a:lnTo>
                    <a:pt x="1265011" y="797755"/>
                  </a:lnTo>
                  <a:cubicBezTo>
                    <a:pt x="1265011" y="812662"/>
                    <a:pt x="1259089" y="826958"/>
                    <a:pt x="1248549" y="837498"/>
                  </a:cubicBezTo>
                  <a:cubicBezTo>
                    <a:pt x="1238008" y="848039"/>
                    <a:pt x="1223712" y="853960"/>
                    <a:pt x="1208806" y="853960"/>
                  </a:cubicBezTo>
                  <a:lnTo>
                    <a:pt x="56205" y="853960"/>
                  </a:lnTo>
                  <a:cubicBezTo>
                    <a:pt x="25164" y="853960"/>
                    <a:pt x="0" y="828796"/>
                    <a:pt x="0" y="797755"/>
                  </a:cubicBezTo>
                  <a:lnTo>
                    <a:pt x="0" y="56205"/>
                  </a:lnTo>
                  <a:cubicBezTo>
                    <a:pt x="0" y="41299"/>
                    <a:pt x="5922" y="27003"/>
                    <a:pt x="16462" y="16462"/>
                  </a:cubicBezTo>
                  <a:cubicBezTo>
                    <a:pt x="27003" y="5922"/>
                    <a:pt x="41299" y="0"/>
                    <a:pt x="56205" y="0"/>
                  </a:cubicBezTo>
                  <a:close/>
                </a:path>
              </a:pathLst>
            </a:custGeom>
            <a:solidFill>
              <a:srgbClr val="ECEAE3"/>
            </a:solidFill>
          </p:spPr>
        </p:sp>
        <p:sp>
          <p:nvSpPr>
            <p:cNvPr name="TextBox 19" id="19"/>
            <p:cNvSpPr txBox="true"/>
            <p:nvPr/>
          </p:nvSpPr>
          <p:spPr>
            <a:xfrm>
              <a:off x="0" y="-47625"/>
              <a:ext cx="1265011" cy="901585"/>
            </a:xfrm>
            <a:prstGeom prst="rect">
              <a:avLst/>
            </a:prstGeom>
          </p:spPr>
          <p:txBody>
            <a:bodyPr anchor="ctr" rtlCol="false" tIns="50800" lIns="50800" bIns="50800" rIns="50800"/>
            <a:lstStyle/>
            <a:p>
              <a:pPr algn="ctr">
                <a:lnSpc>
                  <a:spcPts val="2940"/>
                </a:lnSpc>
              </a:pPr>
            </a:p>
          </p:txBody>
        </p:sp>
      </p:grpSp>
      <p:sp>
        <p:nvSpPr>
          <p:cNvPr name="TextBox 20" id="20"/>
          <p:cNvSpPr txBox="true"/>
          <p:nvPr/>
        </p:nvSpPr>
        <p:spPr>
          <a:xfrm rot="0">
            <a:off x="2280140" y="4464412"/>
            <a:ext cx="6450179" cy="489857"/>
          </a:xfrm>
          <a:prstGeom prst="rect">
            <a:avLst/>
          </a:prstGeom>
        </p:spPr>
        <p:txBody>
          <a:bodyPr anchor="t" rtlCol="false" tIns="0" lIns="0" bIns="0" rIns="0">
            <a:spAutoFit/>
          </a:bodyPr>
          <a:lstStyle/>
          <a:p>
            <a:pPr algn="l">
              <a:lnSpc>
                <a:spcPts val="3975"/>
              </a:lnSpc>
              <a:spcBef>
                <a:spcPct val="0"/>
              </a:spcBef>
            </a:pPr>
            <a:r>
              <a:rPr lang="en-US" b="true" sz="2839" spc="28">
                <a:solidFill>
                  <a:srgbClr val="000000"/>
                </a:solidFill>
                <a:latin typeface="Inclusive Sans Bold"/>
                <a:ea typeface="Inclusive Sans Bold"/>
                <a:cs typeface="Inclusive Sans Bold"/>
                <a:sym typeface="Inclusive Sans Bold"/>
              </a:rPr>
              <a:t>1. Algoritma Bukan Entitas Netral</a:t>
            </a:r>
          </a:p>
        </p:txBody>
      </p:sp>
      <p:sp>
        <p:nvSpPr>
          <p:cNvPr name="TextBox 21" id="21"/>
          <p:cNvSpPr txBox="true"/>
          <p:nvPr/>
        </p:nvSpPr>
        <p:spPr>
          <a:xfrm rot="0">
            <a:off x="2219736" y="5397913"/>
            <a:ext cx="6035652" cy="3039881"/>
          </a:xfrm>
          <a:prstGeom prst="rect">
            <a:avLst/>
          </a:prstGeom>
        </p:spPr>
        <p:txBody>
          <a:bodyPr anchor="t" rtlCol="false" tIns="0" lIns="0" bIns="0" rIns="0">
            <a:spAutoFit/>
          </a:bodyPr>
          <a:lstStyle/>
          <a:p>
            <a:pPr algn="just">
              <a:lnSpc>
                <a:spcPts val="3072"/>
              </a:lnSpc>
            </a:pPr>
            <a:r>
              <a:rPr lang="en-US" sz="2194">
                <a:solidFill>
                  <a:srgbClr val="737373"/>
                </a:solidFill>
                <a:latin typeface="Inclusive Sans"/>
                <a:ea typeface="Inclusive Sans"/>
                <a:cs typeface="Inclusive Sans"/>
                <a:sym typeface="Inclusive Sans"/>
              </a:rPr>
              <a:t>Implementasi algorithmic management ojek online gagal menyeimbangkan Triple Bottom Line. Pilar People dieksploitasi lewat "ilusi fleksibilitas" &amp; sanksi sepihak, Profit dimonopoli platform melalui sistem black box, dan Planet dirugikan oleh emisi karbon akibat mobilitas tanpa arah (cruising for fares).</a:t>
            </a:r>
          </a:p>
        </p:txBody>
      </p:sp>
      <p:grpSp>
        <p:nvGrpSpPr>
          <p:cNvPr name="Group 22" id="22"/>
          <p:cNvGrpSpPr/>
          <p:nvPr/>
        </p:nvGrpSpPr>
        <p:grpSpPr>
          <a:xfrm rot="0">
            <a:off x="9466785" y="4072845"/>
            <a:ext cx="7024933" cy="4742263"/>
            <a:chOff x="0" y="0"/>
            <a:chExt cx="1265011" cy="853960"/>
          </a:xfrm>
        </p:grpSpPr>
        <p:sp>
          <p:nvSpPr>
            <p:cNvPr name="Freeform 23" id="23"/>
            <p:cNvSpPr/>
            <p:nvPr/>
          </p:nvSpPr>
          <p:spPr>
            <a:xfrm flipH="false" flipV="false" rot="0">
              <a:off x="0" y="0"/>
              <a:ext cx="1265011" cy="853960"/>
            </a:xfrm>
            <a:custGeom>
              <a:avLst/>
              <a:gdLst/>
              <a:ahLst/>
              <a:cxnLst/>
              <a:rect r="r" b="b" t="t" l="l"/>
              <a:pathLst>
                <a:path h="853960" w="1265011">
                  <a:moveTo>
                    <a:pt x="56205" y="0"/>
                  </a:moveTo>
                  <a:lnTo>
                    <a:pt x="1208806" y="0"/>
                  </a:lnTo>
                  <a:cubicBezTo>
                    <a:pt x="1223712" y="0"/>
                    <a:pt x="1238008" y="5922"/>
                    <a:pt x="1248549" y="16462"/>
                  </a:cubicBezTo>
                  <a:cubicBezTo>
                    <a:pt x="1259089" y="27003"/>
                    <a:pt x="1265011" y="41299"/>
                    <a:pt x="1265011" y="56205"/>
                  </a:cubicBezTo>
                  <a:lnTo>
                    <a:pt x="1265011" y="797755"/>
                  </a:lnTo>
                  <a:cubicBezTo>
                    <a:pt x="1265011" y="812662"/>
                    <a:pt x="1259089" y="826958"/>
                    <a:pt x="1248549" y="837498"/>
                  </a:cubicBezTo>
                  <a:cubicBezTo>
                    <a:pt x="1238008" y="848039"/>
                    <a:pt x="1223712" y="853960"/>
                    <a:pt x="1208806" y="853960"/>
                  </a:cubicBezTo>
                  <a:lnTo>
                    <a:pt x="56205" y="853960"/>
                  </a:lnTo>
                  <a:cubicBezTo>
                    <a:pt x="25164" y="853960"/>
                    <a:pt x="0" y="828796"/>
                    <a:pt x="0" y="797755"/>
                  </a:cubicBezTo>
                  <a:lnTo>
                    <a:pt x="0" y="56205"/>
                  </a:lnTo>
                  <a:cubicBezTo>
                    <a:pt x="0" y="41299"/>
                    <a:pt x="5922" y="27003"/>
                    <a:pt x="16462" y="16462"/>
                  </a:cubicBezTo>
                  <a:cubicBezTo>
                    <a:pt x="27003" y="5922"/>
                    <a:pt x="41299" y="0"/>
                    <a:pt x="56205" y="0"/>
                  </a:cubicBezTo>
                  <a:close/>
                </a:path>
              </a:pathLst>
            </a:custGeom>
            <a:solidFill>
              <a:srgbClr val="ECEAE3"/>
            </a:solidFill>
          </p:spPr>
        </p:sp>
        <p:sp>
          <p:nvSpPr>
            <p:cNvPr name="TextBox 24" id="24"/>
            <p:cNvSpPr txBox="true"/>
            <p:nvPr/>
          </p:nvSpPr>
          <p:spPr>
            <a:xfrm>
              <a:off x="0" y="-47625"/>
              <a:ext cx="1265011" cy="901585"/>
            </a:xfrm>
            <a:prstGeom prst="rect">
              <a:avLst/>
            </a:prstGeom>
          </p:spPr>
          <p:txBody>
            <a:bodyPr anchor="ctr" rtlCol="false" tIns="50800" lIns="50800" bIns="50800" rIns="50800"/>
            <a:lstStyle/>
            <a:p>
              <a:pPr algn="ctr">
                <a:lnSpc>
                  <a:spcPts val="2940"/>
                </a:lnSpc>
              </a:pPr>
            </a:p>
          </p:txBody>
        </p:sp>
      </p:grpSp>
      <p:sp>
        <p:nvSpPr>
          <p:cNvPr name="TextBox 25" id="25"/>
          <p:cNvSpPr txBox="true"/>
          <p:nvPr/>
        </p:nvSpPr>
        <p:spPr>
          <a:xfrm rot="0">
            <a:off x="9961425" y="4464412"/>
            <a:ext cx="5427657" cy="489839"/>
          </a:xfrm>
          <a:prstGeom prst="rect">
            <a:avLst/>
          </a:prstGeom>
        </p:spPr>
        <p:txBody>
          <a:bodyPr anchor="t" rtlCol="false" tIns="0" lIns="0" bIns="0" rIns="0">
            <a:spAutoFit/>
          </a:bodyPr>
          <a:lstStyle/>
          <a:p>
            <a:pPr algn="l">
              <a:lnSpc>
                <a:spcPts val="3976"/>
              </a:lnSpc>
              <a:spcBef>
                <a:spcPct val="0"/>
              </a:spcBef>
            </a:pPr>
            <a:r>
              <a:rPr lang="en-US" b="true" sz="2840" spc="28">
                <a:solidFill>
                  <a:srgbClr val="000000"/>
                </a:solidFill>
                <a:latin typeface="Inclusive Sans Bold"/>
                <a:ea typeface="Inclusive Sans Bold"/>
                <a:cs typeface="Inclusive Sans Bold"/>
                <a:sym typeface="Inclusive Sans Bold"/>
              </a:rPr>
              <a:t>2. Darurat Etika Profesi TI</a:t>
            </a:r>
          </a:p>
        </p:txBody>
      </p:sp>
      <p:sp>
        <p:nvSpPr>
          <p:cNvPr name="TextBox 26" id="26"/>
          <p:cNvSpPr txBox="true"/>
          <p:nvPr/>
        </p:nvSpPr>
        <p:spPr>
          <a:xfrm rot="0">
            <a:off x="9921905" y="5407438"/>
            <a:ext cx="6188364" cy="2453575"/>
          </a:xfrm>
          <a:prstGeom prst="rect">
            <a:avLst/>
          </a:prstGeom>
        </p:spPr>
        <p:txBody>
          <a:bodyPr anchor="t" rtlCol="false" tIns="0" lIns="0" bIns="0" rIns="0">
            <a:spAutoFit/>
          </a:bodyPr>
          <a:lstStyle/>
          <a:p>
            <a:pPr algn="just">
              <a:lnSpc>
                <a:spcPts val="2838"/>
              </a:lnSpc>
            </a:pPr>
            <a:r>
              <a:rPr lang="en-US" sz="2027">
                <a:solidFill>
                  <a:srgbClr val="737373"/>
                </a:solidFill>
                <a:latin typeface="Inclusive Sans"/>
                <a:ea typeface="Inclusive Sans"/>
                <a:cs typeface="Inclusive Sans"/>
                <a:sym typeface="Inclusive Sans"/>
              </a:rPr>
              <a:t>Kegagalan sistem dalam melindungi mitra merupakan pelanggaran prinsip Avoid Harm (ACM &amp; IEEE). Layaknya tragedi Boeing 737 MAX, sistem otonom tanpa kendali manusia (human-in-the-loop) dan tanpa transparansi perlahan menciptakan "tragedi kemanusiaan" berupa stres kronis dan kemiskinan struktural bagi gig worker.</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12888" t="0" r="-12888" b="0"/>
            </a:stretch>
          </a:blipFill>
        </p:spPr>
      </p:sp>
      <p:grpSp>
        <p:nvGrpSpPr>
          <p:cNvPr name="Group 3" id="3"/>
          <p:cNvGrpSpPr/>
          <p:nvPr/>
        </p:nvGrpSpPr>
        <p:grpSpPr>
          <a:xfrm rot="5400000">
            <a:off x="15521828" y="-1061985"/>
            <a:ext cx="1997154" cy="3888106"/>
            <a:chOff x="0" y="0"/>
            <a:chExt cx="585263" cy="1139404"/>
          </a:xfrm>
        </p:grpSpPr>
        <p:sp>
          <p:nvSpPr>
            <p:cNvPr name="Freeform 4" id="4"/>
            <p:cNvSpPr/>
            <p:nvPr/>
          </p:nvSpPr>
          <p:spPr>
            <a:xfrm flipH="false" flipV="false" rot="0">
              <a:off x="0" y="0"/>
              <a:ext cx="585263" cy="1139404"/>
            </a:xfrm>
            <a:custGeom>
              <a:avLst/>
              <a:gdLst/>
              <a:ahLst/>
              <a:cxnLst/>
              <a:rect r="r" b="b" t="t" l="l"/>
              <a:pathLst>
                <a:path h="1139404" w="585263">
                  <a:moveTo>
                    <a:pt x="195193" y="1120335"/>
                  </a:moveTo>
                  <a:cubicBezTo>
                    <a:pt x="225198" y="1131849"/>
                    <a:pt x="259310" y="1139404"/>
                    <a:pt x="292789" y="1139404"/>
                  </a:cubicBezTo>
                  <a:cubicBezTo>
                    <a:pt x="326269" y="1139404"/>
                    <a:pt x="358486" y="1132927"/>
                    <a:pt x="388175" y="1121413"/>
                  </a:cubicBezTo>
                  <a:cubicBezTo>
                    <a:pt x="388807" y="1121054"/>
                    <a:pt x="389438" y="1121054"/>
                    <a:pt x="390070" y="1120694"/>
                  </a:cubicBezTo>
                  <a:cubicBezTo>
                    <a:pt x="501564" y="1074639"/>
                    <a:pt x="583684" y="953025"/>
                    <a:pt x="585263" y="803647"/>
                  </a:cubicBezTo>
                  <a:lnTo>
                    <a:pt x="585263" y="0"/>
                  </a:lnTo>
                  <a:lnTo>
                    <a:pt x="0" y="0"/>
                  </a:lnTo>
                  <a:lnTo>
                    <a:pt x="0" y="803051"/>
                  </a:lnTo>
                  <a:cubicBezTo>
                    <a:pt x="1579" y="953744"/>
                    <a:pt x="82436" y="1075359"/>
                    <a:pt x="195193" y="1120335"/>
                  </a:cubicBezTo>
                  <a:close/>
                </a:path>
              </a:pathLst>
            </a:custGeom>
            <a:solidFill>
              <a:srgbClr val="153930"/>
            </a:solidFill>
          </p:spPr>
        </p:sp>
        <p:sp>
          <p:nvSpPr>
            <p:cNvPr name="TextBox 5" id="5"/>
            <p:cNvSpPr txBox="true"/>
            <p:nvPr/>
          </p:nvSpPr>
          <p:spPr>
            <a:xfrm>
              <a:off x="0" y="-47625"/>
              <a:ext cx="585263" cy="1060029"/>
            </a:xfrm>
            <a:prstGeom prst="rect">
              <a:avLst/>
            </a:prstGeom>
          </p:spPr>
          <p:txBody>
            <a:bodyPr anchor="ctr" rtlCol="false" tIns="21673" lIns="21673" bIns="21673" rIns="21673"/>
            <a:lstStyle/>
            <a:p>
              <a:pPr algn="ctr">
                <a:lnSpc>
                  <a:spcPts val="2940"/>
                </a:lnSpc>
              </a:pPr>
            </a:p>
          </p:txBody>
        </p:sp>
      </p:grpSp>
      <p:grpSp>
        <p:nvGrpSpPr>
          <p:cNvPr name="Group 6" id="6"/>
          <p:cNvGrpSpPr/>
          <p:nvPr/>
        </p:nvGrpSpPr>
        <p:grpSpPr>
          <a:xfrm rot="5400000">
            <a:off x="15226714" y="-906701"/>
            <a:ext cx="1580383" cy="158038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892C"/>
            </a:solidFill>
          </p:spPr>
        </p:sp>
        <p:sp>
          <p:nvSpPr>
            <p:cNvPr name="TextBox 8" id="8"/>
            <p:cNvSpPr txBox="true"/>
            <p:nvPr/>
          </p:nvSpPr>
          <p:spPr>
            <a:xfrm>
              <a:off x="76200" y="19050"/>
              <a:ext cx="660400" cy="717550"/>
            </a:xfrm>
            <a:prstGeom prst="rect">
              <a:avLst/>
            </a:prstGeom>
          </p:spPr>
          <p:txBody>
            <a:bodyPr anchor="ctr" rtlCol="false" tIns="21673" lIns="21673" bIns="21673" rIns="21673"/>
            <a:lstStyle/>
            <a:p>
              <a:pPr algn="ctr">
                <a:lnSpc>
                  <a:spcPts val="3359"/>
                </a:lnSpc>
              </a:pPr>
            </a:p>
          </p:txBody>
        </p:sp>
      </p:grpSp>
      <p:grpSp>
        <p:nvGrpSpPr>
          <p:cNvPr name="Group 9" id="9"/>
          <p:cNvGrpSpPr/>
          <p:nvPr/>
        </p:nvGrpSpPr>
        <p:grpSpPr>
          <a:xfrm rot="5400000">
            <a:off x="17040803" y="88068"/>
            <a:ext cx="1268266" cy="3168383"/>
            <a:chOff x="0" y="0"/>
            <a:chExt cx="456090" cy="1139404"/>
          </a:xfrm>
        </p:grpSpPr>
        <p:sp>
          <p:nvSpPr>
            <p:cNvPr name="Freeform 10" id="10"/>
            <p:cNvSpPr/>
            <p:nvPr/>
          </p:nvSpPr>
          <p:spPr>
            <a:xfrm flipH="false" flipV="false" rot="0">
              <a:off x="0" y="0"/>
              <a:ext cx="456090" cy="1139404"/>
            </a:xfrm>
            <a:custGeom>
              <a:avLst/>
              <a:gdLst/>
              <a:ahLst/>
              <a:cxnLst/>
              <a:rect r="r" b="b" t="t" l="l"/>
              <a:pathLst>
                <a:path h="1139404" w="456090">
                  <a:moveTo>
                    <a:pt x="152112" y="1120335"/>
                  </a:moveTo>
                  <a:cubicBezTo>
                    <a:pt x="175495" y="1131849"/>
                    <a:pt x="202078" y="1139404"/>
                    <a:pt x="228168" y="1139404"/>
                  </a:cubicBezTo>
                  <a:cubicBezTo>
                    <a:pt x="254259" y="1139404"/>
                    <a:pt x="279365" y="1132927"/>
                    <a:pt x="302501" y="1121413"/>
                  </a:cubicBezTo>
                  <a:cubicBezTo>
                    <a:pt x="302994" y="1121054"/>
                    <a:pt x="303486" y="1121054"/>
                    <a:pt x="303978" y="1120694"/>
                  </a:cubicBezTo>
                  <a:cubicBezTo>
                    <a:pt x="390864" y="1074639"/>
                    <a:pt x="454859" y="953025"/>
                    <a:pt x="456090" y="803647"/>
                  </a:cubicBezTo>
                  <a:lnTo>
                    <a:pt x="456090" y="0"/>
                  </a:lnTo>
                  <a:lnTo>
                    <a:pt x="0" y="0"/>
                  </a:lnTo>
                  <a:lnTo>
                    <a:pt x="0" y="803051"/>
                  </a:lnTo>
                  <a:cubicBezTo>
                    <a:pt x="1231" y="953744"/>
                    <a:pt x="64241" y="1075359"/>
                    <a:pt x="152112" y="1120335"/>
                  </a:cubicBezTo>
                  <a:close/>
                </a:path>
              </a:pathLst>
            </a:custGeom>
            <a:solidFill>
              <a:srgbClr val="2D892C">
                <a:alpha val="83922"/>
              </a:srgbClr>
            </a:solidFill>
          </p:spPr>
        </p:sp>
        <p:sp>
          <p:nvSpPr>
            <p:cNvPr name="TextBox 11" id="11"/>
            <p:cNvSpPr txBox="true"/>
            <p:nvPr/>
          </p:nvSpPr>
          <p:spPr>
            <a:xfrm>
              <a:off x="0" y="-47625"/>
              <a:ext cx="456090" cy="1060029"/>
            </a:xfrm>
            <a:prstGeom prst="rect">
              <a:avLst/>
            </a:prstGeom>
          </p:spPr>
          <p:txBody>
            <a:bodyPr anchor="ctr" rtlCol="false" tIns="21673" lIns="21673" bIns="21673" rIns="21673"/>
            <a:lstStyle/>
            <a:p>
              <a:pPr algn="ctr">
                <a:lnSpc>
                  <a:spcPts val="2940"/>
                </a:lnSpc>
              </a:pPr>
            </a:p>
          </p:txBody>
        </p:sp>
      </p:grpSp>
      <p:sp>
        <p:nvSpPr>
          <p:cNvPr name="Freeform 12" id="12"/>
          <p:cNvSpPr/>
          <p:nvPr/>
        </p:nvSpPr>
        <p:spPr>
          <a:xfrm flipH="false" flipV="false" rot="0">
            <a:off x="15815031" y="7666502"/>
            <a:ext cx="3802624" cy="3802624"/>
          </a:xfrm>
          <a:custGeom>
            <a:avLst/>
            <a:gdLst/>
            <a:ahLst/>
            <a:cxnLst/>
            <a:rect r="r" b="b" t="t" l="l"/>
            <a:pathLst>
              <a:path h="3802624" w="3802624">
                <a:moveTo>
                  <a:pt x="0" y="0"/>
                </a:moveTo>
                <a:lnTo>
                  <a:pt x="3802624" y="0"/>
                </a:lnTo>
                <a:lnTo>
                  <a:pt x="3802624" y="3802624"/>
                </a:lnTo>
                <a:lnTo>
                  <a:pt x="0" y="38026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1356862" y="8815108"/>
            <a:ext cx="2713724" cy="2713724"/>
          </a:xfrm>
          <a:custGeom>
            <a:avLst/>
            <a:gdLst/>
            <a:ahLst/>
            <a:cxnLst/>
            <a:rect r="r" b="b" t="t" l="l"/>
            <a:pathLst>
              <a:path h="2713724" w="2713724">
                <a:moveTo>
                  <a:pt x="0" y="0"/>
                </a:moveTo>
                <a:lnTo>
                  <a:pt x="2713724" y="0"/>
                </a:lnTo>
                <a:lnTo>
                  <a:pt x="2713724" y="2713724"/>
                </a:lnTo>
                <a:lnTo>
                  <a:pt x="0" y="2713724"/>
                </a:lnTo>
                <a:lnTo>
                  <a:pt x="0" y="0"/>
                </a:lnTo>
                <a:close/>
              </a:path>
            </a:pathLst>
          </a:custGeom>
          <a:blipFill>
            <a:blip r:embed="rId5">
              <a:alphaModFix amt="6000"/>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10800000">
            <a:off x="-1543050" y="-436397"/>
            <a:ext cx="3086100" cy="3086100"/>
          </a:xfrm>
          <a:custGeom>
            <a:avLst/>
            <a:gdLst/>
            <a:ahLst/>
            <a:cxnLst/>
            <a:rect r="r" b="b" t="t" l="l"/>
            <a:pathLst>
              <a:path h="3086100" w="3086100">
                <a:moveTo>
                  <a:pt x="0" y="0"/>
                </a:moveTo>
                <a:lnTo>
                  <a:pt x="3086100" y="0"/>
                </a:lnTo>
                <a:lnTo>
                  <a:pt x="3086100" y="3086100"/>
                </a:lnTo>
                <a:lnTo>
                  <a:pt x="0" y="30861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5" id="15"/>
          <p:cNvSpPr txBox="true"/>
          <p:nvPr/>
        </p:nvSpPr>
        <p:spPr>
          <a:xfrm rot="0">
            <a:off x="8057722" y="1172884"/>
            <a:ext cx="2081659" cy="688975"/>
          </a:xfrm>
          <a:prstGeom prst="rect">
            <a:avLst/>
          </a:prstGeom>
        </p:spPr>
        <p:txBody>
          <a:bodyPr anchor="t" rtlCol="false" tIns="0" lIns="0" bIns="0" rIns="0">
            <a:spAutoFit/>
          </a:bodyPr>
          <a:lstStyle/>
          <a:p>
            <a:pPr algn="ctr">
              <a:lnSpc>
                <a:spcPts val="5599"/>
              </a:lnSpc>
              <a:spcBef>
                <a:spcPct val="0"/>
              </a:spcBef>
            </a:pPr>
            <a:r>
              <a:rPr lang="en-US" b="true" sz="3999" u="sng">
                <a:solidFill>
                  <a:srgbClr val="000000"/>
                </a:solidFill>
                <a:latin typeface="Inclusive Sans Bold"/>
                <a:ea typeface="Inclusive Sans Bold"/>
                <a:cs typeface="Inclusive Sans Bold"/>
                <a:sym typeface="Inclusive Sans Bold"/>
              </a:rPr>
              <a:t>Penutup</a:t>
            </a:r>
          </a:p>
        </p:txBody>
      </p:sp>
      <p:sp>
        <p:nvSpPr>
          <p:cNvPr name="TextBox 16" id="16"/>
          <p:cNvSpPr txBox="true"/>
          <p:nvPr/>
        </p:nvSpPr>
        <p:spPr>
          <a:xfrm rot="0">
            <a:off x="1822377" y="2078273"/>
            <a:ext cx="14552349" cy="1042670"/>
          </a:xfrm>
          <a:prstGeom prst="rect">
            <a:avLst/>
          </a:prstGeom>
        </p:spPr>
        <p:txBody>
          <a:bodyPr anchor="t" rtlCol="false" tIns="0" lIns="0" bIns="0" rIns="0">
            <a:spAutoFit/>
          </a:bodyPr>
          <a:lstStyle/>
          <a:p>
            <a:pPr algn="ctr">
              <a:lnSpc>
                <a:spcPts val="8319"/>
              </a:lnSpc>
            </a:pPr>
            <a:r>
              <a:rPr lang="en-US" b="true" sz="6399" spc="63">
                <a:solidFill>
                  <a:srgbClr val="2D892C"/>
                </a:solidFill>
                <a:latin typeface="Inclusive Sans Bold"/>
                <a:ea typeface="Inclusive Sans Bold"/>
                <a:cs typeface="Inclusive Sans Bold"/>
                <a:sym typeface="Inclusive Sans Bold"/>
              </a:rPr>
              <a:t>Saran</a:t>
            </a:r>
          </a:p>
        </p:txBody>
      </p:sp>
      <p:sp>
        <p:nvSpPr>
          <p:cNvPr name="Freeform 17" id="17"/>
          <p:cNvSpPr/>
          <p:nvPr/>
        </p:nvSpPr>
        <p:spPr>
          <a:xfrm flipH="false" flipV="false" rot="0">
            <a:off x="2829961" y="3500459"/>
            <a:ext cx="700047" cy="700047"/>
          </a:xfrm>
          <a:custGeom>
            <a:avLst/>
            <a:gdLst/>
            <a:ahLst/>
            <a:cxnLst/>
            <a:rect r="r" b="b" t="t" l="l"/>
            <a:pathLst>
              <a:path h="700047" w="700047">
                <a:moveTo>
                  <a:pt x="0" y="0"/>
                </a:moveTo>
                <a:lnTo>
                  <a:pt x="700047" y="0"/>
                </a:lnTo>
                <a:lnTo>
                  <a:pt x="700047" y="700047"/>
                </a:lnTo>
                <a:lnTo>
                  <a:pt x="0" y="70004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8" id="18"/>
          <p:cNvSpPr/>
          <p:nvPr/>
        </p:nvSpPr>
        <p:spPr>
          <a:xfrm flipH="false" flipV="false" rot="0">
            <a:off x="2842114" y="8327641"/>
            <a:ext cx="700047" cy="700047"/>
          </a:xfrm>
          <a:custGeom>
            <a:avLst/>
            <a:gdLst/>
            <a:ahLst/>
            <a:cxnLst/>
            <a:rect r="r" b="b" t="t" l="l"/>
            <a:pathLst>
              <a:path h="700047" w="700047">
                <a:moveTo>
                  <a:pt x="0" y="0"/>
                </a:moveTo>
                <a:lnTo>
                  <a:pt x="700047" y="0"/>
                </a:lnTo>
                <a:lnTo>
                  <a:pt x="700047" y="700047"/>
                </a:lnTo>
                <a:lnTo>
                  <a:pt x="0" y="70004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9" id="19"/>
          <p:cNvSpPr/>
          <p:nvPr/>
        </p:nvSpPr>
        <p:spPr>
          <a:xfrm flipH="false" flipV="false" rot="0">
            <a:off x="2829961" y="5197302"/>
            <a:ext cx="700047" cy="700047"/>
          </a:xfrm>
          <a:custGeom>
            <a:avLst/>
            <a:gdLst/>
            <a:ahLst/>
            <a:cxnLst/>
            <a:rect r="r" b="b" t="t" l="l"/>
            <a:pathLst>
              <a:path h="700047" w="700047">
                <a:moveTo>
                  <a:pt x="0" y="0"/>
                </a:moveTo>
                <a:lnTo>
                  <a:pt x="700047" y="0"/>
                </a:lnTo>
                <a:lnTo>
                  <a:pt x="700047" y="700047"/>
                </a:lnTo>
                <a:lnTo>
                  <a:pt x="0" y="70004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0" id="20"/>
          <p:cNvSpPr/>
          <p:nvPr/>
        </p:nvSpPr>
        <p:spPr>
          <a:xfrm flipH="false" flipV="false" rot="0">
            <a:off x="2829961" y="6749841"/>
            <a:ext cx="700047" cy="700047"/>
          </a:xfrm>
          <a:custGeom>
            <a:avLst/>
            <a:gdLst/>
            <a:ahLst/>
            <a:cxnLst/>
            <a:rect r="r" b="b" t="t" l="l"/>
            <a:pathLst>
              <a:path h="700047" w="700047">
                <a:moveTo>
                  <a:pt x="0" y="0"/>
                </a:moveTo>
                <a:lnTo>
                  <a:pt x="700047" y="0"/>
                </a:lnTo>
                <a:lnTo>
                  <a:pt x="700047" y="700047"/>
                </a:lnTo>
                <a:lnTo>
                  <a:pt x="0" y="70004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21" id="21"/>
          <p:cNvSpPr txBox="true"/>
          <p:nvPr/>
        </p:nvSpPr>
        <p:spPr>
          <a:xfrm rot="0">
            <a:off x="3816298" y="3454757"/>
            <a:ext cx="6037663" cy="415290"/>
          </a:xfrm>
          <a:prstGeom prst="rect">
            <a:avLst/>
          </a:prstGeom>
        </p:spPr>
        <p:txBody>
          <a:bodyPr anchor="t" rtlCol="false" tIns="0" lIns="0" bIns="0" rIns="0">
            <a:spAutoFit/>
          </a:bodyPr>
          <a:lstStyle/>
          <a:p>
            <a:pPr algn="l">
              <a:lnSpc>
                <a:spcPts val="3359"/>
              </a:lnSpc>
              <a:spcBef>
                <a:spcPct val="0"/>
              </a:spcBef>
            </a:pPr>
            <a:r>
              <a:rPr lang="en-US" b="true" sz="2400" spc="24">
                <a:solidFill>
                  <a:srgbClr val="000000"/>
                </a:solidFill>
                <a:latin typeface="Inclusive Sans Bold"/>
                <a:ea typeface="Inclusive Sans Bold"/>
                <a:cs typeface="Inclusive Sans Bold"/>
                <a:sym typeface="Inclusive Sans Bold"/>
              </a:rPr>
              <a:t>Pe</a:t>
            </a:r>
            <a:r>
              <a:rPr lang="en-US" b="true" sz="2400" spc="24">
                <a:solidFill>
                  <a:srgbClr val="000000"/>
                </a:solidFill>
                <a:latin typeface="Inclusive Sans Bold"/>
                <a:ea typeface="Inclusive Sans Bold"/>
                <a:cs typeface="Inclusive Sans Bold"/>
                <a:sym typeface="Inclusive Sans Bold"/>
              </a:rPr>
              <a:t>nerapan Human-in-the-Loop (HITL)</a:t>
            </a:r>
          </a:p>
        </p:txBody>
      </p:sp>
      <p:sp>
        <p:nvSpPr>
          <p:cNvPr name="TextBox 22" id="22"/>
          <p:cNvSpPr txBox="true"/>
          <p:nvPr/>
        </p:nvSpPr>
        <p:spPr>
          <a:xfrm rot="0">
            <a:off x="3828451" y="4003397"/>
            <a:ext cx="11398264" cy="737235"/>
          </a:xfrm>
          <a:prstGeom prst="rect">
            <a:avLst/>
          </a:prstGeom>
        </p:spPr>
        <p:txBody>
          <a:bodyPr anchor="t" rtlCol="false" tIns="0" lIns="0" bIns="0" rIns="0">
            <a:spAutoFit/>
          </a:bodyPr>
          <a:lstStyle/>
          <a:p>
            <a:pPr algn="l">
              <a:lnSpc>
                <a:spcPts val="2940"/>
              </a:lnSpc>
            </a:pPr>
            <a:r>
              <a:rPr lang="en-US" sz="2100">
                <a:solidFill>
                  <a:srgbClr val="545454"/>
                </a:solidFill>
                <a:latin typeface="Inclusive Sans"/>
                <a:ea typeface="Inclusive Sans"/>
                <a:cs typeface="Inclusive Sans"/>
                <a:sym typeface="Inclusive Sans"/>
              </a:rPr>
              <a:t>Wajibkan verifikasi manusia (bukan sekadar mesin otomatis) dalam keputusan krusial seperti suspend permanen untuk menjamin keadilan</a:t>
            </a:r>
          </a:p>
        </p:txBody>
      </p:sp>
      <p:sp>
        <p:nvSpPr>
          <p:cNvPr name="TextBox 23" id="23"/>
          <p:cNvSpPr txBox="true"/>
          <p:nvPr/>
        </p:nvSpPr>
        <p:spPr>
          <a:xfrm rot="0">
            <a:off x="3828451" y="8281939"/>
            <a:ext cx="4877766" cy="415290"/>
          </a:xfrm>
          <a:prstGeom prst="rect">
            <a:avLst/>
          </a:prstGeom>
        </p:spPr>
        <p:txBody>
          <a:bodyPr anchor="t" rtlCol="false" tIns="0" lIns="0" bIns="0" rIns="0">
            <a:spAutoFit/>
          </a:bodyPr>
          <a:lstStyle/>
          <a:p>
            <a:pPr algn="l">
              <a:lnSpc>
                <a:spcPts val="3359"/>
              </a:lnSpc>
              <a:spcBef>
                <a:spcPct val="0"/>
              </a:spcBef>
            </a:pPr>
            <a:r>
              <a:rPr lang="en-US" b="true" sz="2400" spc="24">
                <a:solidFill>
                  <a:srgbClr val="000000"/>
                </a:solidFill>
                <a:latin typeface="Inclusive Sans Bold"/>
                <a:ea typeface="Inclusive Sans Bold"/>
                <a:cs typeface="Inclusive Sans Bold"/>
                <a:sym typeface="Inclusive Sans Bold"/>
              </a:rPr>
              <a:t>Pendekatan Green Computing</a:t>
            </a:r>
          </a:p>
        </p:txBody>
      </p:sp>
      <p:sp>
        <p:nvSpPr>
          <p:cNvPr name="TextBox 24" id="24"/>
          <p:cNvSpPr txBox="true"/>
          <p:nvPr/>
        </p:nvSpPr>
        <p:spPr>
          <a:xfrm rot="0">
            <a:off x="3828451" y="8830579"/>
            <a:ext cx="11398264" cy="737235"/>
          </a:xfrm>
          <a:prstGeom prst="rect">
            <a:avLst/>
          </a:prstGeom>
        </p:spPr>
        <p:txBody>
          <a:bodyPr anchor="t" rtlCol="false" tIns="0" lIns="0" bIns="0" rIns="0">
            <a:spAutoFit/>
          </a:bodyPr>
          <a:lstStyle/>
          <a:p>
            <a:pPr algn="l">
              <a:lnSpc>
                <a:spcPts val="2940"/>
              </a:lnSpc>
            </a:pPr>
            <a:r>
              <a:rPr lang="en-US" sz="2100">
                <a:solidFill>
                  <a:srgbClr val="545454"/>
                </a:solidFill>
                <a:latin typeface="Inclusive Sans"/>
                <a:ea typeface="Inclusive Sans"/>
                <a:cs typeface="Inclusive Sans"/>
                <a:sym typeface="Inclusive Sans"/>
              </a:rPr>
              <a:t>Optimalkan efisiensi algoritma pemetaan (routing) guna mengurangi mobilitas driver yang mencari orderan tanpa arah, sehingga menekan jejak emisi karbon.</a:t>
            </a:r>
          </a:p>
        </p:txBody>
      </p:sp>
      <p:sp>
        <p:nvSpPr>
          <p:cNvPr name="TextBox 25" id="25"/>
          <p:cNvSpPr txBox="true"/>
          <p:nvPr/>
        </p:nvSpPr>
        <p:spPr>
          <a:xfrm rot="0">
            <a:off x="3816298" y="5014936"/>
            <a:ext cx="7663027" cy="415290"/>
          </a:xfrm>
          <a:prstGeom prst="rect">
            <a:avLst/>
          </a:prstGeom>
        </p:spPr>
        <p:txBody>
          <a:bodyPr anchor="t" rtlCol="false" tIns="0" lIns="0" bIns="0" rIns="0">
            <a:spAutoFit/>
          </a:bodyPr>
          <a:lstStyle/>
          <a:p>
            <a:pPr algn="l">
              <a:lnSpc>
                <a:spcPts val="3359"/>
              </a:lnSpc>
              <a:spcBef>
                <a:spcPct val="0"/>
              </a:spcBef>
            </a:pPr>
            <a:r>
              <a:rPr lang="en-US" b="true" sz="2400" spc="24">
                <a:solidFill>
                  <a:srgbClr val="000000"/>
                </a:solidFill>
                <a:latin typeface="Inclusive Sans Bold"/>
                <a:ea typeface="Inclusive Sans Bold"/>
                <a:cs typeface="Inclusive Sans Bold"/>
                <a:sym typeface="Inclusive Sans Bold"/>
              </a:rPr>
              <a:t>Transparansi Algoritma (Responsible Disclosure)</a:t>
            </a:r>
          </a:p>
        </p:txBody>
      </p:sp>
      <p:sp>
        <p:nvSpPr>
          <p:cNvPr name="TextBox 26" id="26"/>
          <p:cNvSpPr txBox="true"/>
          <p:nvPr/>
        </p:nvSpPr>
        <p:spPr>
          <a:xfrm rot="0">
            <a:off x="3816298" y="5563576"/>
            <a:ext cx="11410417" cy="737235"/>
          </a:xfrm>
          <a:prstGeom prst="rect">
            <a:avLst/>
          </a:prstGeom>
        </p:spPr>
        <p:txBody>
          <a:bodyPr anchor="t" rtlCol="false" tIns="0" lIns="0" bIns="0" rIns="0">
            <a:spAutoFit/>
          </a:bodyPr>
          <a:lstStyle/>
          <a:p>
            <a:pPr algn="just">
              <a:lnSpc>
                <a:spcPts val="2940"/>
              </a:lnSpc>
            </a:pPr>
            <a:r>
              <a:rPr lang="en-US" sz="2100">
                <a:solidFill>
                  <a:srgbClr val="545454"/>
                </a:solidFill>
                <a:latin typeface="Inclusive Sans"/>
                <a:ea typeface="Inclusive Sans"/>
                <a:cs typeface="Inclusive Sans"/>
                <a:sym typeface="Inclusive Sans"/>
              </a:rPr>
              <a:t>Platform harus membuka "kotak hitam" sistem pembagian order dan dynamic pricing agar mitra memiliki kepastian ekonomi yang rasional</a:t>
            </a:r>
          </a:p>
        </p:txBody>
      </p:sp>
      <p:sp>
        <p:nvSpPr>
          <p:cNvPr name="TextBox 27" id="27"/>
          <p:cNvSpPr txBox="true"/>
          <p:nvPr/>
        </p:nvSpPr>
        <p:spPr>
          <a:xfrm rot="0">
            <a:off x="3816298" y="6567475"/>
            <a:ext cx="6037663" cy="415290"/>
          </a:xfrm>
          <a:prstGeom prst="rect">
            <a:avLst/>
          </a:prstGeom>
        </p:spPr>
        <p:txBody>
          <a:bodyPr anchor="t" rtlCol="false" tIns="0" lIns="0" bIns="0" rIns="0">
            <a:spAutoFit/>
          </a:bodyPr>
          <a:lstStyle/>
          <a:p>
            <a:pPr algn="l">
              <a:lnSpc>
                <a:spcPts val="3359"/>
              </a:lnSpc>
              <a:spcBef>
                <a:spcPct val="0"/>
              </a:spcBef>
            </a:pPr>
            <a:r>
              <a:rPr lang="en-US" b="true" sz="2400" spc="24">
                <a:solidFill>
                  <a:srgbClr val="000000"/>
                </a:solidFill>
                <a:latin typeface="Inclusive Sans Bold"/>
                <a:ea typeface="Inclusive Sans Bold"/>
                <a:cs typeface="Inclusive Sans Bold"/>
                <a:sym typeface="Inclusive Sans Bold"/>
              </a:rPr>
              <a:t>Ref</a:t>
            </a:r>
            <a:r>
              <a:rPr lang="en-US" b="true" sz="2400" spc="24">
                <a:solidFill>
                  <a:srgbClr val="000000"/>
                </a:solidFill>
                <a:latin typeface="Inclusive Sans Bold"/>
                <a:ea typeface="Inclusive Sans Bold"/>
                <a:cs typeface="Inclusive Sans Bold"/>
                <a:sym typeface="Inclusive Sans Bold"/>
              </a:rPr>
              <a:t>ormasi Regulasi &amp; Jaminan Sosial</a:t>
            </a:r>
          </a:p>
        </p:txBody>
      </p:sp>
      <p:sp>
        <p:nvSpPr>
          <p:cNvPr name="TextBox 28" id="28"/>
          <p:cNvSpPr txBox="true"/>
          <p:nvPr/>
        </p:nvSpPr>
        <p:spPr>
          <a:xfrm rot="0">
            <a:off x="3816298" y="7173265"/>
            <a:ext cx="11410417" cy="737235"/>
          </a:xfrm>
          <a:prstGeom prst="rect">
            <a:avLst/>
          </a:prstGeom>
        </p:spPr>
        <p:txBody>
          <a:bodyPr anchor="t" rtlCol="false" tIns="0" lIns="0" bIns="0" rIns="0">
            <a:spAutoFit/>
          </a:bodyPr>
          <a:lstStyle/>
          <a:p>
            <a:pPr algn="just">
              <a:lnSpc>
                <a:spcPts val="2940"/>
              </a:lnSpc>
            </a:pPr>
            <a:r>
              <a:rPr lang="en-US" sz="2100">
                <a:solidFill>
                  <a:srgbClr val="737373"/>
                </a:solidFill>
                <a:latin typeface="Inclusive Sans"/>
                <a:ea typeface="Inclusive Sans"/>
                <a:cs typeface="Inclusive Sans"/>
                <a:sym typeface="Inclusive Sans"/>
              </a:rPr>
              <a:t>Pemerintah harus menetapkan regulasi spesifik yang mencegah platform berlindung di balik "kemitraan" untuk menghindari kewajiban asuransi dan upah layak.</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CFCFA"/>
        </a:solidFill>
      </p:bgPr>
    </p:bg>
    <p:spTree>
      <p:nvGrpSpPr>
        <p:cNvPr id="1" name=""/>
        <p:cNvGrpSpPr/>
        <p:nvPr/>
      </p:nvGrpSpPr>
      <p:grpSpPr>
        <a:xfrm>
          <a:off x="0" y="0"/>
          <a:ext cx="0" cy="0"/>
          <a:chOff x="0" y="0"/>
          <a:chExt cx="0" cy="0"/>
        </a:xfrm>
      </p:grpSpPr>
      <p:sp>
        <p:nvSpPr>
          <p:cNvPr name="Freeform 2" id="2"/>
          <p:cNvSpPr/>
          <p:nvPr/>
        </p:nvSpPr>
        <p:spPr>
          <a:xfrm flipH="false" flipV="false" rot="0">
            <a:off x="-84624" y="-1690173"/>
            <a:ext cx="18457248" cy="12297141"/>
          </a:xfrm>
          <a:custGeom>
            <a:avLst/>
            <a:gdLst/>
            <a:ahLst/>
            <a:cxnLst/>
            <a:rect r="r" b="b" t="t" l="l"/>
            <a:pathLst>
              <a:path h="12297141" w="18457248">
                <a:moveTo>
                  <a:pt x="0" y="0"/>
                </a:moveTo>
                <a:lnTo>
                  <a:pt x="18457248" y="0"/>
                </a:lnTo>
                <a:lnTo>
                  <a:pt x="18457248" y="12297141"/>
                </a:lnTo>
                <a:lnTo>
                  <a:pt x="0" y="12297141"/>
                </a:lnTo>
                <a:lnTo>
                  <a:pt x="0" y="0"/>
                </a:lnTo>
                <a:close/>
              </a:path>
            </a:pathLst>
          </a:custGeom>
          <a:blipFill>
            <a:blip r:embed="rId2"/>
            <a:stretch>
              <a:fillRect l="0" t="0" r="0" b="0"/>
            </a:stretch>
          </a:blipFill>
        </p:spPr>
      </p:sp>
      <p:grpSp>
        <p:nvGrpSpPr>
          <p:cNvPr name="Group 3" id="3"/>
          <p:cNvGrpSpPr/>
          <p:nvPr/>
        </p:nvGrpSpPr>
        <p:grpSpPr>
          <a:xfrm rot="0">
            <a:off x="-169248" y="-231670"/>
            <a:ext cx="18962027" cy="10838638"/>
            <a:chOff x="0" y="0"/>
            <a:chExt cx="4994114" cy="2854621"/>
          </a:xfrm>
        </p:grpSpPr>
        <p:sp>
          <p:nvSpPr>
            <p:cNvPr name="Freeform 4" id="4"/>
            <p:cNvSpPr/>
            <p:nvPr/>
          </p:nvSpPr>
          <p:spPr>
            <a:xfrm flipH="false" flipV="false" rot="0">
              <a:off x="0" y="0"/>
              <a:ext cx="4994114" cy="2854621"/>
            </a:xfrm>
            <a:custGeom>
              <a:avLst/>
              <a:gdLst/>
              <a:ahLst/>
              <a:cxnLst/>
              <a:rect r="r" b="b" t="t" l="l"/>
              <a:pathLst>
                <a:path h="2854621" w="4994114">
                  <a:moveTo>
                    <a:pt x="0" y="0"/>
                  </a:moveTo>
                  <a:lnTo>
                    <a:pt x="4994114" y="0"/>
                  </a:lnTo>
                  <a:lnTo>
                    <a:pt x="4994114" y="2854621"/>
                  </a:lnTo>
                  <a:lnTo>
                    <a:pt x="0" y="2854621"/>
                  </a:lnTo>
                  <a:close/>
                </a:path>
              </a:pathLst>
            </a:custGeom>
            <a:solidFill>
              <a:srgbClr val="F4F2EE">
                <a:alpha val="80784"/>
              </a:srgbClr>
            </a:solidFill>
          </p:spPr>
        </p:sp>
        <p:sp>
          <p:nvSpPr>
            <p:cNvPr name="TextBox 5" id="5"/>
            <p:cNvSpPr txBox="true"/>
            <p:nvPr/>
          </p:nvSpPr>
          <p:spPr>
            <a:xfrm>
              <a:off x="0" y="-38100"/>
              <a:ext cx="4994114" cy="2892721"/>
            </a:xfrm>
            <a:prstGeom prst="rect">
              <a:avLst/>
            </a:prstGeom>
          </p:spPr>
          <p:txBody>
            <a:bodyPr anchor="ctr" rtlCol="false" tIns="50800" lIns="50800" bIns="50800" rIns="50800"/>
            <a:lstStyle/>
            <a:p>
              <a:pPr algn="ctr">
                <a:lnSpc>
                  <a:spcPts val="2520"/>
                </a:lnSpc>
              </a:pPr>
            </a:p>
          </p:txBody>
        </p:sp>
      </p:grpSp>
      <p:grpSp>
        <p:nvGrpSpPr>
          <p:cNvPr name="Group 6" id="6"/>
          <p:cNvGrpSpPr/>
          <p:nvPr/>
        </p:nvGrpSpPr>
        <p:grpSpPr>
          <a:xfrm rot="-10800000">
            <a:off x="13151450" y="5953347"/>
            <a:ext cx="3166471" cy="6164561"/>
            <a:chOff x="0" y="0"/>
            <a:chExt cx="585263" cy="1139404"/>
          </a:xfrm>
        </p:grpSpPr>
        <p:sp>
          <p:nvSpPr>
            <p:cNvPr name="Freeform 7" id="7"/>
            <p:cNvSpPr/>
            <p:nvPr/>
          </p:nvSpPr>
          <p:spPr>
            <a:xfrm flipH="false" flipV="false" rot="0">
              <a:off x="0" y="0"/>
              <a:ext cx="585263" cy="1139404"/>
            </a:xfrm>
            <a:custGeom>
              <a:avLst/>
              <a:gdLst/>
              <a:ahLst/>
              <a:cxnLst/>
              <a:rect r="r" b="b" t="t" l="l"/>
              <a:pathLst>
                <a:path h="1139404" w="585263">
                  <a:moveTo>
                    <a:pt x="195193" y="1120335"/>
                  </a:moveTo>
                  <a:cubicBezTo>
                    <a:pt x="225198" y="1131849"/>
                    <a:pt x="259310" y="1139404"/>
                    <a:pt x="292789" y="1139404"/>
                  </a:cubicBezTo>
                  <a:cubicBezTo>
                    <a:pt x="326269" y="1139404"/>
                    <a:pt x="358486" y="1132927"/>
                    <a:pt x="388175" y="1121413"/>
                  </a:cubicBezTo>
                  <a:cubicBezTo>
                    <a:pt x="388807" y="1121054"/>
                    <a:pt x="389438" y="1121054"/>
                    <a:pt x="390070" y="1120694"/>
                  </a:cubicBezTo>
                  <a:cubicBezTo>
                    <a:pt x="501564" y="1074639"/>
                    <a:pt x="583684" y="953025"/>
                    <a:pt x="585263" y="803647"/>
                  </a:cubicBezTo>
                  <a:lnTo>
                    <a:pt x="585263" y="0"/>
                  </a:lnTo>
                  <a:lnTo>
                    <a:pt x="0" y="0"/>
                  </a:lnTo>
                  <a:lnTo>
                    <a:pt x="0" y="803051"/>
                  </a:lnTo>
                  <a:cubicBezTo>
                    <a:pt x="1579" y="953744"/>
                    <a:pt x="82436" y="1075359"/>
                    <a:pt x="195193" y="1120335"/>
                  </a:cubicBezTo>
                  <a:close/>
                </a:path>
              </a:pathLst>
            </a:custGeom>
            <a:solidFill>
              <a:srgbClr val="2D892C"/>
            </a:solidFill>
          </p:spPr>
        </p:sp>
        <p:sp>
          <p:nvSpPr>
            <p:cNvPr name="TextBox 8" id="8"/>
            <p:cNvSpPr txBox="true"/>
            <p:nvPr/>
          </p:nvSpPr>
          <p:spPr>
            <a:xfrm>
              <a:off x="0" y="-47625"/>
              <a:ext cx="585263" cy="1060029"/>
            </a:xfrm>
            <a:prstGeom prst="rect">
              <a:avLst/>
            </a:prstGeom>
          </p:spPr>
          <p:txBody>
            <a:bodyPr anchor="ctr" rtlCol="false" tIns="34362" lIns="34362" bIns="34362" rIns="34362"/>
            <a:lstStyle/>
            <a:p>
              <a:pPr algn="ctr">
                <a:lnSpc>
                  <a:spcPts val="2940"/>
                </a:lnSpc>
              </a:pPr>
            </a:p>
          </p:txBody>
        </p:sp>
      </p:grpSp>
      <p:grpSp>
        <p:nvGrpSpPr>
          <p:cNvPr name="Group 9" id="9"/>
          <p:cNvGrpSpPr/>
          <p:nvPr/>
        </p:nvGrpSpPr>
        <p:grpSpPr>
          <a:xfrm rot="5400000">
            <a:off x="15578849" y="7062769"/>
            <a:ext cx="1545755" cy="3872547"/>
            <a:chOff x="0" y="0"/>
            <a:chExt cx="660400" cy="1654486"/>
          </a:xfrm>
        </p:grpSpPr>
        <p:sp>
          <p:nvSpPr>
            <p:cNvPr name="Freeform 10" id="10"/>
            <p:cNvSpPr/>
            <p:nvPr/>
          </p:nvSpPr>
          <p:spPr>
            <a:xfrm flipH="false" flipV="false" rot="0">
              <a:off x="0" y="0"/>
              <a:ext cx="660400" cy="1654486"/>
            </a:xfrm>
            <a:custGeom>
              <a:avLst/>
              <a:gdLst/>
              <a:ahLst/>
              <a:cxnLst/>
              <a:rect r="r" b="b" t="t" l="l"/>
              <a:pathLst>
                <a:path h="1654486" w="660400">
                  <a:moveTo>
                    <a:pt x="220252" y="1635417"/>
                  </a:moveTo>
                  <a:cubicBezTo>
                    <a:pt x="254109" y="1646931"/>
                    <a:pt x="292600" y="1654486"/>
                    <a:pt x="330378" y="1654486"/>
                  </a:cubicBezTo>
                  <a:cubicBezTo>
                    <a:pt x="368157" y="1654486"/>
                    <a:pt x="404509" y="1648009"/>
                    <a:pt x="438009" y="1636495"/>
                  </a:cubicBezTo>
                  <a:cubicBezTo>
                    <a:pt x="438723" y="1636136"/>
                    <a:pt x="439435" y="1636136"/>
                    <a:pt x="440148" y="1635776"/>
                  </a:cubicBezTo>
                  <a:cubicBezTo>
                    <a:pt x="565955" y="1589721"/>
                    <a:pt x="658618" y="1468107"/>
                    <a:pt x="660400" y="1307288"/>
                  </a:cubicBezTo>
                  <a:lnTo>
                    <a:pt x="660400" y="0"/>
                  </a:lnTo>
                  <a:lnTo>
                    <a:pt x="0" y="0"/>
                  </a:lnTo>
                  <a:lnTo>
                    <a:pt x="0" y="1306318"/>
                  </a:lnTo>
                  <a:cubicBezTo>
                    <a:pt x="1782" y="1468826"/>
                    <a:pt x="93019" y="1590441"/>
                    <a:pt x="220252" y="1635417"/>
                  </a:cubicBezTo>
                  <a:close/>
                </a:path>
              </a:pathLst>
            </a:custGeom>
            <a:solidFill>
              <a:srgbClr val="153930"/>
            </a:solidFill>
          </p:spPr>
        </p:sp>
        <p:sp>
          <p:nvSpPr>
            <p:cNvPr name="TextBox 11" id="11"/>
            <p:cNvSpPr txBox="true"/>
            <p:nvPr/>
          </p:nvSpPr>
          <p:spPr>
            <a:xfrm>
              <a:off x="0" y="-47625"/>
              <a:ext cx="660400" cy="1575111"/>
            </a:xfrm>
            <a:prstGeom prst="rect">
              <a:avLst/>
            </a:prstGeom>
          </p:spPr>
          <p:txBody>
            <a:bodyPr anchor="ctr" rtlCol="false" tIns="61554" lIns="61554" bIns="61554" rIns="61554"/>
            <a:lstStyle/>
            <a:p>
              <a:pPr algn="ctr">
                <a:lnSpc>
                  <a:spcPts val="2940"/>
                </a:lnSpc>
              </a:pPr>
            </a:p>
          </p:txBody>
        </p:sp>
      </p:grpSp>
      <p:grpSp>
        <p:nvGrpSpPr>
          <p:cNvPr name="Group 12" id="12"/>
          <p:cNvGrpSpPr/>
          <p:nvPr/>
        </p:nvGrpSpPr>
        <p:grpSpPr>
          <a:xfrm rot="0">
            <a:off x="13895161" y="-1665416"/>
            <a:ext cx="4681259" cy="9113587"/>
            <a:chOff x="0" y="0"/>
            <a:chExt cx="585263" cy="1139404"/>
          </a:xfrm>
        </p:grpSpPr>
        <p:sp>
          <p:nvSpPr>
            <p:cNvPr name="Freeform 13" id="13"/>
            <p:cNvSpPr/>
            <p:nvPr/>
          </p:nvSpPr>
          <p:spPr>
            <a:xfrm flipH="false" flipV="false" rot="0">
              <a:off x="0" y="0"/>
              <a:ext cx="585263" cy="1139404"/>
            </a:xfrm>
            <a:custGeom>
              <a:avLst/>
              <a:gdLst/>
              <a:ahLst/>
              <a:cxnLst/>
              <a:rect r="r" b="b" t="t" l="l"/>
              <a:pathLst>
                <a:path h="1139404" w="585263">
                  <a:moveTo>
                    <a:pt x="195193" y="1120335"/>
                  </a:moveTo>
                  <a:cubicBezTo>
                    <a:pt x="225198" y="1131849"/>
                    <a:pt x="259310" y="1139404"/>
                    <a:pt x="292789" y="1139404"/>
                  </a:cubicBezTo>
                  <a:cubicBezTo>
                    <a:pt x="326269" y="1139404"/>
                    <a:pt x="358486" y="1132927"/>
                    <a:pt x="388175" y="1121413"/>
                  </a:cubicBezTo>
                  <a:cubicBezTo>
                    <a:pt x="388807" y="1121054"/>
                    <a:pt x="389438" y="1121054"/>
                    <a:pt x="390070" y="1120694"/>
                  </a:cubicBezTo>
                  <a:cubicBezTo>
                    <a:pt x="501564" y="1074639"/>
                    <a:pt x="583684" y="953025"/>
                    <a:pt x="585263" y="803647"/>
                  </a:cubicBezTo>
                  <a:lnTo>
                    <a:pt x="585263" y="0"/>
                  </a:lnTo>
                  <a:lnTo>
                    <a:pt x="0" y="0"/>
                  </a:lnTo>
                  <a:lnTo>
                    <a:pt x="0" y="803051"/>
                  </a:lnTo>
                  <a:cubicBezTo>
                    <a:pt x="1579" y="953744"/>
                    <a:pt x="82436" y="1075359"/>
                    <a:pt x="195193" y="1120335"/>
                  </a:cubicBezTo>
                  <a:close/>
                </a:path>
              </a:pathLst>
            </a:custGeom>
            <a:solidFill>
              <a:srgbClr val="153930"/>
            </a:solidFill>
          </p:spPr>
        </p:sp>
        <p:sp>
          <p:nvSpPr>
            <p:cNvPr name="TextBox 14" id="14"/>
            <p:cNvSpPr txBox="true"/>
            <p:nvPr/>
          </p:nvSpPr>
          <p:spPr>
            <a:xfrm>
              <a:off x="0" y="-47625"/>
              <a:ext cx="585263" cy="1060029"/>
            </a:xfrm>
            <a:prstGeom prst="rect">
              <a:avLst/>
            </a:prstGeom>
          </p:spPr>
          <p:txBody>
            <a:bodyPr anchor="ctr" rtlCol="false" tIns="50800" lIns="50800" bIns="50800" rIns="50800"/>
            <a:lstStyle/>
            <a:p>
              <a:pPr algn="ctr">
                <a:lnSpc>
                  <a:spcPts val="2940"/>
                </a:lnSpc>
              </a:pPr>
            </a:p>
          </p:txBody>
        </p:sp>
      </p:grpSp>
      <p:grpSp>
        <p:nvGrpSpPr>
          <p:cNvPr name="Group 15" id="15"/>
          <p:cNvGrpSpPr/>
          <p:nvPr/>
        </p:nvGrpSpPr>
        <p:grpSpPr>
          <a:xfrm rot="0">
            <a:off x="16435818" y="1447420"/>
            <a:ext cx="3704365" cy="3704365"/>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892C"/>
            </a:solidFill>
          </p:spPr>
        </p:sp>
        <p:sp>
          <p:nvSpPr>
            <p:cNvPr name="TextBox 17" id="17"/>
            <p:cNvSpPr txBox="true"/>
            <p:nvPr/>
          </p:nvSpPr>
          <p:spPr>
            <a:xfrm>
              <a:off x="76200" y="28575"/>
              <a:ext cx="660400" cy="708025"/>
            </a:xfrm>
            <a:prstGeom prst="rect">
              <a:avLst/>
            </a:prstGeom>
          </p:spPr>
          <p:txBody>
            <a:bodyPr anchor="ctr" rtlCol="false" tIns="50800" lIns="50800" bIns="50800" rIns="50800"/>
            <a:lstStyle/>
            <a:p>
              <a:pPr algn="ctr">
                <a:lnSpc>
                  <a:spcPts val="3359"/>
                </a:lnSpc>
              </a:pPr>
            </a:p>
          </p:txBody>
        </p:sp>
      </p:grpSp>
      <p:grpSp>
        <p:nvGrpSpPr>
          <p:cNvPr name="Group 18" id="18"/>
          <p:cNvGrpSpPr/>
          <p:nvPr/>
        </p:nvGrpSpPr>
        <p:grpSpPr>
          <a:xfrm rot="0">
            <a:off x="12398976" y="-3528093"/>
            <a:ext cx="2972772" cy="7426581"/>
            <a:chOff x="0" y="0"/>
            <a:chExt cx="456090" cy="1139404"/>
          </a:xfrm>
        </p:grpSpPr>
        <p:sp>
          <p:nvSpPr>
            <p:cNvPr name="Freeform 19" id="19"/>
            <p:cNvSpPr/>
            <p:nvPr/>
          </p:nvSpPr>
          <p:spPr>
            <a:xfrm flipH="false" flipV="false" rot="0">
              <a:off x="0" y="0"/>
              <a:ext cx="456090" cy="1139404"/>
            </a:xfrm>
            <a:custGeom>
              <a:avLst/>
              <a:gdLst/>
              <a:ahLst/>
              <a:cxnLst/>
              <a:rect r="r" b="b" t="t" l="l"/>
              <a:pathLst>
                <a:path h="1139404" w="456090">
                  <a:moveTo>
                    <a:pt x="152112" y="1120335"/>
                  </a:moveTo>
                  <a:cubicBezTo>
                    <a:pt x="175495" y="1131849"/>
                    <a:pt x="202078" y="1139404"/>
                    <a:pt x="228168" y="1139404"/>
                  </a:cubicBezTo>
                  <a:cubicBezTo>
                    <a:pt x="254259" y="1139404"/>
                    <a:pt x="279365" y="1132927"/>
                    <a:pt x="302501" y="1121413"/>
                  </a:cubicBezTo>
                  <a:cubicBezTo>
                    <a:pt x="302994" y="1121054"/>
                    <a:pt x="303486" y="1121054"/>
                    <a:pt x="303978" y="1120694"/>
                  </a:cubicBezTo>
                  <a:cubicBezTo>
                    <a:pt x="390864" y="1074639"/>
                    <a:pt x="454859" y="953025"/>
                    <a:pt x="456090" y="803647"/>
                  </a:cubicBezTo>
                  <a:lnTo>
                    <a:pt x="456090" y="0"/>
                  </a:lnTo>
                  <a:lnTo>
                    <a:pt x="0" y="0"/>
                  </a:lnTo>
                  <a:lnTo>
                    <a:pt x="0" y="803051"/>
                  </a:lnTo>
                  <a:cubicBezTo>
                    <a:pt x="1231" y="953744"/>
                    <a:pt x="64241" y="1075359"/>
                    <a:pt x="152112" y="1120335"/>
                  </a:cubicBezTo>
                  <a:close/>
                </a:path>
              </a:pathLst>
            </a:custGeom>
            <a:solidFill>
              <a:srgbClr val="2D892C">
                <a:alpha val="83922"/>
              </a:srgbClr>
            </a:solidFill>
          </p:spPr>
        </p:sp>
        <p:sp>
          <p:nvSpPr>
            <p:cNvPr name="TextBox 20" id="20"/>
            <p:cNvSpPr txBox="true"/>
            <p:nvPr/>
          </p:nvSpPr>
          <p:spPr>
            <a:xfrm>
              <a:off x="0" y="-47625"/>
              <a:ext cx="456090" cy="1060029"/>
            </a:xfrm>
            <a:prstGeom prst="rect">
              <a:avLst/>
            </a:prstGeom>
          </p:spPr>
          <p:txBody>
            <a:bodyPr anchor="ctr" rtlCol="false" tIns="50800" lIns="50800" bIns="50800" rIns="50800"/>
            <a:lstStyle/>
            <a:p>
              <a:pPr algn="ctr">
                <a:lnSpc>
                  <a:spcPts val="2940"/>
                </a:lnSpc>
              </a:pPr>
            </a:p>
          </p:txBody>
        </p:sp>
      </p:grpSp>
      <p:sp>
        <p:nvSpPr>
          <p:cNvPr name="TextBox 21" id="21"/>
          <p:cNvSpPr txBox="true"/>
          <p:nvPr/>
        </p:nvSpPr>
        <p:spPr>
          <a:xfrm rot="0">
            <a:off x="1028700" y="3686841"/>
            <a:ext cx="11941636" cy="2331720"/>
          </a:xfrm>
          <a:prstGeom prst="rect">
            <a:avLst/>
          </a:prstGeom>
        </p:spPr>
        <p:txBody>
          <a:bodyPr anchor="t" rtlCol="false" tIns="0" lIns="0" bIns="0" rIns="0">
            <a:spAutoFit/>
          </a:bodyPr>
          <a:lstStyle/>
          <a:p>
            <a:pPr algn="ctr">
              <a:lnSpc>
                <a:spcPts val="18720"/>
              </a:lnSpc>
            </a:pPr>
            <a:r>
              <a:rPr lang="en-US" b="true" sz="14400" spc="144">
                <a:solidFill>
                  <a:srgbClr val="153930"/>
                </a:solidFill>
                <a:latin typeface="Inclusive Sans Bold"/>
                <a:ea typeface="Inclusive Sans Bold"/>
                <a:cs typeface="Inclusive Sans Bold"/>
                <a:sym typeface="Inclusive Sans Bold"/>
              </a:rPr>
              <a:t>THANK YOU</a:t>
            </a:r>
          </a:p>
        </p:txBody>
      </p:sp>
      <p:sp>
        <p:nvSpPr>
          <p:cNvPr name="TextBox 22" id="22"/>
          <p:cNvSpPr txBox="true"/>
          <p:nvPr/>
        </p:nvSpPr>
        <p:spPr>
          <a:xfrm rot="0">
            <a:off x="2813940" y="5735289"/>
            <a:ext cx="8371157" cy="721995"/>
          </a:xfrm>
          <a:prstGeom prst="rect">
            <a:avLst/>
          </a:prstGeom>
        </p:spPr>
        <p:txBody>
          <a:bodyPr anchor="t" rtlCol="false" tIns="0" lIns="0" bIns="0" rIns="0">
            <a:spAutoFit/>
          </a:bodyPr>
          <a:lstStyle/>
          <a:p>
            <a:pPr algn="ctr">
              <a:lnSpc>
                <a:spcPts val="5880"/>
              </a:lnSpc>
            </a:pPr>
            <a:r>
              <a:rPr lang="en-US" b="true" sz="4200">
                <a:solidFill>
                  <a:srgbClr val="2D892C"/>
                </a:solidFill>
                <a:latin typeface="Inclusive Sans Bold"/>
                <a:ea typeface="Inclusive Sans Bold"/>
                <a:cs typeface="Inclusive Sans Bold"/>
                <a:sym typeface="Inclusive Sans Bold"/>
              </a:rPr>
              <a:t>Kelompok 10</a:t>
            </a:r>
          </a:p>
        </p:txBody>
      </p:sp>
      <p:sp>
        <p:nvSpPr>
          <p:cNvPr name="Freeform 23" id="23"/>
          <p:cNvSpPr/>
          <p:nvPr/>
        </p:nvSpPr>
        <p:spPr>
          <a:xfrm flipH="false" flipV="true" rot="0">
            <a:off x="-1221544" y="-880716"/>
            <a:ext cx="3086100" cy="3086100"/>
          </a:xfrm>
          <a:custGeom>
            <a:avLst/>
            <a:gdLst/>
            <a:ahLst/>
            <a:cxnLst/>
            <a:rect r="r" b="b" t="t" l="l"/>
            <a:pathLst>
              <a:path h="3086100" w="3086100">
                <a:moveTo>
                  <a:pt x="0" y="3086100"/>
                </a:moveTo>
                <a:lnTo>
                  <a:pt x="3086100" y="3086100"/>
                </a:lnTo>
                <a:lnTo>
                  <a:pt x="3086100" y="0"/>
                </a:lnTo>
                <a:lnTo>
                  <a:pt x="0" y="0"/>
                </a:lnTo>
                <a:lnTo>
                  <a:pt x="0" y="30861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4" id="24"/>
          <p:cNvSpPr/>
          <p:nvPr/>
        </p:nvSpPr>
        <p:spPr>
          <a:xfrm flipH="false" flipV="false" rot="5400000">
            <a:off x="0" y="8687510"/>
            <a:ext cx="1599490" cy="1599490"/>
          </a:xfrm>
          <a:custGeom>
            <a:avLst/>
            <a:gdLst/>
            <a:ahLst/>
            <a:cxnLst/>
            <a:rect r="r" b="b" t="t" l="l"/>
            <a:pathLst>
              <a:path h="1599490" w="1599490">
                <a:moveTo>
                  <a:pt x="0" y="0"/>
                </a:moveTo>
                <a:lnTo>
                  <a:pt x="1599490" y="0"/>
                </a:lnTo>
                <a:lnTo>
                  <a:pt x="1599490" y="1599490"/>
                </a:lnTo>
                <a:lnTo>
                  <a:pt x="0" y="159949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DAHHMyQiV_A</dc:identifier>
  <dcterms:modified xsi:type="dcterms:W3CDTF">2011-08-01T06:04:30Z</dcterms:modified>
  <cp:revision>1</cp:revision>
  <dc:title>Algorithmic Management Ojek Online_Kelompok 10_Etika Profesi_A</dc:title>
</cp:coreProperties>
</file>